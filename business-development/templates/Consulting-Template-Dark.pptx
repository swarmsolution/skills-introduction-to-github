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2F3F5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F2F3F5"/>
                </a:solidFill>
                <a:latin typeface="Cambria"/>
              </a:rPr>
              <a:t>Illustrative Metric by Quarter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Metric</c:v>
                </c:pt>
              </c:strCache>
            </c:strRef>
          </c:tx>
          <c:spPr>
            <a:solidFill>
              <a:srgbClr val="D4AF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A9B4C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55</c:v>
                </c:pt>
                <c:pt idx="2">
                  <c:v>61</c:v>
                </c:pt>
                <c:pt idx="3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A9B4C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9B4C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C386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9B4C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162B"/>
        </a:solidFill>
        <a:ln>
          <a:noFill/>
        </a:ln>
        <a:effectLst/>
      </c:spPr>
    </c:plotArea>
    <c:plotVisOnly val="1"/>
    <c:dispBlanksAs val="span"/>
  </c:chart>
  <c:spPr>
    <a:solidFill>
      <a:srgbClr val="10162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101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02575" y="-4206240"/>
            <a:ext cx="6583680" cy="6583680"/>
          </a:xfrm>
          <a:prstGeom prst="ellipse">
            <a:avLst/>
          </a:prstGeom>
          <a:ln w="12700">
            <a:solidFill>
              <a:srgbClr val="2C38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16975" y="-3291840"/>
            <a:ext cx="4754880" cy="4754880"/>
          </a:xfrm>
          <a:prstGeom prst="ellipse">
            <a:avLst/>
          </a:prstGeom>
          <a:ln w="9525">
            <a:solidFill>
              <a:srgbClr val="2C38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5760720"/>
            <a:ext cx="3291840" cy="3291840"/>
          </a:xfrm>
          <a:prstGeom prst="ellipse">
            <a:avLst/>
          </a:prstGeom>
          <a:ln w="12700">
            <a:solidFill>
              <a:srgbClr val="2C38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NAME  ·  CONFIDENTIAL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[Engagement / Presentation Title]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4892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 concise one-line description of the engagement or presentation purpose]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[Prepared for Client Name]      [Month Year]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 Standards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and style guide for this deck — colors, type, and icon usage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10162B"/>
          </a:solidFill>
          <a:ln w="12700">
            <a:solidFill>
              <a:srgbClr val="2C38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/ Primary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706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#10162B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50876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8DA0C2"/>
          </a:solidFill>
          <a:ln w="12700">
            <a:solidFill>
              <a:srgbClr val="2C38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/ Secondary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27706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#8DA0C2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D4AF5A"/>
          </a:solidFill>
          <a:ln w="12700">
            <a:solidFill>
              <a:srgbClr val="2C38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Gold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7706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#D4AF5A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150876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A9B4C9"/>
          </a:solidFill>
          <a:ln w="12700">
            <a:solidFill>
              <a:srgbClr val="2C38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 Text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27706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#A9B4C9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61120" y="150876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10162B"/>
          </a:solidFill>
          <a:ln w="12700">
            <a:solidFill>
              <a:srgbClr val="2C38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61120" y="27706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#10162B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4290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1828800" y="36118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— Cambria Bold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36–44pt slide titles · 20–24pt section headers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34290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7818120" y="36118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&amp; Captions — Calibri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14–16pt body text · 10–12pt captions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1005840" cy="100584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2615" y="4825975"/>
            <a:ext cx="497891" cy="497891"/>
          </a:xfrm>
          <a:prstGeom prst="ellipse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3257" y="4936617"/>
            <a:ext cx="276606" cy="276606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2835" y="5036195"/>
            <a:ext cx="77450" cy="77450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27" name="Text 25"/>
          <p:cNvSpPr/>
          <p:nvPr/>
        </p:nvSpPr>
        <p:spPr>
          <a:xfrm>
            <a:off x="1828800" y="461772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usage — line-style icons housed in an accent-outlined circle. Every icon is a native, fully editable PowerPoint shape (recolor, resize, restyle) — never a raster image. Full library on the appendix pages.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Margins: 0.6in minimum  ·  Grid gaps: 0.3–0.5in  ·  Logo placeholder: top-left on dividers, footer on content slides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12064" cy="512064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77393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169164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12064" cy="512064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5117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246888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State Assessment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512064" cy="512064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2841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324612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Approach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12064" cy="512064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0565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402336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Timeline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512064" cy="512064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88289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480060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&amp; Next Steps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02575" y="-4206240"/>
            <a:ext cx="6583680" cy="6583680"/>
          </a:xfrm>
          <a:prstGeom prst="ellipse">
            <a:avLst/>
          </a:prstGeom>
          <a:ln w="12700">
            <a:solidFill>
              <a:srgbClr val="2C38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16975" y="-3291840"/>
            <a:ext cx="4754880" cy="4754880"/>
          </a:xfrm>
          <a:prstGeom prst="ellipse">
            <a:avLst/>
          </a:prstGeom>
          <a:ln w="9525">
            <a:solidFill>
              <a:srgbClr val="2C38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5760720"/>
            <a:ext cx="3291840" cy="3291840"/>
          </a:xfrm>
          <a:prstGeom prst="ellipse">
            <a:avLst/>
          </a:prstGeom>
          <a:ln w="12700">
            <a:solidFill>
              <a:srgbClr val="2C38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21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State Assessment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[One-line framing of what this section covers and why it matters]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57784" y="1755648"/>
            <a:ext cx="91440" cy="91440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[State the situation in one to two sentences — what prompted this engagement or presentation.]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57784" y="2670048"/>
            <a:ext cx="91440" cy="91440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6032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[State the recommended approach or thesis in one to two sentences.]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" y="3584448"/>
            <a:ext cx="91440" cy="91440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7472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[State the expected impact or outcome in one to two sentences.]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03720" y="1691640"/>
            <a:ext cx="4754880" cy="1005840"/>
          </a:xfrm>
          <a:prstGeom prst="roundRect">
            <a:avLst>
              <a:gd name="adj" fmla="val 5455"/>
            </a:avLst>
          </a:prstGeom>
          <a:solidFill>
            <a:srgbClr val="1B2340"/>
          </a:solidFill>
          <a:ln/>
        </p:spPr>
      </p:sp>
      <p:sp>
        <p:nvSpPr>
          <p:cNvPr id="10" name="Text 8"/>
          <p:cNvSpPr/>
          <p:nvPr/>
        </p:nvSpPr>
        <p:spPr>
          <a:xfrm>
            <a:off x="7178040" y="18013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78040" y="23500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efficiency gain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03720" y="2880360"/>
            <a:ext cx="4754880" cy="1005840"/>
          </a:xfrm>
          <a:prstGeom prst="roundRect">
            <a:avLst>
              <a:gd name="adj" fmla="val 5455"/>
            </a:avLst>
          </a:prstGeom>
          <a:solidFill>
            <a:srgbClr val="1B2340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29900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$4.2M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178040" y="35387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savings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4069080"/>
            <a:ext cx="4754880" cy="1005840"/>
          </a:xfrm>
          <a:prstGeom prst="roundRect">
            <a:avLst>
              <a:gd name="adj" fmla="val 5455"/>
            </a:avLst>
          </a:prstGeom>
          <a:solidFill>
            <a:srgbClr val="1B2340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41788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mo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17804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value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Focus Areas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21792" y="1737360"/>
            <a:ext cx="768096" cy="768096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736" y="1931304"/>
            <a:ext cx="380208" cy="380208"/>
          </a:xfrm>
          <a:prstGeom prst="ellipse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0227" y="2015795"/>
            <a:ext cx="211226" cy="211226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6268" y="2091836"/>
            <a:ext cx="59143" cy="59143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7" name="Text 5"/>
          <p:cNvSpPr/>
          <p:nvPr/>
        </p:nvSpPr>
        <p:spPr>
          <a:xfrm>
            <a:off x="1691640" y="171907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 on Strategy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066544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[Short description of this focus area and its intended outcome.]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" y="2788920"/>
            <a:ext cx="768096" cy="768096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5736" y="2982864"/>
            <a:ext cx="380208" cy="380208"/>
          </a:xfrm>
          <a:prstGeom prst="gear9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77063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 Operations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3118104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[Short description of this focus area and its intended outcome.]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" y="3840480"/>
            <a:ext cx="768096" cy="768096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5175" y="4087231"/>
            <a:ext cx="401330" cy="274594"/>
          </a:xfrm>
          <a:prstGeom prst="cloud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382219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Modernize Technology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4169664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[Short description of this focus area and its intended outcome.]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" y="4892040"/>
            <a:ext cx="768096" cy="768096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0094" y="5307772"/>
            <a:ext cx="71817" cy="14785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9" name="Shape 17"/>
          <p:cNvSpPr/>
          <p:nvPr/>
        </p:nvSpPr>
        <p:spPr>
          <a:xfrm>
            <a:off x="969932" y="5212720"/>
            <a:ext cx="71817" cy="24291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9769" y="5117668"/>
            <a:ext cx="71817" cy="337962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1" name="Text 19"/>
          <p:cNvSpPr/>
          <p:nvPr/>
        </p:nvSpPr>
        <p:spPr>
          <a:xfrm>
            <a:off x="1691640" y="48737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Accelerate Growth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91640" y="5221224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[Short description of this focus area and its intended outcome.]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State vs. Future State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212080" cy="4114800"/>
          </a:xfrm>
          <a:prstGeom prst="roundRect">
            <a:avLst>
              <a:gd name="adj" fmla="val 1111"/>
            </a:avLst>
          </a:prstGeom>
          <a:solidFill>
            <a:srgbClr val="1B234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" y="2500884"/>
            <a:ext cx="82296" cy="82296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774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[Challenge or constraint one]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73252" y="3159252"/>
            <a:ext cx="82296" cy="82296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358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[Challenge or constraint two]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73252" y="3817620"/>
            <a:ext cx="82296" cy="82296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69417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[Challenge or constraint three]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1600200"/>
            <a:ext cx="5212080" cy="4114800"/>
          </a:xfrm>
          <a:prstGeom prst="roundRect">
            <a:avLst>
              <a:gd name="adj" fmla="val 1111"/>
            </a:avLst>
          </a:prstGeom>
          <a:solidFill>
            <a:srgbClr val="1B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Tomorrow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13932" y="2500884"/>
            <a:ext cx="82296" cy="82296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3774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[Improved outcome one]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13932" y="3159252"/>
            <a:ext cx="82296" cy="82296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30358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[Improved outcome two]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13932" y="3817620"/>
            <a:ext cx="82296" cy="82296"/>
          </a:xfrm>
          <a:prstGeom prst="ellipse">
            <a:avLst/>
          </a:prstGeom>
          <a:solidFill>
            <a:srgbClr val="8DA0C2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69417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[Improved outcome three]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Data 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live data — chart is a native, editable PowerPoint chart object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11094415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97280" y="3291840"/>
            <a:ext cx="9997135" cy="914"/>
          </a:xfrm>
          <a:prstGeom prst="line">
            <a:avLst/>
          </a:prstGeom>
          <a:noFill/>
          <a:ln w="19050">
            <a:solidFill>
              <a:srgbClr val="2C38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" y="3145536"/>
            <a:ext cx="292608" cy="292608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999232"/>
            <a:ext cx="585216" cy="585216"/>
          </a:xfrm>
          <a:prstGeom prst="ellipse">
            <a:avLst/>
          </a:prstGeom>
          <a:ln w="15875">
            <a:solidFill>
              <a:srgbClr val="D4AF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3127248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[Phase 1 note]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50260" y="3145536"/>
            <a:ext cx="292608" cy="292608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10" name="Shape 8"/>
          <p:cNvSpPr/>
          <p:nvPr/>
        </p:nvSpPr>
        <p:spPr>
          <a:xfrm>
            <a:off x="3303956" y="2999232"/>
            <a:ext cx="585216" cy="585216"/>
          </a:xfrm>
          <a:prstGeom prst="ellipse">
            <a:avLst/>
          </a:prstGeom>
          <a:ln w="15875">
            <a:solidFill>
              <a:srgbClr val="D4AF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3956" y="3127248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10764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73604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[Phase 2 note]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9544" y="3145536"/>
            <a:ext cx="292608" cy="292608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5803240" y="2999232"/>
            <a:ext cx="585216" cy="585216"/>
          </a:xfrm>
          <a:prstGeom prst="ellipse">
            <a:avLst/>
          </a:prstGeom>
          <a:ln w="15875">
            <a:solidFill>
              <a:srgbClr val="D4AF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3240" y="3127248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10048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72888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[Phase 3 note]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448827" y="3145536"/>
            <a:ext cx="292608" cy="292608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8302523" y="2999232"/>
            <a:ext cx="585216" cy="585216"/>
          </a:xfrm>
          <a:prstGeom prst="ellipse">
            <a:avLst/>
          </a:prstGeom>
          <a:ln w="15875">
            <a:solidFill>
              <a:srgbClr val="D4AF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02523" y="3127248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09331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171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[Phase 4 note]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948111" y="3145536"/>
            <a:ext cx="292608" cy="292608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01807" y="2999232"/>
            <a:ext cx="585216" cy="585216"/>
          </a:xfrm>
          <a:prstGeom prst="ellipse">
            <a:avLst/>
          </a:prstGeom>
          <a:ln w="15875">
            <a:solidFill>
              <a:srgbClr val="D4AF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01807" y="3127248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408615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71455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[Phase 5 note]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Team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86752" y="155448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71384" y="1874520"/>
            <a:ext cx="585216" cy="585216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072" y="2423160"/>
            <a:ext cx="1005840" cy="914400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33756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[Name]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[Title / Role]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74656" y="155448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59288" y="1874520"/>
            <a:ext cx="585216" cy="585216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8976" y="2423160"/>
            <a:ext cx="1005840" cy="914400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6544" y="333756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[Name]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36544" y="36576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[Title / Role]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2560" y="155448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7192" y="1874520"/>
            <a:ext cx="585216" cy="585216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36880" y="2423160"/>
            <a:ext cx="1005840" cy="914400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4448" y="333756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[Name]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24448" y="36576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[Title / Role]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50463" y="155448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35095" y="1874520"/>
            <a:ext cx="585216" cy="585216"/>
          </a:xfrm>
          <a:prstGeom prst="ellipse">
            <a:avLst/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24783" y="2423160"/>
            <a:ext cx="1005840" cy="914400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8DA0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12351" y="333756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[Name]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12351" y="36576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[Title / Role]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02575" y="-4206240"/>
            <a:ext cx="6583680" cy="6583680"/>
          </a:xfrm>
          <a:prstGeom prst="ellipse">
            <a:avLst/>
          </a:prstGeom>
          <a:ln w="12700">
            <a:solidFill>
              <a:srgbClr val="2C38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16975" y="-3291840"/>
            <a:ext cx="4754880" cy="4754880"/>
          </a:xfrm>
          <a:prstGeom prst="ellipse">
            <a:avLst/>
          </a:prstGeom>
          <a:ln w="9525">
            <a:solidFill>
              <a:srgbClr val="2C38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5760720"/>
            <a:ext cx="3291840" cy="3291840"/>
          </a:xfrm>
          <a:prstGeom prst="ellipse">
            <a:avLst/>
          </a:prstGeom>
          <a:ln w="12700">
            <a:solidFill>
              <a:srgbClr val="2C38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D4A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[Insert a compelling client quote, key finding, or thesis statement here.]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[Name, Title, Organization]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02575" y="-4206240"/>
            <a:ext cx="6583680" cy="6583680"/>
          </a:xfrm>
          <a:prstGeom prst="ellipse">
            <a:avLst/>
          </a:prstGeom>
          <a:ln w="12700">
            <a:solidFill>
              <a:srgbClr val="2C38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16975" y="-3291840"/>
            <a:ext cx="4754880" cy="4754880"/>
          </a:xfrm>
          <a:prstGeom prst="ellipse">
            <a:avLst/>
          </a:prstGeom>
          <a:ln w="9525">
            <a:solidFill>
              <a:srgbClr val="2C38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5760720"/>
            <a:ext cx="3291840" cy="3291840"/>
          </a:xfrm>
          <a:prstGeom prst="ellipse">
            <a:avLst/>
          </a:prstGeom>
          <a:ln w="12700">
            <a:solidFill>
              <a:srgbClr val="2C38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[Closing tagline or one-line call to action]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[Name]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[Title / Role]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[email@company.com]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[Name]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2064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[Title / Role]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4709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[email@company.com]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02575" y="-4206240"/>
            <a:ext cx="6583680" cy="6583680"/>
          </a:xfrm>
          <a:prstGeom prst="ellipse">
            <a:avLst/>
          </a:prstGeom>
          <a:ln w="12700">
            <a:solidFill>
              <a:srgbClr val="2C38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16975" y="-3291840"/>
            <a:ext cx="4754880" cy="4754880"/>
          </a:xfrm>
          <a:prstGeom prst="ellipse">
            <a:avLst/>
          </a:prstGeom>
          <a:ln w="9525">
            <a:solidFill>
              <a:srgbClr val="2C38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5760720"/>
            <a:ext cx="3291840" cy="3291840"/>
          </a:xfrm>
          <a:prstGeom prst="ellipse">
            <a:avLst/>
          </a:prstGeom>
          <a:ln w="12700">
            <a:solidFill>
              <a:srgbClr val="2C38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Icon Library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line icons grouped by industry — recolor, resize, or restyle natively in PowerPoint. Each icon is captioned with searchable keywords.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Services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line icons — recolor, resize, or restyle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86752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9029" y="2944482"/>
            <a:ext cx="145344" cy="299237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6" name="Shape 4"/>
          <p:cNvSpPr/>
          <p:nvPr/>
        </p:nvSpPr>
        <p:spPr>
          <a:xfrm>
            <a:off x="1691320" y="2752115"/>
            <a:ext cx="145344" cy="491604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7" name="Shape 5"/>
          <p:cNvSpPr/>
          <p:nvPr/>
        </p:nvSpPr>
        <p:spPr>
          <a:xfrm>
            <a:off x="1913611" y="2559748"/>
            <a:ext cx="145344" cy="683971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· Growth · Investment · Analytics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74656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4331284" y="2495626"/>
            <a:ext cx="641223" cy="769468"/>
          </a:xfrm>
          <a:prstGeom prst="pentagon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36544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7984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Security · Trust · Compliance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2560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84989" y="2709367"/>
            <a:ext cx="470230" cy="47023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379" y="2581123"/>
            <a:ext cx="470230" cy="47023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4448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15888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· Funding · Currency · Wealth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50463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21595" y="3200972"/>
            <a:ext cx="812216" cy="68397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00221" y="2474252"/>
            <a:ext cx="854964" cy="320612"/>
          </a:xfrm>
          <a:prstGeom prst="triangle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5565" y="2816238"/>
            <a:ext cx="51298" cy="384734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02054" y="2816238"/>
            <a:ext cx="51298" cy="384734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58544" y="2816238"/>
            <a:ext cx="51298" cy="384734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5" name="Text 23"/>
          <p:cNvSpPr/>
          <p:nvPr/>
        </p:nvSpPr>
        <p:spPr>
          <a:xfrm>
            <a:off x="9212351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03791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Institution · Financial Services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Sciences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line icons — recolor, resize, or restyle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1947" y="2313432"/>
            <a:ext cx="1133856" cy="1133856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3836" y="2630912"/>
            <a:ext cx="530078" cy="498897"/>
          </a:xfrm>
          <a:prstGeom prst="heart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86200"/>
            <a:ext cx="1620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224528"/>
            <a:ext cx="1437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· Wellness · Patient Care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86736" y="2313432"/>
            <a:ext cx="1133856" cy="1133856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04215" y="2630912"/>
            <a:ext cx="498897" cy="498897"/>
          </a:xfrm>
          <a:prstGeom prst="plus">
            <a:avLst/>
          </a:prstGeom>
          <a:solidFill>
            <a:srgbClr val="D4AF5A"/>
          </a:solidFill>
          <a:ln/>
        </p:spPr>
      </p:sp>
      <p:sp>
        <p:nvSpPr>
          <p:cNvPr id="10" name="Text 8"/>
          <p:cNvSpPr/>
          <p:nvPr/>
        </p:nvSpPr>
        <p:spPr>
          <a:xfrm>
            <a:off x="2443429" y="3886200"/>
            <a:ext cx="1620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34869" y="4224528"/>
            <a:ext cx="1437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· Clinical · Hospital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81525" y="2313432"/>
            <a:ext cx="1133856" cy="1133856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4899005" y="2615321"/>
            <a:ext cx="249448" cy="436535"/>
          </a:xfrm>
          <a:prstGeom prst="lin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9005" y="3051856"/>
            <a:ext cx="498897" cy="914"/>
          </a:xfrm>
          <a:prstGeom prst="lin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48453" y="2615321"/>
            <a:ext cx="249448" cy="436535"/>
          </a:xfrm>
          <a:prstGeom prst="lin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98563" y="2565431"/>
            <a:ext cx="99779" cy="99779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9115" y="3001966"/>
            <a:ext cx="99779" cy="99779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18" name="Shape 16"/>
          <p:cNvSpPr/>
          <p:nvPr/>
        </p:nvSpPr>
        <p:spPr>
          <a:xfrm>
            <a:off x="5348012" y="3001966"/>
            <a:ext cx="99779" cy="99779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19" name="Text 17"/>
          <p:cNvSpPr/>
          <p:nvPr/>
        </p:nvSpPr>
        <p:spPr>
          <a:xfrm>
            <a:off x="4338218" y="3886200"/>
            <a:ext cx="1620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29658" y="4224528"/>
            <a:ext cx="1437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Sciences · Research · Biotech · Molecule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76314" y="2313432"/>
            <a:ext cx="1133856" cy="1133856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87337" y="2584140"/>
            <a:ext cx="311810" cy="592440"/>
          </a:xfrm>
          <a:prstGeom prst="roundRect">
            <a:avLst>
              <a:gd name="adj" fmla="val 43988"/>
            </a:avLst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87337" y="2880360"/>
            <a:ext cx="311810" cy="914"/>
          </a:xfrm>
          <a:prstGeom prst="line">
            <a:avLst/>
          </a:prstGeom>
          <a:noFill/>
          <a:ln w="22225">
            <a:solidFill>
              <a:srgbClr val="D4AF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3008" y="3886200"/>
            <a:ext cx="1620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24448" y="4224528"/>
            <a:ext cx="1437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· Therapeutics · Drug Development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71103" y="2313432"/>
            <a:ext cx="1133856" cy="1133856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00835" y="2571668"/>
            <a:ext cx="56126" cy="56126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28" name="Shape 26"/>
          <p:cNvSpPr/>
          <p:nvPr/>
        </p:nvSpPr>
        <p:spPr>
          <a:xfrm>
            <a:off x="8828898" y="2599731"/>
            <a:ext cx="218267" cy="140315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19102" y="2711982"/>
            <a:ext cx="56126" cy="56126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30" name="Shape 28"/>
          <p:cNvSpPr/>
          <p:nvPr/>
        </p:nvSpPr>
        <p:spPr>
          <a:xfrm flipV="1">
            <a:off x="8828898" y="2740045"/>
            <a:ext cx="218267" cy="140315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00835" y="2852297"/>
            <a:ext cx="56126" cy="56126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32" name="Shape 30"/>
          <p:cNvSpPr/>
          <p:nvPr/>
        </p:nvSpPr>
        <p:spPr>
          <a:xfrm>
            <a:off x="8828898" y="2880360"/>
            <a:ext cx="218267" cy="140315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19102" y="2992612"/>
            <a:ext cx="56126" cy="56126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34" name="Shape 32"/>
          <p:cNvSpPr/>
          <p:nvPr/>
        </p:nvSpPr>
        <p:spPr>
          <a:xfrm flipV="1">
            <a:off x="8828898" y="3020675"/>
            <a:ext cx="218267" cy="140315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00835" y="3132926"/>
            <a:ext cx="56126" cy="56126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36" name="Text 34"/>
          <p:cNvSpPr/>
          <p:nvPr/>
        </p:nvSpPr>
        <p:spPr>
          <a:xfrm>
            <a:off x="8127797" y="3886200"/>
            <a:ext cx="1620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Genomics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219237" y="4224528"/>
            <a:ext cx="1437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 · DNA · Biotech · Precision Medicine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265893" y="2313432"/>
            <a:ext cx="1133856" cy="1133856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10661325" y="2849179"/>
            <a:ext cx="342991" cy="311810"/>
          </a:xfrm>
          <a:prstGeom prst="triangle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776695" y="2584140"/>
            <a:ext cx="112252" cy="109134"/>
          </a:xfrm>
          <a:prstGeom prst="rect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22586" y="3886200"/>
            <a:ext cx="16204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114026" y="4224528"/>
            <a:ext cx="1437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· Laboratory · Formulation · Discovery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&amp; Industrial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line icons — recolor, resize, or restyle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86752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9258" y="2495626"/>
            <a:ext cx="769468" cy="769468"/>
          </a:xfrm>
          <a:prstGeom prst="gear9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· Operations · Machinery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74656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67162" y="2794864"/>
            <a:ext cx="769468" cy="384734"/>
          </a:xfrm>
          <a:prstGeom prst="rect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45788" y="2474252"/>
            <a:ext cx="812216" cy="320612"/>
          </a:xfrm>
          <a:prstGeom prst="triangle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4263" y="2388756"/>
            <a:ext cx="76947" cy="235115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2" name="Text 10"/>
          <p:cNvSpPr/>
          <p:nvPr/>
        </p:nvSpPr>
        <p:spPr>
          <a:xfrm>
            <a:off x="3436544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7984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· Facility · Production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2560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55066" y="2752115"/>
            <a:ext cx="641223" cy="299237"/>
          </a:xfrm>
          <a:prstGeom prst="rect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6289" y="2858986"/>
            <a:ext cx="213741" cy="192367"/>
          </a:xfrm>
          <a:prstGeom prst="rect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32012" y="3021429"/>
            <a:ext cx="188092" cy="188092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95372" y="3021429"/>
            <a:ext cx="188092" cy="188092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4448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15888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· Supply Chain · Distribution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50463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64344" y="2517000"/>
            <a:ext cx="726719" cy="726719"/>
          </a:xfrm>
          <a:prstGeom prst="cube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12351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03791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· Inventory · Product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&amp; Telecom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line icons — recolor, resize, or restyle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86752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57884" y="2602497"/>
            <a:ext cx="812216" cy="555727"/>
          </a:xfrm>
          <a:prstGeom prst="cloud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· Infrastructure · SaaS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74656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00598" y="3064177"/>
            <a:ext cx="102596" cy="102596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10" name="Shape 8"/>
          <p:cNvSpPr/>
          <p:nvPr/>
        </p:nvSpPr>
        <p:spPr>
          <a:xfrm>
            <a:off x="4438155" y="2901734"/>
            <a:ext cx="427482" cy="427482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8536" y="2752115"/>
            <a:ext cx="726719" cy="726719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38917" y="2602497"/>
            <a:ext cx="1025957" cy="1025957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6544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7984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· Network · Telecom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2560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6440" y="2517000"/>
            <a:ext cx="726719" cy="726719"/>
          </a:xfrm>
          <a:prstGeom prst="roundRect">
            <a:avLst>
              <a:gd name="adj" fmla="val 10066"/>
            </a:avLst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04684" y="2687993"/>
            <a:ext cx="470230" cy="4274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8" name="Shape 16"/>
          <p:cNvSpPr/>
          <p:nvPr/>
        </p:nvSpPr>
        <p:spPr>
          <a:xfrm>
            <a:off x="7304684" y="2858986"/>
            <a:ext cx="470230" cy="4274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9" name="Shape 17"/>
          <p:cNvSpPr/>
          <p:nvPr/>
        </p:nvSpPr>
        <p:spPr>
          <a:xfrm>
            <a:off x="7304684" y="3029979"/>
            <a:ext cx="470230" cy="4274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0" name="Text 18"/>
          <p:cNvSpPr/>
          <p:nvPr/>
        </p:nvSpPr>
        <p:spPr>
          <a:xfrm>
            <a:off x="6324448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15888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IT · Digital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50463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71214" y="2474252"/>
            <a:ext cx="512978" cy="512978"/>
          </a:xfrm>
          <a:prstGeom prst="ellipse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99459" y="2965856"/>
            <a:ext cx="256489" cy="149619"/>
          </a:xfrm>
          <a:prstGeom prst="rect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12351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03791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· Technology · R&amp;D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&amp; Utilities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line icons — recolor, resize, or restyle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86752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00632" y="2517000"/>
            <a:ext cx="726719" cy="726719"/>
          </a:xfrm>
          <a:prstGeom prst="sun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Renewable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· Solar · Energy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74656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6781" y="2474252"/>
            <a:ext cx="470230" cy="812216"/>
          </a:xfrm>
          <a:prstGeom prst="lightningBolt">
            <a:avLst/>
          </a:prstGeom>
          <a:solidFill>
            <a:srgbClr val="D4AF5A"/>
          </a:solidFill>
          <a:ln/>
        </p:spPr>
      </p:sp>
      <p:sp>
        <p:nvSpPr>
          <p:cNvPr id="10" name="Text 8"/>
          <p:cNvSpPr/>
          <p:nvPr/>
        </p:nvSpPr>
        <p:spPr>
          <a:xfrm>
            <a:off x="3436544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7984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· Utilities · Electricity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2560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7219188" y="2517000"/>
            <a:ext cx="470230" cy="641223"/>
          </a:xfrm>
          <a:prstGeom prst="teardrop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3500000">
            <a:off x="7390181" y="2602497"/>
            <a:ext cx="470230" cy="641223"/>
          </a:xfrm>
          <a:prstGeom prst="teardrop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4448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15888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· Environment · ESG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50463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07092" y="2666619"/>
            <a:ext cx="641223" cy="427482"/>
          </a:xfrm>
          <a:prstGeom prst="roundRect">
            <a:avLst>
              <a:gd name="adj" fmla="val 25668"/>
            </a:avLst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8315" y="2803413"/>
            <a:ext cx="51298" cy="153894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0" name="Text 18"/>
          <p:cNvSpPr/>
          <p:nvPr/>
        </p:nvSpPr>
        <p:spPr>
          <a:xfrm>
            <a:off x="9212351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03791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Storage · Battery · Grid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Services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line icons — recolor, resize, or restyle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86752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9258" y="2495626"/>
            <a:ext cx="769468" cy="769468"/>
          </a:xfrm>
          <a:prstGeom prst="ellipse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0251" y="2666619"/>
            <a:ext cx="427482" cy="427482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04144" y="2820513"/>
            <a:ext cx="119695" cy="119695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Focus · Goals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74656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8536" y="2730741"/>
            <a:ext cx="726719" cy="448856"/>
          </a:xfrm>
          <a:prstGeom prst="roundRect">
            <a:avLst>
              <a:gd name="adj" fmla="val 20372"/>
            </a:avLst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903" y="2474252"/>
            <a:ext cx="341986" cy="341986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6544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Advisory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7984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· Consulting · Professional Services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2560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6440" y="2517000"/>
            <a:ext cx="726719" cy="726719"/>
          </a:xfrm>
          <a:prstGeom prst="pie">
            <a:avLst>
              <a:gd name="adj1" fmla="val 16200000"/>
              <a:gd name="adj2" fmla="val 5400000"/>
            </a:avLst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4448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15888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· Analytics · Reporting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50463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42970" y="2632420"/>
            <a:ext cx="495879" cy="495879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16558" y="2632420"/>
            <a:ext cx="495879" cy="495879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12351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03791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· Collaboration · Alliance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line icons — recolor, resize, or restyle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86752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4755" y="2559749"/>
            <a:ext cx="598475" cy="320611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09182" y="2504176"/>
            <a:ext cx="111145" cy="111145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7" name="Shape 5"/>
          <p:cNvSpPr/>
          <p:nvPr/>
        </p:nvSpPr>
        <p:spPr>
          <a:xfrm>
            <a:off x="1464755" y="2880360"/>
            <a:ext cx="598475" cy="914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09182" y="2824787"/>
            <a:ext cx="111145" cy="111145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464755" y="2880360"/>
            <a:ext cx="598475" cy="320611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09182" y="3145399"/>
            <a:ext cx="111145" cy="111145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11" name="Shape 9"/>
          <p:cNvSpPr/>
          <p:nvPr/>
        </p:nvSpPr>
        <p:spPr>
          <a:xfrm>
            <a:off x="1986283" y="2803413"/>
            <a:ext cx="153894" cy="153894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Machine Learning · Neural Network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74656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88536" y="2517000"/>
            <a:ext cx="726719" cy="726719"/>
          </a:xfrm>
          <a:prstGeom prst="gear6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36544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27984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· AI · Intelligent Process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2560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55066" y="2559749"/>
            <a:ext cx="769468" cy="555727"/>
          </a:xfrm>
          <a:prstGeom prst="wedgeRoundRectCallout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4448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15888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· Copilot · Chatbot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50463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21595" y="2666619"/>
            <a:ext cx="812216" cy="427482"/>
          </a:xfrm>
          <a:prstGeom prst="ellipse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33657" y="2786314"/>
            <a:ext cx="188092" cy="188092"/>
          </a:xfrm>
          <a:prstGeom prst="ellipse">
            <a:avLst/>
          </a:prstGeom>
          <a:solidFill>
            <a:srgbClr val="D4AF5A"/>
          </a:solidFill>
          <a:ln/>
        </p:spPr>
      </p:sp>
      <p:sp>
        <p:nvSpPr>
          <p:cNvPr id="25" name="Text 23"/>
          <p:cNvSpPr/>
          <p:nvPr/>
        </p:nvSpPr>
        <p:spPr>
          <a:xfrm>
            <a:off x="9212351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03791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· Insight · Recognition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Analytics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line icons — recolor, resize, or restyle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86752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04907" y="3008605"/>
            <a:ext cx="128245" cy="235115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6" name="Shape 4"/>
          <p:cNvSpPr/>
          <p:nvPr/>
        </p:nvSpPr>
        <p:spPr>
          <a:xfrm>
            <a:off x="1601549" y="2837612"/>
            <a:ext cx="128245" cy="406108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7" name="Shape 5"/>
          <p:cNvSpPr/>
          <p:nvPr/>
        </p:nvSpPr>
        <p:spPr>
          <a:xfrm>
            <a:off x="1798190" y="2944482"/>
            <a:ext cx="128245" cy="299237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8" name="Shape 6"/>
          <p:cNvSpPr/>
          <p:nvPr/>
        </p:nvSpPr>
        <p:spPr>
          <a:xfrm>
            <a:off x="1994832" y="2687993"/>
            <a:ext cx="128245" cy="555727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469029" y="2794864"/>
            <a:ext cx="196642" cy="170993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65671" y="2794864"/>
            <a:ext cx="196642" cy="106871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862313" y="2645245"/>
            <a:ext cx="196642" cy="256489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Analytics · Trends · Reporting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74656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2658" y="2495626"/>
            <a:ext cx="598475" cy="769468"/>
          </a:xfrm>
          <a:prstGeom prst="can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36544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27984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· Storage · Records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2560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3692" y="2559749"/>
            <a:ext cx="812216" cy="641223"/>
          </a:xfrm>
          <a:prstGeom prst="roundRect">
            <a:avLst>
              <a:gd name="adj" fmla="val 11408"/>
            </a:avLst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83310" y="2730741"/>
            <a:ext cx="341986" cy="341986"/>
          </a:xfrm>
          <a:prstGeom prst="pie">
            <a:avLst>
              <a:gd name="adj1" fmla="val 16200000"/>
              <a:gd name="adj2" fmla="val 5400000"/>
            </a:avLst>
          </a:prstGeom>
          <a:ln w="15875">
            <a:solidFill>
              <a:srgbClr val="D4AF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4448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15888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KPI · Visualization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50463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64344" y="2576848"/>
            <a:ext cx="726719" cy="136794"/>
          </a:xfrm>
          <a:prstGeom prst="roundRect">
            <a:avLst>
              <a:gd name="adj" fmla="val 200535"/>
            </a:avLst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64344" y="2811963"/>
            <a:ext cx="726719" cy="136794"/>
          </a:xfrm>
          <a:prstGeom prst="roundRect">
            <a:avLst>
              <a:gd name="adj" fmla="val 200535"/>
            </a:avLst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64344" y="3047078"/>
            <a:ext cx="726719" cy="136794"/>
          </a:xfrm>
          <a:prstGeom prst="roundRect">
            <a:avLst>
              <a:gd name="adj" fmla="val 200535"/>
            </a:avLst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12351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303791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· Layers · Records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Transformation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line icons — recolor, resize, or restyle natively in PowerPoint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86752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400632" y="2517000"/>
            <a:ext cx="363360" cy="577101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00632" y="3094101"/>
            <a:ext cx="726719" cy="914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63992" y="2517000"/>
            <a:ext cx="363360" cy="577101"/>
          </a:xfrm>
          <a:prstGeom prst="line">
            <a:avLst/>
          </a:prstGeom>
          <a:noFill/>
          <a:ln w="15875">
            <a:solidFill>
              <a:srgbClr val="D4AF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87045" y="2440054"/>
            <a:ext cx="153894" cy="153894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3685" y="3017154"/>
            <a:ext cx="153894" cy="153894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0405" y="3017154"/>
            <a:ext cx="153894" cy="153894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Ecosystem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Thread · Connectivity · IoT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74656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88536" y="2517000"/>
            <a:ext cx="726719" cy="726719"/>
          </a:xfrm>
          <a:prstGeom prst="circularArrow">
            <a:avLst/>
          </a:prstGeom>
          <a:solidFill>
            <a:srgbClr val="D4AF5A"/>
          </a:solidFill>
          <a:ln/>
        </p:spPr>
      </p:sp>
      <p:sp>
        <p:nvSpPr>
          <p:cNvPr id="15" name="Text 13"/>
          <p:cNvSpPr/>
          <p:nvPr/>
        </p:nvSpPr>
        <p:spPr>
          <a:xfrm>
            <a:off x="3436544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27984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· Change · Modernization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2560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55066" y="2645245"/>
            <a:ext cx="769468" cy="470230"/>
          </a:xfrm>
          <a:prstGeom prst="cloud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71402" y="2816238"/>
            <a:ext cx="136794" cy="277863"/>
          </a:xfrm>
          <a:prstGeom prst="upArrow">
            <a:avLst/>
          </a:prstGeom>
          <a:solidFill>
            <a:srgbClr val="D4AF5A"/>
          </a:solidFill>
          <a:ln/>
        </p:spPr>
      </p:sp>
      <p:sp>
        <p:nvSpPr>
          <p:cNvPr id="20" name="Text 18"/>
          <p:cNvSpPr/>
          <p:nvPr/>
        </p:nvSpPr>
        <p:spPr>
          <a:xfrm>
            <a:off x="6324448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Migration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15888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 · Infrastructure · Scale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50463" y="2103120"/>
            <a:ext cx="1554480" cy="1554480"/>
          </a:xfrm>
          <a:prstGeom prst="ellipse">
            <a:avLst/>
          </a:prstGeom>
          <a:ln w="19050">
            <a:solidFill>
              <a:srgbClr val="D4AF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42970" y="2517000"/>
            <a:ext cx="769468" cy="726719"/>
          </a:xfrm>
          <a:prstGeom prst="hexagon">
            <a:avLst/>
          </a:prstGeom>
          <a:ln w="22225">
            <a:solidFill>
              <a:srgbClr val="D4AF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12351" y="388620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03791" y="4224528"/>
            <a:ext cx="224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9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Integration · Unified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Template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Consulting Deck Template — Dark</dc:title>
  <dc:subject>PptxGenJS Presentation</dc:subject>
  <dc:creator>Business Development</dc:creator>
  <cp:lastModifiedBy>Business Development</cp:lastModifiedBy>
  <cp:revision>1</cp:revision>
  <dcterms:created xsi:type="dcterms:W3CDTF">2026-07-27T14:45:39Z</dcterms:created>
  <dcterms:modified xsi:type="dcterms:W3CDTF">2026-07-27T14:45:39Z</dcterms:modified>
</cp:coreProperties>
</file>