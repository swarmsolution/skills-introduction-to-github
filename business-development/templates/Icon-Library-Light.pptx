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02575" y="-4206240"/>
            <a:ext cx="6583680" cy="6583680"/>
          </a:xfrm>
          <a:prstGeom prst="ellipse">
            <a:avLst/>
          </a:prstGeom>
          <a:ln w="12700">
            <a:solidFill>
              <a:srgbClr val="2430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16975" y="-3291840"/>
            <a:ext cx="4754880" cy="4754880"/>
          </a:xfrm>
          <a:prstGeom prst="ellipse">
            <a:avLst/>
          </a:prstGeom>
          <a:ln w="9525">
            <a:solidFill>
              <a:srgbClr val="24304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97280" y="5760720"/>
            <a:ext cx="3291840" cy="3291840"/>
          </a:xfrm>
          <a:prstGeom prst="ellipse">
            <a:avLst/>
          </a:prstGeom>
          <a:ln w="12700">
            <a:solidFill>
              <a:srgbClr val="24304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LIBRARY  ·  ORIGINAL ARTWORK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324612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Icon Library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4343400"/>
            <a:ext cx="8961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line icons across 10 categories — every icon is a native PowerPoint shape (recolor, resize, restyle freely). Every icon on every page is genuinely unique — no repeats, no recolored duplicates — each captioned with searchable keywords.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6080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/ General Business   ·   Financial Services   ·   Life Sciences   ·   Manufacturing &amp; Industrial   ·   Technology &amp; Telecom   ·   Energy &amp; Utilities   ·   Professional Services   ·   Artificial Intelligence   ·   Data &amp; Analytics   ·   Digital Transformation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Universal / General Business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unique icons — every one is a distinct native PowerPoint shape, none repeated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228170" y="1673047"/>
            <a:ext cx="225857" cy="165049"/>
          </a:xfrm>
          <a:prstGeom prst="rect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93423" y="1525372"/>
            <a:ext cx="295351" cy="130302"/>
          </a:xfrm>
          <a:prstGeom prst="triangle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8733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650" dirty="0"/>
          </a:p>
        </p:txBody>
      </p:sp>
      <p:sp>
        <p:nvSpPr>
          <p:cNvPr id="7" name="Text 5"/>
          <p:cNvSpPr/>
          <p:nvPr/>
        </p:nvSpPr>
        <p:spPr>
          <a:xfrm>
            <a:off x="566928" y="20287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· Home · Start</a:t>
            </a:r>
            <a:endParaRPr lang="en-US" sz="550" dirty="0"/>
          </a:p>
        </p:txBody>
      </p:sp>
      <p:sp>
        <p:nvSpPr>
          <p:cNvPr id="8" name="Shape 6"/>
          <p:cNvSpPr/>
          <p:nvPr/>
        </p:nvSpPr>
        <p:spPr>
          <a:xfrm>
            <a:off x="2778339" y="1542745"/>
            <a:ext cx="295351" cy="295351"/>
          </a:xfrm>
          <a:prstGeom prst="ellipse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26015" y="1603553"/>
            <a:ext cx="914" cy="86868"/>
          </a:xfrm>
          <a:prstGeom prst="line">
            <a:avLst/>
          </a:prstGeom>
          <a:noFill/>
          <a:ln w="17780">
            <a:solidFill>
              <a:srgbClr val="C89B3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15" y="1690421"/>
            <a:ext cx="69494" cy="17374"/>
          </a:xfrm>
          <a:prstGeom prst="line">
            <a:avLst/>
          </a:prstGeom>
          <a:noFill/>
          <a:ln w="17780">
            <a:solidFill>
              <a:srgbClr val="C89B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51844" y="18733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2151844" y="20287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Management · Schedule · Deadline</a:t>
            </a:r>
            <a:endParaRPr lang="en-US" sz="550" dirty="0"/>
          </a:p>
        </p:txBody>
      </p:sp>
      <p:sp>
        <p:nvSpPr>
          <p:cNvPr id="13" name="Shape 11"/>
          <p:cNvSpPr/>
          <p:nvPr/>
        </p:nvSpPr>
        <p:spPr>
          <a:xfrm>
            <a:off x="4398003" y="1673047"/>
            <a:ext cx="225857" cy="165049"/>
          </a:xfrm>
          <a:prstGeom prst="roundRect">
            <a:avLst>
              <a:gd name="adj" fmla="val 55402"/>
            </a:avLst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7962" y="1525372"/>
            <a:ext cx="145938" cy="147676"/>
          </a:xfrm>
          <a:prstGeom prst="arc">
            <a:avLst>
              <a:gd name="adj1" fmla="val 10800000"/>
              <a:gd name="adj2" fmla="val 21600000"/>
            </a:avLst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93558" y="1733855"/>
            <a:ext cx="34747" cy="34747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6" name="Text 14"/>
          <p:cNvSpPr/>
          <p:nvPr/>
        </p:nvSpPr>
        <p:spPr>
          <a:xfrm>
            <a:off x="3736761" y="18733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3736761" y="20287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 · Privacy · Protection</a:t>
            </a:r>
            <a:endParaRPr lang="en-US" sz="550" dirty="0"/>
          </a:p>
        </p:txBody>
      </p:sp>
      <p:sp>
        <p:nvSpPr>
          <p:cNvPr id="18" name="Shape 16"/>
          <p:cNvSpPr/>
          <p:nvPr/>
        </p:nvSpPr>
        <p:spPr>
          <a:xfrm>
            <a:off x="5991606" y="1534058"/>
            <a:ext cx="208483" cy="312725"/>
          </a:xfrm>
          <a:prstGeom prst="roundRect">
            <a:avLst>
              <a:gd name="adj" fmla="val 26316"/>
            </a:avLst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35040" y="1629613"/>
            <a:ext cx="121615" cy="914"/>
          </a:xfrm>
          <a:prstGeom prst="line">
            <a:avLst/>
          </a:prstGeom>
          <a:noFill/>
          <a:ln w="13970">
            <a:solidFill>
              <a:srgbClr val="C89B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35040" y="1690421"/>
            <a:ext cx="121615" cy="914"/>
          </a:xfrm>
          <a:prstGeom prst="line">
            <a:avLst/>
          </a:prstGeom>
          <a:noFill/>
          <a:ln w="13970">
            <a:solidFill>
              <a:srgbClr val="C89B3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35040" y="1751228"/>
            <a:ext cx="121615" cy="914"/>
          </a:xfrm>
          <a:prstGeom prst="line">
            <a:avLst/>
          </a:prstGeom>
          <a:noFill/>
          <a:ln w="13970">
            <a:solidFill>
              <a:srgbClr val="C89B3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21677" y="18733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5321677" y="20287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· Documents · Records</a:t>
            </a:r>
            <a:endParaRPr lang="en-US" sz="550" dirty="0"/>
          </a:p>
        </p:txBody>
      </p:sp>
      <p:sp>
        <p:nvSpPr>
          <p:cNvPr id="24" name="Shape 22"/>
          <p:cNvSpPr/>
          <p:nvPr/>
        </p:nvSpPr>
        <p:spPr>
          <a:xfrm>
            <a:off x="7559149" y="1534058"/>
            <a:ext cx="243230" cy="312725"/>
          </a:xfrm>
          <a:prstGeom prst="roundRect">
            <a:avLst>
              <a:gd name="adj" fmla="val 22556"/>
            </a:avLst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11270" y="1620926"/>
            <a:ext cx="31272" cy="24323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7642542" y="1586179"/>
            <a:ext cx="46909" cy="59070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611270" y="1699108"/>
            <a:ext cx="31272" cy="24323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7642542" y="1664360"/>
            <a:ext cx="46909" cy="59070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11270" y="1777289"/>
            <a:ext cx="31272" cy="24323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7642542" y="1742542"/>
            <a:ext cx="46909" cy="59070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6594" y="18733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6906594" y="20287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· To-Do · Checklist</a:t>
            </a:r>
            <a:endParaRPr lang="en-US" sz="550" dirty="0"/>
          </a:p>
        </p:txBody>
      </p:sp>
      <p:sp>
        <p:nvSpPr>
          <p:cNvPr id="33" name="Shape 31"/>
          <p:cNvSpPr/>
          <p:nvPr/>
        </p:nvSpPr>
        <p:spPr>
          <a:xfrm>
            <a:off x="9170126" y="1690421"/>
            <a:ext cx="78181" cy="86868"/>
          </a:xfrm>
          <a:prstGeom prst="line">
            <a:avLst/>
          </a:prstGeom>
          <a:noFill/>
          <a:ln w="25400">
            <a:solidFill>
              <a:srgbClr val="C89B3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9248307" y="1594866"/>
            <a:ext cx="121615" cy="182423"/>
          </a:xfrm>
          <a:prstGeom prst="line">
            <a:avLst/>
          </a:prstGeom>
          <a:noFill/>
          <a:ln w="25400">
            <a:solidFill>
              <a:srgbClr val="C89B3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91510" y="18733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8491510" y="20287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· Complete · Verified</a:t>
            </a:r>
            <a:endParaRPr lang="en-US" sz="550" dirty="0"/>
          </a:p>
        </p:txBody>
      </p:sp>
      <p:sp>
        <p:nvSpPr>
          <p:cNvPr id="37" name="Shape 35"/>
          <p:cNvSpPr/>
          <p:nvPr/>
        </p:nvSpPr>
        <p:spPr>
          <a:xfrm>
            <a:off x="10755042" y="1594866"/>
            <a:ext cx="191110" cy="191110"/>
          </a:xfrm>
          <a:prstGeom prst="line">
            <a:avLst/>
          </a:prstGeom>
          <a:noFill/>
          <a:ln w="25400">
            <a:solidFill>
              <a:srgbClr val="C89B3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10755042" y="1594866"/>
            <a:ext cx="191110" cy="191110"/>
          </a:xfrm>
          <a:prstGeom prst="line">
            <a:avLst/>
          </a:prstGeom>
          <a:noFill/>
          <a:ln w="25400">
            <a:solidFill>
              <a:srgbClr val="C89B3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076427" y="18733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10076427" y="20287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· Reject · Remove</a:t>
            </a:r>
            <a:endParaRPr lang="en-US" sz="550" dirty="0"/>
          </a:p>
        </p:txBody>
      </p:sp>
      <p:sp>
        <p:nvSpPr>
          <p:cNvPr id="41" name="Shape 39"/>
          <p:cNvSpPr/>
          <p:nvPr/>
        </p:nvSpPr>
        <p:spPr>
          <a:xfrm>
            <a:off x="1271604" y="2474366"/>
            <a:ext cx="86868" cy="86868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42" name="Shape 40"/>
          <p:cNvSpPr/>
          <p:nvPr/>
        </p:nvSpPr>
        <p:spPr>
          <a:xfrm>
            <a:off x="1271604" y="2569921"/>
            <a:ext cx="86868" cy="86868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43" name="Shape 41"/>
          <p:cNvSpPr/>
          <p:nvPr/>
        </p:nvSpPr>
        <p:spPr>
          <a:xfrm>
            <a:off x="1367159" y="2474366"/>
            <a:ext cx="86868" cy="86868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44" name="Shape 42"/>
          <p:cNvSpPr/>
          <p:nvPr/>
        </p:nvSpPr>
        <p:spPr>
          <a:xfrm>
            <a:off x="1367159" y="2569921"/>
            <a:ext cx="86868" cy="86868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45" name="Text 43"/>
          <p:cNvSpPr/>
          <p:nvPr/>
        </p:nvSpPr>
        <p:spPr>
          <a:xfrm>
            <a:off x="566928" y="272674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650" dirty="0"/>
          </a:p>
        </p:txBody>
      </p:sp>
      <p:sp>
        <p:nvSpPr>
          <p:cNvPr id="46" name="Text 44"/>
          <p:cNvSpPr/>
          <p:nvPr/>
        </p:nvSpPr>
        <p:spPr>
          <a:xfrm>
            <a:off x="566928" y="288218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· Modules · Tools</a:t>
            </a:r>
            <a:endParaRPr lang="en-US" sz="550" dirty="0"/>
          </a:p>
        </p:txBody>
      </p:sp>
      <p:sp>
        <p:nvSpPr>
          <p:cNvPr id="47" name="Shape 45"/>
          <p:cNvSpPr/>
          <p:nvPr/>
        </p:nvSpPr>
        <p:spPr>
          <a:xfrm>
            <a:off x="2778339" y="2456993"/>
            <a:ext cx="295351" cy="173736"/>
          </a:xfrm>
          <a:prstGeom prst="roundRect">
            <a:avLst>
              <a:gd name="adj" fmla="val 42105"/>
            </a:avLst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865207" y="2483053"/>
            <a:ext cx="121615" cy="121615"/>
          </a:xfrm>
          <a:prstGeom prst="ellipse">
            <a:avLst/>
          </a:prstGeom>
          <a:ln w="17780">
            <a:solidFill>
              <a:srgbClr val="C89B3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952075" y="2418771"/>
            <a:ext cx="69494" cy="38222"/>
          </a:xfrm>
          <a:prstGeom prst="rect">
            <a:avLst/>
          </a:prstGeom>
          <a:ln w="17780">
            <a:solidFill>
              <a:srgbClr val="C89B3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151844" y="272674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2151844" y="288218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· Media · Capture</a:t>
            </a:r>
            <a:endParaRPr lang="en-US" sz="550" dirty="0"/>
          </a:p>
        </p:txBody>
      </p:sp>
      <p:sp>
        <p:nvSpPr>
          <p:cNvPr id="52" name="Shape 50"/>
          <p:cNvSpPr/>
          <p:nvPr/>
        </p:nvSpPr>
        <p:spPr>
          <a:xfrm>
            <a:off x="4366730" y="2477841"/>
            <a:ext cx="132039" cy="132039"/>
          </a:xfrm>
          <a:prstGeom prst="ellipse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493558" y="2543861"/>
            <a:ext cx="147676" cy="914"/>
          </a:xfrm>
          <a:prstGeom prst="line">
            <a:avLst/>
          </a:prstGeom>
          <a:noFill/>
          <a:ln w="20320">
            <a:solidFill>
              <a:srgbClr val="C89B3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597799" y="2543861"/>
            <a:ext cx="914" cy="43434"/>
          </a:xfrm>
          <a:prstGeom prst="line">
            <a:avLst/>
          </a:prstGeom>
          <a:noFill/>
          <a:ln w="17780">
            <a:solidFill>
              <a:srgbClr val="C89B3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636021" y="2543861"/>
            <a:ext cx="914" cy="43434"/>
          </a:xfrm>
          <a:prstGeom prst="line">
            <a:avLst/>
          </a:prstGeom>
          <a:noFill/>
          <a:ln w="17780">
            <a:solidFill>
              <a:srgbClr val="C89B3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736761" y="272674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3736761" y="288218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· Login · Credentials</a:t>
            </a:r>
            <a:endParaRPr lang="en-US" sz="550" dirty="0"/>
          </a:p>
        </p:txBody>
      </p:sp>
      <p:sp>
        <p:nvSpPr>
          <p:cNvPr id="58" name="Shape 56"/>
          <p:cNvSpPr/>
          <p:nvPr/>
        </p:nvSpPr>
        <p:spPr>
          <a:xfrm>
            <a:off x="5974232" y="2422246"/>
            <a:ext cx="191110" cy="191110"/>
          </a:xfrm>
          <a:prstGeom prst="ellipse">
            <a:avLst/>
          </a:prstGeom>
          <a:ln w="21590">
            <a:solidFill>
              <a:srgbClr val="C89B3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134070" y="2582083"/>
            <a:ext cx="74706" cy="74706"/>
          </a:xfrm>
          <a:prstGeom prst="line">
            <a:avLst/>
          </a:prstGeom>
          <a:noFill/>
          <a:ln w="25400">
            <a:solidFill>
              <a:srgbClr val="C89B3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321677" y="272674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5321677" y="288218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· Find · Discover</a:t>
            </a:r>
            <a:endParaRPr lang="en-US" sz="550" dirty="0"/>
          </a:p>
        </p:txBody>
      </p:sp>
      <p:sp>
        <p:nvSpPr>
          <p:cNvPr id="62" name="Shape 60"/>
          <p:cNvSpPr/>
          <p:nvPr/>
        </p:nvSpPr>
        <p:spPr>
          <a:xfrm>
            <a:off x="7524402" y="2430932"/>
            <a:ext cx="312725" cy="225857"/>
          </a:xfrm>
          <a:prstGeom prst="wedgeRoundRectCallout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906594" y="272674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</a:t>
            </a:r>
            <a:endParaRPr lang="en-US" sz="650" dirty="0"/>
          </a:p>
        </p:txBody>
      </p:sp>
      <p:sp>
        <p:nvSpPr>
          <p:cNvPr id="64" name="Text 62"/>
          <p:cNvSpPr/>
          <p:nvPr/>
        </p:nvSpPr>
        <p:spPr>
          <a:xfrm>
            <a:off x="6906594" y="288218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· Chat · Message</a:t>
            </a:r>
            <a:endParaRPr lang="en-US" sz="550" dirty="0"/>
          </a:p>
        </p:txBody>
      </p:sp>
      <p:sp>
        <p:nvSpPr>
          <p:cNvPr id="65" name="Shape 63"/>
          <p:cNvSpPr/>
          <p:nvPr/>
        </p:nvSpPr>
        <p:spPr>
          <a:xfrm>
            <a:off x="9161439" y="2434407"/>
            <a:ext cx="97292" cy="97292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9140591" y="2535174"/>
            <a:ext cx="138989" cy="130302"/>
          </a:xfrm>
          <a:prstGeom prst="arc">
            <a:avLst>
              <a:gd name="adj1" fmla="val 10800000"/>
              <a:gd name="adj2" fmla="val 21600000"/>
            </a:avLst>
          </a:prstGeom>
          <a:ln w="17780">
            <a:solidFill>
              <a:srgbClr val="C89B3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272630" y="2434407"/>
            <a:ext cx="97292" cy="97292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251782" y="2535174"/>
            <a:ext cx="138989" cy="130302"/>
          </a:xfrm>
          <a:prstGeom prst="arc">
            <a:avLst>
              <a:gd name="adj1" fmla="val 10800000"/>
              <a:gd name="adj2" fmla="val 21600000"/>
            </a:avLst>
          </a:prstGeom>
          <a:ln w="17780">
            <a:solidFill>
              <a:srgbClr val="C89B3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491510" y="272674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650" dirty="0"/>
          </a:p>
        </p:txBody>
      </p:sp>
      <p:sp>
        <p:nvSpPr>
          <p:cNvPr id="70" name="Text 68"/>
          <p:cNvSpPr/>
          <p:nvPr/>
        </p:nvSpPr>
        <p:spPr>
          <a:xfrm>
            <a:off x="8491510" y="288218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· Contacts · People</a:t>
            </a:r>
            <a:endParaRPr lang="en-US" sz="550" dirty="0"/>
          </a:p>
        </p:txBody>
      </p:sp>
      <p:sp>
        <p:nvSpPr>
          <p:cNvPr id="71" name="Shape 69"/>
          <p:cNvSpPr/>
          <p:nvPr/>
        </p:nvSpPr>
        <p:spPr>
          <a:xfrm rot="2700000">
            <a:off x="10755042" y="2519538"/>
            <a:ext cx="191110" cy="48646"/>
          </a:xfrm>
          <a:prstGeom prst="rect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716820" y="2410084"/>
            <a:ext cx="76444" cy="76444"/>
          </a:xfrm>
          <a:prstGeom prst="ellipse">
            <a:avLst/>
          </a:prstGeom>
          <a:ln w="17780">
            <a:solidFill>
              <a:srgbClr val="C89B3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907930" y="2601194"/>
            <a:ext cx="76444" cy="76444"/>
          </a:xfrm>
          <a:prstGeom prst="ellipse">
            <a:avLst/>
          </a:prstGeom>
          <a:ln w="17780">
            <a:solidFill>
              <a:srgbClr val="C89B3C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076427" y="272674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650" dirty="0"/>
          </a:p>
        </p:txBody>
      </p:sp>
      <p:sp>
        <p:nvSpPr>
          <p:cNvPr id="75" name="Text 73"/>
          <p:cNvSpPr/>
          <p:nvPr/>
        </p:nvSpPr>
        <p:spPr>
          <a:xfrm>
            <a:off x="10076427" y="288218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· Maintenance · Tools</a:t>
            </a:r>
            <a:endParaRPr lang="en-US" sz="550" dirty="0"/>
          </a:p>
        </p:txBody>
      </p:sp>
      <p:sp>
        <p:nvSpPr>
          <p:cNvPr id="76" name="Shape 74"/>
          <p:cNvSpPr/>
          <p:nvPr/>
        </p:nvSpPr>
        <p:spPr>
          <a:xfrm>
            <a:off x="1210796" y="3371240"/>
            <a:ext cx="260604" cy="173736"/>
          </a:xfrm>
          <a:prstGeom prst="roundRect">
            <a:avLst>
              <a:gd name="adj" fmla="val 26316"/>
            </a:avLst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341098" y="3371240"/>
            <a:ext cx="914" cy="173736"/>
          </a:xfrm>
          <a:prstGeom prst="line">
            <a:avLst/>
          </a:prstGeom>
          <a:noFill/>
          <a:ln w="17780">
            <a:solidFill>
              <a:srgbClr val="C89B3C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1210796" y="3371240"/>
            <a:ext cx="260604" cy="914"/>
          </a:xfrm>
          <a:prstGeom prst="line">
            <a:avLst/>
          </a:prstGeom>
          <a:noFill/>
          <a:ln w="17780">
            <a:solidFill>
              <a:srgbClr val="C89B3C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566928" y="358018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Rewards</a:t>
            </a:r>
            <a:endParaRPr lang="en-US" sz="650" dirty="0"/>
          </a:p>
        </p:txBody>
      </p:sp>
      <p:sp>
        <p:nvSpPr>
          <p:cNvPr id="80" name="Text 78"/>
          <p:cNvSpPr/>
          <p:nvPr/>
        </p:nvSpPr>
        <p:spPr>
          <a:xfrm>
            <a:off x="566928" y="373562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Rewards · Incentives · Recognition</a:t>
            </a:r>
            <a:endParaRPr lang="en-US" sz="550" dirty="0"/>
          </a:p>
        </p:txBody>
      </p:sp>
      <p:sp>
        <p:nvSpPr>
          <p:cNvPr id="81" name="Shape 79"/>
          <p:cNvSpPr/>
          <p:nvPr/>
        </p:nvSpPr>
        <p:spPr>
          <a:xfrm flipV="1">
            <a:off x="2830460" y="3371240"/>
            <a:ext cx="191110" cy="173736"/>
          </a:xfrm>
          <a:prstGeom prst="trapezoid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804399" y="3345180"/>
            <a:ext cx="243230" cy="27798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83" name="Text 81"/>
          <p:cNvSpPr/>
          <p:nvPr/>
        </p:nvSpPr>
        <p:spPr>
          <a:xfrm>
            <a:off x="2151844" y="358018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</a:t>
            </a:r>
            <a:endParaRPr lang="en-US" sz="650" dirty="0"/>
          </a:p>
        </p:txBody>
      </p:sp>
      <p:sp>
        <p:nvSpPr>
          <p:cNvPr id="84" name="Text 82"/>
          <p:cNvSpPr/>
          <p:nvPr/>
        </p:nvSpPr>
        <p:spPr>
          <a:xfrm>
            <a:off x="2151844" y="373562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· Archive · Remove</a:t>
            </a:r>
            <a:endParaRPr lang="en-US" sz="550" dirty="0"/>
          </a:p>
        </p:txBody>
      </p:sp>
      <p:sp>
        <p:nvSpPr>
          <p:cNvPr id="85" name="Shape 83"/>
          <p:cNvSpPr/>
          <p:nvPr/>
        </p:nvSpPr>
        <p:spPr>
          <a:xfrm>
            <a:off x="4441437" y="3232252"/>
            <a:ext cx="138989" cy="330098"/>
          </a:xfrm>
          <a:prstGeom prst="roundRect">
            <a:avLst>
              <a:gd name="adj" fmla="val 131579"/>
            </a:avLst>
          </a:prstGeom>
          <a:ln w="21590">
            <a:solidFill>
              <a:srgbClr val="C89B3C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495295" y="3494593"/>
            <a:ext cx="31272" cy="312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87" name="Text 85"/>
          <p:cNvSpPr/>
          <p:nvPr/>
        </p:nvSpPr>
        <p:spPr>
          <a:xfrm>
            <a:off x="3736761" y="358018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</a:t>
            </a:r>
            <a:endParaRPr lang="en-US" sz="650" dirty="0"/>
          </a:p>
        </p:txBody>
      </p:sp>
      <p:sp>
        <p:nvSpPr>
          <p:cNvPr id="88" name="Text 86"/>
          <p:cNvSpPr/>
          <p:nvPr/>
        </p:nvSpPr>
        <p:spPr>
          <a:xfrm>
            <a:off x="3736761" y="373562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· Contact · Call</a:t>
            </a:r>
            <a:endParaRPr lang="en-US" sz="550" dirty="0"/>
          </a:p>
        </p:txBody>
      </p:sp>
      <p:sp>
        <p:nvSpPr>
          <p:cNvPr id="89" name="Shape 87"/>
          <p:cNvSpPr/>
          <p:nvPr/>
        </p:nvSpPr>
        <p:spPr>
          <a:xfrm>
            <a:off x="5948172" y="3249625"/>
            <a:ext cx="295351" cy="295351"/>
          </a:xfrm>
          <a:prstGeom prst="star5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321677" y="358018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</a:t>
            </a:r>
            <a:endParaRPr lang="en-US" sz="650" dirty="0"/>
          </a:p>
        </p:txBody>
      </p:sp>
      <p:sp>
        <p:nvSpPr>
          <p:cNvPr id="91" name="Text 89"/>
          <p:cNvSpPr/>
          <p:nvPr/>
        </p:nvSpPr>
        <p:spPr>
          <a:xfrm>
            <a:off x="5321677" y="373562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 · Quality · Favorite</a:t>
            </a:r>
            <a:endParaRPr lang="en-US" sz="550" dirty="0"/>
          </a:p>
        </p:txBody>
      </p:sp>
      <p:sp>
        <p:nvSpPr>
          <p:cNvPr id="92" name="Shape 90"/>
          <p:cNvSpPr/>
          <p:nvPr/>
        </p:nvSpPr>
        <p:spPr>
          <a:xfrm>
            <a:off x="7524402" y="3266999"/>
            <a:ext cx="312725" cy="260604"/>
          </a:xfrm>
          <a:prstGeom prst="folderCorner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906594" y="358018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Organize</a:t>
            </a:r>
            <a:endParaRPr lang="en-US" sz="650" dirty="0"/>
          </a:p>
        </p:txBody>
      </p:sp>
      <p:sp>
        <p:nvSpPr>
          <p:cNvPr id="94" name="Text 92"/>
          <p:cNvSpPr/>
          <p:nvPr/>
        </p:nvSpPr>
        <p:spPr>
          <a:xfrm>
            <a:off x="6906594" y="373562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· Folders · Organization</a:t>
            </a:r>
            <a:endParaRPr lang="en-US" sz="550" dirty="0"/>
          </a:p>
        </p:txBody>
      </p:sp>
      <p:sp>
        <p:nvSpPr>
          <p:cNvPr id="95" name="Shape 93"/>
          <p:cNvSpPr/>
          <p:nvPr/>
        </p:nvSpPr>
        <p:spPr>
          <a:xfrm>
            <a:off x="9118005" y="3301746"/>
            <a:ext cx="295351" cy="191110"/>
          </a:xfrm>
          <a:prstGeom prst="rect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118005" y="3301746"/>
            <a:ext cx="147676" cy="112928"/>
          </a:xfrm>
          <a:prstGeom prst="line">
            <a:avLst/>
          </a:prstGeom>
          <a:noFill/>
          <a:ln w="17780">
            <a:solidFill>
              <a:srgbClr val="C89B3C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9265681" y="3301746"/>
            <a:ext cx="147676" cy="112928"/>
          </a:xfrm>
          <a:prstGeom prst="line">
            <a:avLst/>
          </a:prstGeom>
          <a:noFill/>
          <a:ln w="17780">
            <a:solidFill>
              <a:srgbClr val="C89B3C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491510" y="358018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650" dirty="0"/>
          </a:p>
        </p:txBody>
      </p:sp>
      <p:sp>
        <p:nvSpPr>
          <p:cNvPr id="99" name="Text 97"/>
          <p:cNvSpPr/>
          <p:nvPr/>
        </p:nvSpPr>
        <p:spPr>
          <a:xfrm>
            <a:off x="8491510" y="373562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· Correspondence · Inbox</a:t>
            </a:r>
            <a:endParaRPr lang="en-US" sz="550" dirty="0"/>
          </a:p>
        </p:txBody>
      </p:sp>
      <p:sp>
        <p:nvSpPr>
          <p:cNvPr id="100" name="Shape 98"/>
          <p:cNvSpPr/>
          <p:nvPr/>
        </p:nvSpPr>
        <p:spPr>
          <a:xfrm>
            <a:off x="10711608" y="3275686"/>
            <a:ext cx="277978" cy="260604"/>
          </a:xfrm>
          <a:prstGeom prst="roundRect">
            <a:avLst>
              <a:gd name="adj" fmla="val 21053"/>
            </a:avLst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0711608" y="3353867"/>
            <a:ext cx="277978" cy="914"/>
          </a:xfrm>
          <a:prstGeom prst="line">
            <a:avLst/>
          </a:prstGeom>
          <a:noFill/>
          <a:ln w="17780">
            <a:solidFill>
              <a:srgbClr val="C89B3C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0781103" y="3240938"/>
            <a:ext cx="17374" cy="52121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103" name="Shape 101"/>
          <p:cNvSpPr/>
          <p:nvPr/>
        </p:nvSpPr>
        <p:spPr>
          <a:xfrm>
            <a:off x="10902718" y="3240938"/>
            <a:ext cx="17374" cy="52121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104" name="Text 102"/>
          <p:cNvSpPr/>
          <p:nvPr/>
        </p:nvSpPr>
        <p:spPr>
          <a:xfrm>
            <a:off x="10076427" y="358018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</a:t>
            </a:r>
            <a:endParaRPr lang="en-US" sz="650" dirty="0"/>
          </a:p>
        </p:txBody>
      </p:sp>
      <p:sp>
        <p:nvSpPr>
          <p:cNvPr id="105" name="Text 103"/>
          <p:cNvSpPr/>
          <p:nvPr/>
        </p:nvSpPr>
        <p:spPr>
          <a:xfrm>
            <a:off x="10076427" y="373562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 · Planning · Schedule</a:t>
            </a:r>
            <a:endParaRPr lang="en-US" sz="550" dirty="0"/>
          </a:p>
        </p:txBody>
      </p:sp>
      <p:sp>
        <p:nvSpPr>
          <p:cNvPr id="106" name="Shape 104"/>
          <p:cNvSpPr/>
          <p:nvPr/>
        </p:nvSpPr>
        <p:spPr>
          <a:xfrm>
            <a:off x="1200372" y="4153449"/>
            <a:ext cx="20848" cy="2084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1245543" y="4163873"/>
            <a:ext cx="225857" cy="914"/>
          </a:xfrm>
          <a:prstGeom prst="line">
            <a:avLst/>
          </a:prstGeom>
          <a:noFill/>
          <a:ln w="16510">
            <a:solidFill>
              <a:srgbClr val="C89B3C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1200372" y="4240317"/>
            <a:ext cx="20848" cy="2084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09" name="Shape 107"/>
          <p:cNvSpPr/>
          <p:nvPr/>
        </p:nvSpPr>
        <p:spPr>
          <a:xfrm>
            <a:off x="1245543" y="4250741"/>
            <a:ext cx="225857" cy="914"/>
          </a:xfrm>
          <a:prstGeom prst="line">
            <a:avLst/>
          </a:prstGeom>
          <a:noFill/>
          <a:ln w="16510">
            <a:solidFill>
              <a:srgbClr val="C89B3C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1200372" y="4327185"/>
            <a:ext cx="20848" cy="2084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11" name="Shape 109"/>
          <p:cNvSpPr/>
          <p:nvPr/>
        </p:nvSpPr>
        <p:spPr>
          <a:xfrm>
            <a:off x="1245543" y="4337609"/>
            <a:ext cx="225857" cy="914"/>
          </a:xfrm>
          <a:prstGeom prst="line">
            <a:avLst/>
          </a:prstGeom>
          <a:noFill/>
          <a:ln w="16510">
            <a:solidFill>
              <a:srgbClr val="C89B3C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66928" y="443362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View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66928" y="458906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· Agenda · Items</a:t>
            </a:r>
            <a:endParaRPr lang="en-US" sz="550" dirty="0"/>
          </a:p>
        </p:txBody>
      </p:sp>
      <p:sp>
        <p:nvSpPr>
          <p:cNvPr id="114" name="Shape 112"/>
          <p:cNvSpPr/>
          <p:nvPr/>
        </p:nvSpPr>
        <p:spPr>
          <a:xfrm rot="10800000">
            <a:off x="2830460" y="4111752"/>
            <a:ext cx="191110" cy="277978"/>
          </a:xfrm>
          <a:prstGeom prst="teardrop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2151844" y="443362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</a:t>
            </a:r>
            <a:endParaRPr lang="en-US" sz="650" dirty="0"/>
          </a:p>
        </p:txBody>
      </p:sp>
      <p:sp>
        <p:nvSpPr>
          <p:cNvPr id="116" name="Text 114"/>
          <p:cNvSpPr/>
          <p:nvPr/>
        </p:nvSpPr>
        <p:spPr>
          <a:xfrm>
            <a:off x="2151844" y="458906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· Site · Address</a:t>
            </a:r>
            <a:endParaRPr lang="en-US" sz="550" dirty="0"/>
          </a:p>
        </p:txBody>
      </p:sp>
      <p:sp>
        <p:nvSpPr>
          <p:cNvPr id="117" name="Shape 115"/>
          <p:cNvSpPr/>
          <p:nvPr/>
        </p:nvSpPr>
        <p:spPr>
          <a:xfrm>
            <a:off x="4389316" y="4103065"/>
            <a:ext cx="243230" cy="295351"/>
          </a:xfrm>
          <a:prstGeom prst="funnel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3736761" y="443362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</a:t>
            </a:r>
            <a:endParaRPr lang="en-US" sz="650" dirty="0"/>
          </a:p>
        </p:txBody>
      </p:sp>
      <p:sp>
        <p:nvSpPr>
          <p:cNvPr id="119" name="Text 117"/>
          <p:cNvSpPr/>
          <p:nvPr/>
        </p:nvSpPr>
        <p:spPr>
          <a:xfrm>
            <a:off x="3736761" y="458906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· Sort · Refine</a:t>
            </a:r>
            <a:endParaRPr lang="en-US" sz="550" dirty="0"/>
          </a:p>
        </p:txBody>
      </p:sp>
      <p:sp>
        <p:nvSpPr>
          <p:cNvPr id="120" name="Shape 118"/>
          <p:cNvSpPr/>
          <p:nvPr/>
        </p:nvSpPr>
        <p:spPr>
          <a:xfrm>
            <a:off x="5948172" y="4103065"/>
            <a:ext cx="295351" cy="295351"/>
          </a:xfrm>
          <a:prstGeom prst="actionButtonHelp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5321677" y="443362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5321677" y="458906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Center · FAQ · Support</a:t>
            </a:r>
            <a:endParaRPr lang="en-US" sz="550" dirty="0"/>
          </a:p>
        </p:txBody>
      </p:sp>
      <p:sp>
        <p:nvSpPr>
          <p:cNvPr id="123" name="Shape 121"/>
          <p:cNvSpPr/>
          <p:nvPr/>
        </p:nvSpPr>
        <p:spPr>
          <a:xfrm>
            <a:off x="7533088" y="4103065"/>
            <a:ext cx="295351" cy="295351"/>
          </a:xfrm>
          <a:prstGeom prst="actionButtonInformation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906594" y="443362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6906594" y="458906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· Details · About</a:t>
            </a:r>
            <a:endParaRPr lang="en-US" sz="550" dirty="0"/>
          </a:p>
        </p:txBody>
      </p:sp>
      <p:sp>
        <p:nvSpPr>
          <p:cNvPr id="126" name="Shape 124"/>
          <p:cNvSpPr/>
          <p:nvPr/>
        </p:nvSpPr>
        <p:spPr>
          <a:xfrm>
            <a:off x="9118005" y="4103065"/>
            <a:ext cx="295351" cy="295351"/>
          </a:xfrm>
          <a:prstGeom prst="actionButtonSound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8491510" y="443362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8491510" y="458906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· Sound · Voice</a:t>
            </a:r>
            <a:endParaRPr lang="en-US" sz="550" dirty="0"/>
          </a:p>
        </p:txBody>
      </p:sp>
      <p:sp>
        <p:nvSpPr>
          <p:cNvPr id="129" name="Shape 127"/>
          <p:cNvSpPr/>
          <p:nvPr/>
        </p:nvSpPr>
        <p:spPr>
          <a:xfrm>
            <a:off x="10702921" y="4103065"/>
            <a:ext cx="295351" cy="295351"/>
          </a:xfrm>
          <a:prstGeom prst="actionButtonMovie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10076427" y="443362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</a:t>
            </a:r>
            <a:endParaRPr lang="en-US" sz="650" dirty="0"/>
          </a:p>
        </p:txBody>
      </p:sp>
      <p:sp>
        <p:nvSpPr>
          <p:cNvPr id="131" name="Text 129"/>
          <p:cNvSpPr/>
          <p:nvPr/>
        </p:nvSpPr>
        <p:spPr>
          <a:xfrm>
            <a:off x="10076427" y="458906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· Media Playback</a:t>
            </a:r>
            <a:endParaRPr lang="en-US" sz="550" dirty="0"/>
          </a:p>
        </p:txBody>
      </p:sp>
      <p:sp>
        <p:nvSpPr>
          <p:cNvPr id="132" name="Shape 130"/>
          <p:cNvSpPr/>
          <p:nvPr/>
        </p:nvSpPr>
        <p:spPr>
          <a:xfrm>
            <a:off x="1193423" y="4956505"/>
            <a:ext cx="295351" cy="295351"/>
          </a:xfrm>
          <a:prstGeom prst="actionButtonReturn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66928" y="528706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</a:t>
            </a:r>
            <a:endParaRPr lang="en-US" sz="650" dirty="0"/>
          </a:p>
        </p:txBody>
      </p:sp>
      <p:sp>
        <p:nvSpPr>
          <p:cNvPr id="134" name="Text 132"/>
          <p:cNvSpPr/>
          <p:nvPr/>
        </p:nvSpPr>
        <p:spPr>
          <a:xfrm>
            <a:off x="566928" y="544250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 · Return · Revert</a:t>
            </a:r>
            <a:endParaRPr lang="en-US" sz="550" dirty="0"/>
          </a:p>
        </p:txBody>
      </p:sp>
      <p:sp>
        <p:nvSpPr>
          <p:cNvPr id="135" name="Shape 133"/>
          <p:cNvSpPr/>
          <p:nvPr/>
        </p:nvSpPr>
        <p:spPr>
          <a:xfrm>
            <a:off x="2778339" y="4956505"/>
            <a:ext cx="295351" cy="295351"/>
          </a:xfrm>
          <a:prstGeom prst="actionButtonForwardNext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2151844" y="528706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650" dirty="0"/>
          </a:p>
        </p:txBody>
      </p:sp>
      <p:sp>
        <p:nvSpPr>
          <p:cNvPr id="137" name="Text 135"/>
          <p:cNvSpPr/>
          <p:nvPr/>
        </p:nvSpPr>
        <p:spPr>
          <a:xfrm>
            <a:off x="2151844" y="544250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· Forward · Continue</a:t>
            </a:r>
            <a:endParaRPr lang="en-US" sz="550" dirty="0"/>
          </a:p>
        </p:txBody>
      </p:sp>
      <p:sp>
        <p:nvSpPr>
          <p:cNvPr id="138" name="Shape 136"/>
          <p:cNvSpPr/>
          <p:nvPr/>
        </p:nvSpPr>
        <p:spPr>
          <a:xfrm>
            <a:off x="4363256" y="4956505"/>
            <a:ext cx="295351" cy="295351"/>
          </a:xfrm>
          <a:prstGeom prst="actionButtonBackPrevious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3736761" y="528706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</a:t>
            </a:r>
            <a:endParaRPr lang="en-US" sz="650" dirty="0"/>
          </a:p>
        </p:txBody>
      </p:sp>
      <p:sp>
        <p:nvSpPr>
          <p:cNvPr id="140" name="Text 138"/>
          <p:cNvSpPr/>
          <p:nvPr/>
        </p:nvSpPr>
        <p:spPr>
          <a:xfrm>
            <a:off x="3736761" y="544250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 · Back · Prior</a:t>
            </a:r>
            <a:endParaRPr lang="en-US" sz="550" dirty="0"/>
          </a:p>
        </p:txBody>
      </p:sp>
      <p:sp>
        <p:nvSpPr>
          <p:cNvPr id="141" name="Shape 139"/>
          <p:cNvSpPr/>
          <p:nvPr/>
        </p:nvSpPr>
        <p:spPr>
          <a:xfrm>
            <a:off x="5930798" y="5008626"/>
            <a:ext cx="330098" cy="191110"/>
          </a:xfrm>
          <a:prstGeom prst="leftRightArrow">
            <a:avLst/>
          </a:prstGeom>
          <a:solidFill>
            <a:srgbClr val="C89B3C"/>
          </a:solidFill>
          <a:ln/>
        </p:spPr>
      </p:sp>
      <p:sp>
        <p:nvSpPr>
          <p:cNvPr id="142" name="Text 140"/>
          <p:cNvSpPr/>
          <p:nvPr/>
        </p:nvSpPr>
        <p:spPr>
          <a:xfrm>
            <a:off x="5321677" y="528706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Exchange</a:t>
            </a:r>
            <a:endParaRPr lang="en-US" sz="650" dirty="0"/>
          </a:p>
        </p:txBody>
      </p:sp>
      <p:sp>
        <p:nvSpPr>
          <p:cNvPr id="143" name="Text 141"/>
          <p:cNvSpPr/>
          <p:nvPr/>
        </p:nvSpPr>
        <p:spPr>
          <a:xfrm>
            <a:off x="5321677" y="544250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Two-Way · Exchange · Sync</a:t>
            </a:r>
            <a:endParaRPr lang="en-US" sz="550" dirty="0"/>
          </a:p>
        </p:txBody>
      </p:sp>
      <p:sp>
        <p:nvSpPr>
          <p:cNvPr id="144" name="Shape 142"/>
          <p:cNvSpPr/>
          <p:nvPr/>
        </p:nvSpPr>
        <p:spPr>
          <a:xfrm>
            <a:off x="7585209" y="4947818"/>
            <a:ext cx="191110" cy="312725"/>
          </a:xfrm>
          <a:prstGeom prst="upDownArrow">
            <a:avLst/>
          </a:prstGeom>
          <a:solidFill>
            <a:srgbClr val="C89B3C"/>
          </a:solidFill>
          <a:ln/>
        </p:spPr>
      </p:sp>
      <p:sp>
        <p:nvSpPr>
          <p:cNvPr id="145" name="Text 143"/>
          <p:cNvSpPr/>
          <p:nvPr/>
        </p:nvSpPr>
        <p:spPr>
          <a:xfrm>
            <a:off x="6906594" y="528706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</a:t>
            </a:r>
            <a:endParaRPr lang="en-US" sz="650" dirty="0"/>
          </a:p>
        </p:txBody>
      </p:sp>
      <p:sp>
        <p:nvSpPr>
          <p:cNvPr id="146" name="Text 144"/>
          <p:cNvSpPr/>
          <p:nvPr/>
        </p:nvSpPr>
        <p:spPr>
          <a:xfrm>
            <a:off x="6906594" y="544250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· Scale · Span</a:t>
            </a:r>
            <a:endParaRPr lang="en-US" sz="550" dirty="0"/>
          </a:p>
        </p:txBody>
      </p:sp>
      <p:sp>
        <p:nvSpPr>
          <p:cNvPr id="147" name="Shape 145"/>
          <p:cNvSpPr/>
          <p:nvPr/>
        </p:nvSpPr>
        <p:spPr>
          <a:xfrm>
            <a:off x="9109318" y="4982566"/>
            <a:ext cx="312725" cy="243230"/>
          </a:xfrm>
          <a:prstGeom prst="flowChartDecision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8491510" y="528706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650" dirty="0"/>
          </a:p>
        </p:txBody>
      </p:sp>
      <p:sp>
        <p:nvSpPr>
          <p:cNvPr id="149" name="Text 147"/>
          <p:cNvSpPr/>
          <p:nvPr/>
        </p:nvSpPr>
        <p:spPr>
          <a:xfrm>
            <a:off x="8491510" y="544250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· Choice · Branch</a:t>
            </a:r>
            <a:endParaRPr lang="en-US" sz="550" dirty="0"/>
          </a:p>
        </p:txBody>
      </p:sp>
      <p:sp>
        <p:nvSpPr>
          <p:cNvPr id="150" name="Shape 148"/>
          <p:cNvSpPr/>
          <p:nvPr/>
        </p:nvSpPr>
        <p:spPr>
          <a:xfrm>
            <a:off x="10702921" y="4956505"/>
            <a:ext cx="295351" cy="295351"/>
          </a:xfrm>
          <a:prstGeom prst="smileyFace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10076427" y="528706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</a:t>
            </a:r>
            <a:endParaRPr lang="en-US" sz="650" dirty="0"/>
          </a:p>
        </p:txBody>
      </p:sp>
      <p:sp>
        <p:nvSpPr>
          <p:cNvPr id="152" name="Text 150"/>
          <p:cNvSpPr/>
          <p:nvPr/>
        </p:nvSpPr>
        <p:spPr>
          <a:xfrm>
            <a:off x="10076427" y="544250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· Satisfaction · Survey</a:t>
            </a:r>
            <a:endParaRPr lang="en-US" sz="550" dirty="0"/>
          </a:p>
        </p:txBody>
      </p:sp>
      <p:sp>
        <p:nvSpPr>
          <p:cNvPr id="153" name="Shape 151"/>
          <p:cNvSpPr/>
          <p:nvPr/>
        </p:nvSpPr>
        <p:spPr>
          <a:xfrm>
            <a:off x="1202109" y="5818632"/>
            <a:ext cx="277978" cy="277978"/>
          </a:xfrm>
          <a:prstGeom prst="star4">
            <a:avLst/>
          </a:prstGeom>
          <a:solidFill>
            <a:srgbClr val="C89B3C"/>
          </a:solidFill>
          <a:ln/>
        </p:spPr>
      </p:sp>
      <p:sp>
        <p:nvSpPr>
          <p:cNvPr id="154" name="Text 152"/>
          <p:cNvSpPr/>
          <p:nvPr/>
        </p:nvSpPr>
        <p:spPr>
          <a:xfrm>
            <a:off x="566928" y="61405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</a:t>
            </a:r>
            <a:endParaRPr lang="en-US" sz="650" dirty="0"/>
          </a:p>
        </p:txBody>
      </p:sp>
      <p:sp>
        <p:nvSpPr>
          <p:cNvPr id="155" name="Text 153"/>
          <p:cNvSpPr/>
          <p:nvPr/>
        </p:nvSpPr>
        <p:spPr>
          <a:xfrm>
            <a:off x="566928" y="62959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 · New · Featured</a:t>
            </a:r>
            <a:endParaRPr lang="en-US" sz="550" dirty="0"/>
          </a:p>
        </p:txBody>
      </p:sp>
      <p:sp>
        <p:nvSpPr>
          <p:cNvPr id="156" name="Shape 154"/>
          <p:cNvSpPr/>
          <p:nvPr/>
        </p:nvSpPr>
        <p:spPr>
          <a:xfrm>
            <a:off x="2769652" y="5836006"/>
            <a:ext cx="312725" cy="243230"/>
          </a:xfrm>
          <a:prstGeom prst="borderCallout1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2151844" y="61405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650" dirty="0"/>
          </a:p>
        </p:txBody>
      </p:sp>
      <p:sp>
        <p:nvSpPr>
          <p:cNvPr id="158" name="Text 156"/>
          <p:cNvSpPr/>
          <p:nvPr/>
        </p:nvSpPr>
        <p:spPr>
          <a:xfrm>
            <a:off x="2151844" y="62959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· Annotation · Comment</a:t>
            </a:r>
            <a:endParaRPr lang="en-US" sz="550" dirty="0"/>
          </a:p>
        </p:txBody>
      </p:sp>
      <p:sp>
        <p:nvSpPr>
          <p:cNvPr id="159" name="Shape 157"/>
          <p:cNvSpPr/>
          <p:nvPr/>
        </p:nvSpPr>
        <p:spPr>
          <a:xfrm>
            <a:off x="4363256" y="5809945"/>
            <a:ext cx="295351" cy="295351"/>
          </a:xfrm>
          <a:prstGeom prst="noSmoking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3736761" y="61405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</a:t>
            </a:r>
            <a:endParaRPr lang="en-US" sz="650" dirty="0"/>
          </a:p>
        </p:txBody>
      </p:sp>
      <p:sp>
        <p:nvSpPr>
          <p:cNvPr id="161" name="Text 159"/>
          <p:cNvSpPr/>
          <p:nvPr/>
        </p:nvSpPr>
        <p:spPr>
          <a:xfrm>
            <a:off x="3736761" y="62959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· Prohibited · Blocked</a:t>
            </a:r>
            <a:endParaRPr lang="en-US" sz="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Services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unique icons — every one is a distinct native PowerPoint shape, none repeated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221220" y="1716481"/>
            <a:ext cx="59070" cy="121615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5" name="Shape 3"/>
          <p:cNvSpPr/>
          <p:nvPr/>
        </p:nvSpPr>
        <p:spPr>
          <a:xfrm>
            <a:off x="1311563" y="1638300"/>
            <a:ext cx="59070" cy="199796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6" name="Shape 4"/>
          <p:cNvSpPr/>
          <p:nvPr/>
        </p:nvSpPr>
        <p:spPr>
          <a:xfrm>
            <a:off x="1401906" y="1560119"/>
            <a:ext cx="59070" cy="277978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733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566928" y="20287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· Growth · Investment · Analytics</a:t>
            </a:r>
            <a:endParaRPr lang="en-US" sz="550" dirty="0"/>
          </a:p>
        </p:txBody>
      </p:sp>
      <p:sp>
        <p:nvSpPr>
          <p:cNvPr id="9" name="Shape 7"/>
          <p:cNvSpPr/>
          <p:nvPr/>
        </p:nvSpPr>
        <p:spPr>
          <a:xfrm rot="10800000">
            <a:off x="2795713" y="1534058"/>
            <a:ext cx="260604" cy="312725"/>
          </a:xfrm>
          <a:prstGeom prst="pentagon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51844" y="18733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2151844" y="20287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 · Security · Trust · Compliance</a:t>
            </a:r>
            <a:endParaRPr lang="en-US" sz="550" dirty="0"/>
          </a:p>
        </p:txBody>
      </p:sp>
      <p:sp>
        <p:nvSpPr>
          <p:cNvPr id="12" name="Shape 10"/>
          <p:cNvSpPr/>
          <p:nvPr/>
        </p:nvSpPr>
        <p:spPr>
          <a:xfrm>
            <a:off x="4366730" y="1620926"/>
            <a:ext cx="191110" cy="19111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64022" y="1568806"/>
            <a:ext cx="191110" cy="19111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36761" y="18733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3736761" y="20287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· Funding · Currency · Wealth</a:t>
            </a:r>
            <a:endParaRPr lang="en-US" sz="550" dirty="0"/>
          </a:p>
        </p:txBody>
      </p:sp>
      <p:sp>
        <p:nvSpPr>
          <p:cNvPr id="16" name="Shape 14"/>
          <p:cNvSpPr/>
          <p:nvPr/>
        </p:nvSpPr>
        <p:spPr>
          <a:xfrm>
            <a:off x="5930798" y="1820723"/>
            <a:ext cx="330098" cy="27798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17" name="Shape 15"/>
          <p:cNvSpPr/>
          <p:nvPr/>
        </p:nvSpPr>
        <p:spPr>
          <a:xfrm>
            <a:off x="5922112" y="1525372"/>
            <a:ext cx="347472" cy="130302"/>
          </a:xfrm>
          <a:prstGeom prst="triangle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81182" y="1664360"/>
            <a:ext cx="20848" cy="156362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19" name="Shape 17"/>
          <p:cNvSpPr/>
          <p:nvPr/>
        </p:nvSpPr>
        <p:spPr>
          <a:xfrm>
            <a:off x="6085423" y="1664360"/>
            <a:ext cx="20848" cy="156362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20" name="Shape 18"/>
          <p:cNvSpPr/>
          <p:nvPr/>
        </p:nvSpPr>
        <p:spPr>
          <a:xfrm>
            <a:off x="6189665" y="1664360"/>
            <a:ext cx="20848" cy="156362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21" name="Text 19"/>
          <p:cNvSpPr/>
          <p:nvPr/>
        </p:nvSpPr>
        <p:spPr>
          <a:xfrm>
            <a:off x="5321677" y="18733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5321677" y="20287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 · Institution · Financial Services</a:t>
            </a:r>
            <a:endParaRPr lang="en-US" sz="550" dirty="0"/>
          </a:p>
        </p:txBody>
      </p:sp>
      <p:sp>
        <p:nvSpPr>
          <p:cNvPr id="23" name="Shape 21"/>
          <p:cNvSpPr/>
          <p:nvPr/>
        </p:nvSpPr>
        <p:spPr>
          <a:xfrm>
            <a:off x="7524402" y="1560119"/>
            <a:ext cx="312725" cy="260604"/>
          </a:xfrm>
          <a:prstGeom prst="leftRightCircularArrow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06594" y="18733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6906594" y="20287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· Transactions · Exchange</a:t>
            </a:r>
            <a:endParaRPr lang="en-US" sz="550" dirty="0"/>
          </a:p>
        </p:txBody>
      </p:sp>
      <p:sp>
        <p:nvSpPr>
          <p:cNvPr id="26" name="Shape 24"/>
          <p:cNvSpPr/>
          <p:nvPr/>
        </p:nvSpPr>
        <p:spPr>
          <a:xfrm>
            <a:off x="9126692" y="1551432"/>
            <a:ext cx="277978" cy="277978"/>
          </a:xfrm>
          <a:prstGeom prst="octagon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91510" y="18733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8491510" y="20287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Management · Compliance · Controls</a:t>
            </a:r>
            <a:endParaRPr lang="en-US" sz="550" dirty="0"/>
          </a:p>
        </p:txBody>
      </p:sp>
      <p:sp>
        <p:nvSpPr>
          <p:cNvPr id="29" name="Shape 27"/>
          <p:cNvSpPr/>
          <p:nvPr/>
        </p:nvSpPr>
        <p:spPr>
          <a:xfrm>
            <a:off x="10685548" y="1577492"/>
            <a:ext cx="330098" cy="225857"/>
          </a:xfrm>
          <a:prstGeom prst="ribbon2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076427" y="18733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10076427" y="20287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Rating · Certification · Standing</a:t>
            </a:r>
            <a:endParaRPr lang="en-US" sz="550" dirty="0"/>
          </a:p>
        </p:txBody>
      </p:sp>
      <p:sp>
        <p:nvSpPr>
          <p:cNvPr id="32" name="Shape 30"/>
          <p:cNvSpPr/>
          <p:nvPr/>
        </p:nvSpPr>
        <p:spPr>
          <a:xfrm>
            <a:off x="1236857" y="2387498"/>
            <a:ext cx="208483" cy="312725"/>
          </a:xfrm>
          <a:prstGeom prst="roundRect">
            <a:avLst>
              <a:gd name="adj" fmla="val 26316"/>
            </a:avLst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280291" y="2483053"/>
            <a:ext cx="121615" cy="914"/>
          </a:xfrm>
          <a:prstGeom prst="line">
            <a:avLst/>
          </a:prstGeom>
          <a:noFill/>
          <a:ln w="13970">
            <a:solidFill>
              <a:srgbClr val="C89B3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280291" y="2543861"/>
            <a:ext cx="121615" cy="914"/>
          </a:xfrm>
          <a:prstGeom prst="line">
            <a:avLst/>
          </a:prstGeom>
          <a:noFill/>
          <a:ln w="13970">
            <a:solidFill>
              <a:srgbClr val="C89B3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280291" y="2604668"/>
            <a:ext cx="121615" cy="914"/>
          </a:xfrm>
          <a:prstGeom prst="line">
            <a:avLst/>
          </a:prstGeom>
          <a:noFill/>
          <a:ln w="13970">
            <a:solidFill>
              <a:srgbClr val="C89B3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66928" y="272674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Statements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566928" y="288218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Statements · Reports · Records</a:t>
            </a:r>
            <a:endParaRPr lang="en-US" sz="550" dirty="0"/>
          </a:p>
        </p:txBody>
      </p:sp>
      <p:sp>
        <p:nvSpPr>
          <p:cNvPr id="38" name="Shape 36"/>
          <p:cNvSpPr/>
          <p:nvPr/>
        </p:nvSpPr>
        <p:spPr>
          <a:xfrm>
            <a:off x="2804399" y="2387498"/>
            <a:ext cx="243230" cy="312725"/>
          </a:xfrm>
          <a:prstGeom prst="roundRect">
            <a:avLst>
              <a:gd name="adj" fmla="val 22556"/>
            </a:avLst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856520" y="2474366"/>
            <a:ext cx="31272" cy="24323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2887793" y="2439619"/>
            <a:ext cx="46909" cy="59070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856520" y="2552548"/>
            <a:ext cx="31272" cy="24323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2887793" y="2517800"/>
            <a:ext cx="46909" cy="59070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856520" y="2630729"/>
            <a:ext cx="31272" cy="24323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2887793" y="2595982"/>
            <a:ext cx="46909" cy="59070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151844" y="272674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650" dirty="0"/>
          </a:p>
        </p:txBody>
      </p:sp>
      <p:sp>
        <p:nvSpPr>
          <p:cNvPr id="46" name="Text 44"/>
          <p:cNvSpPr/>
          <p:nvPr/>
        </p:nvSpPr>
        <p:spPr>
          <a:xfrm>
            <a:off x="2151844" y="288218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· Compliance Checklist · Controls</a:t>
            </a:r>
            <a:endParaRPr lang="en-US" sz="550" dirty="0"/>
          </a:p>
        </p:txBody>
      </p:sp>
      <p:sp>
        <p:nvSpPr>
          <p:cNvPr id="47" name="Shape 45"/>
          <p:cNvSpPr/>
          <p:nvPr/>
        </p:nvSpPr>
        <p:spPr>
          <a:xfrm>
            <a:off x="4366730" y="2477841"/>
            <a:ext cx="132039" cy="132039"/>
          </a:xfrm>
          <a:prstGeom prst="ellipse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493558" y="2543861"/>
            <a:ext cx="147676" cy="914"/>
          </a:xfrm>
          <a:prstGeom prst="line">
            <a:avLst/>
          </a:prstGeom>
          <a:noFill/>
          <a:ln w="20320">
            <a:solidFill>
              <a:srgbClr val="C89B3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97799" y="2543861"/>
            <a:ext cx="914" cy="43434"/>
          </a:xfrm>
          <a:prstGeom prst="line">
            <a:avLst/>
          </a:prstGeom>
          <a:noFill/>
          <a:ln w="17780">
            <a:solidFill>
              <a:srgbClr val="C89B3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636021" y="2543861"/>
            <a:ext cx="914" cy="43434"/>
          </a:xfrm>
          <a:prstGeom prst="line">
            <a:avLst/>
          </a:prstGeom>
          <a:noFill/>
          <a:ln w="17780">
            <a:solidFill>
              <a:srgbClr val="C89B3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736761" y="272674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</a:t>
            </a:r>
            <a:endParaRPr lang="en-US" sz="650" dirty="0"/>
          </a:p>
        </p:txBody>
      </p:sp>
      <p:sp>
        <p:nvSpPr>
          <p:cNvPr id="52" name="Text 50"/>
          <p:cNvSpPr/>
          <p:nvPr/>
        </p:nvSpPr>
        <p:spPr>
          <a:xfrm>
            <a:off x="3736761" y="288218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 · Authorization · Security</a:t>
            </a:r>
            <a:endParaRPr lang="en-US" sz="550" dirty="0"/>
          </a:p>
        </p:txBody>
      </p:sp>
      <p:sp>
        <p:nvSpPr>
          <p:cNvPr id="53" name="Shape 51"/>
          <p:cNvSpPr/>
          <p:nvPr/>
        </p:nvSpPr>
        <p:spPr>
          <a:xfrm>
            <a:off x="5930798" y="2413559"/>
            <a:ext cx="330098" cy="260604"/>
          </a:xfrm>
          <a:prstGeom prst="roundRect">
            <a:avLst>
              <a:gd name="adj" fmla="val 28070"/>
            </a:avLst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991606" y="2483053"/>
            <a:ext cx="138989" cy="138989"/>
          </a:xfrm>
          <a:prstGeom prst="pie">
            <a:avLst>
              <a:gd name="adj1" fmla="val 16200000"/>
              <a:gd name="adj2" fmla="val 5400000"/>
            </a:avLst>
          </a:prstGeom>
          <a:ln w="15875">
            <a:solidFill>
              <a:srgbClr val="C89B3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321677" y="272674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Dashboard</a:t>
            </a:r>
            <a:endParaRPr lang="en-US" sz="650" dirty="0"/>
          </a:p>
        </p:txBody>
      </p:sp>
      <p:sp>
        <p:nvSpPr>
          <p:cNvPr id="56" name="Text 54"/>
          <p:cNvSpPr/>
          <p:nvPr/>
        </p:nvSpPr>
        <p:spPr>
          <a:xfrm>
            <a:off x="5321677" y="288218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· KPI · Performance</a:t>
            </a:r>
            <a:endParaRPr lang="en-US" sz="550" dirty="0"/>
          </a:p>
        </p:txBody>
      </p:sp>
      <p:sp>
        <p:nvSpPr>
          <p:cNvPr id="57" name="Shape 55"/>
          <p:cNvSpPr/>
          <p:nvPr/>
        </p:nvSpPr>
        <p:spPr>
          <a:xfrm>
            <a:off x="7533088" y="2396185"/>
            <a:ext cx="295351" cy="295351"/>
          </a:xfrm>
          <a:prstGeom prst="pie">
            <a:avLst>
              <a:gd name="adj1" fmla="val 16200000"/>
              <a:gd name="adj2" fmla="val 5400000"/>
            </a:avLst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906594" y="272674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</a:t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6906594" y="288218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Allocation · Portfolio Mix</a:t>
            </a:r>
            <a:endParaRPr lang="en-US" sz="550" dirty="0"/>
          </a:p>
        </p:txBody>
      </p:sp>
      <p:sp>
        <p:nvSpPr>
          <p:cNvPr id="60" name="Shape 58"/>
          <p:cNvSpPr/>
          <p:nvPr/>
        </p:nvSpPr>
        <p:spPr>
          <a:xfrm>
            <a:off x="9118005" y="2396185"/>
            <a:ext cx="295351" cy="295351"/>
          </a:xfrm>
          <a:prstGeom prst="irregularSeal1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491510" y="272674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</a:t>
            </a:r>
            <a:endParaRPr lang="en-US" sz="650" dirty="0"/>
          </a:p>
        </p:txBody>
      </p:sp>
      <p:sp>
        <p:nvSpPr>
          <p:cNvPr id="62" name="Text 60"/>
          <p:cNvSpPr/>
          <p:nvPr/>
        </p:nvSpPr>
        <p:spPr>
          <a:xfrm>
            <a:off x="8491510" y="288218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 · Accredited · Compliant</a:t>
            </a:r>
            <a:endParaRPr lang="en-US" sz="550" dirty="0"/>
          </a:p>
        </p:txBody>
      </p:sp>
      <p:sp>
        <p:nvSpPr>
          <p:cNvPr id="63" name="Shape 61"/>
          <p:cNvSpPr/>
          <p:nvPr/>
        </p:nvSpPr>
        <p:spPr>
          <a:xfrm>
            <a:off x="10728982" y="2387498"/>
            <a:ext cx="243230" cy="312725"/>
          </a:xfrm>
          <a:prstGeom prst="can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076427" y="272674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Reserves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10076427" y="288218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Reserves · Capital Pool · Treasury</a:t>
            </a:r>
            <a:endParaRPr lang="en-US" sz="550" dirty="0"/>
          </a:p>
        </p:txBody>
      </p:sp>
      <p:sp>
        <p:nvSpPr>
          <p:cNvPr id="66" name="Shape 64"/>
          <p:cNvSpPr/>
          <p:nvPr/>
        </p:nvSpPr>
        <p:spPr>
          <a:xfrm>
            <a:off x="1202109" y="3275686"/>
            <a:ext cx="277978" cy="260604"/>
          </a:xfrm>
          <a:prstGeom prst="roundRect">
            <a:avLst>
              <a:gd name="adj" fmla="val 21053"/>
            </a:avLst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202109" y="3353867"/>
            <a:ext cx="277978" cy="914"/>
          </a:xfrm>
          <a:prstGeom prst="line">
            <a:avLst/>
          </a:prstGeom>
          <a:noFill/>
          <a:ln w="17780">
            <a:solidFill>
              <a:srgbClr val="C89B3C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71604" y="3240938"/>
            <a:ext cx="17374" cy="52121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69" name="Shape 67"/>
          <p:cNvSpPr/>
          <p:nvPr/>
        </p:nvSpPr>
        <p:spPr>
          <a:xfrm>
            <a:off x="1393219" y="3240938"/>
            <a:ext cx="17374" cy="52121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70" name="Text 68"/>
          <p:cNvSpPr/>
          <p:nvPr/>
        </p:nvSpPr>
        <p:spPr>
          <a:xfrm>
            <a:off x="566928" y="358018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Maturity</a:t>
            </a:r>
            <a:endParaRPr lang="en-US" sz="650" dirty="0"/>
          </a:p>
        </p:txBody>
      </p:sp>
      <p:sp>
        <p:nvSpPr>
          <p:cNvPr id="71" name="Text 69"/>
          <p:cNvSpPr/>
          <p:nvPr/>
        </p:nvSpPr>
        <p:spPr>
          <a:xfrm>
            <a:off x="566928" y="373562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Maturity Date · Term · Schedule</a:t>
            </a:r>
            <a:endParaRPr lang="en-US" sz="550" dirty="0"/>
          </a:p>
        </p:txBody>
      </p:sp>
      <p:sp>
        <p:nvSpPr>
          <p:cNvPr id="72" name="Shape 70"/>
          <p:cNvSpPr/>
          <p:nvPr/>
        </p:nvSpPr>
        <p:spPr>
          <a:xfrm>
            <a:off x="2856520" y="3232252"/>
            <a:ext cx="138989" cy="330098"/>
          </a:xfrm>
          <a:prstGeom prst="roundRect">
            <a:avLst>
              <a:gd name="adj" fmla="val 131579"/>
            </a:avLst>
          </a:prstGeom>
          <a:ln w="21590">
            <a:solidFill>
              <a:srgbClr val="C89B3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910378" y="3494593"/>
            <a:ext cx="31272" cy="312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74" name="Text 72"/>
          <p:cNvSpPr/>
          <p:nvPr/>
        </p:nvSpPr>
        <p:spPr>
          <a:xfrm>
            <a:off x="2151844" y="358018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 Line</a:t>
            </a:r>
            <a:endParaRPr lang="en-US" sz="650" dirty="0"/>
          </a:p>
        </p:txBody>
      </p:sp>
      <p:sp>
        <p:nvSpPr>
          <p:cNvPr id="75" name="Text 73"/>
          <p:cNvSpPr/>
          <p:nvPr/>
        </p:nvSpPr>
        <p:spPr>
          <a:xfrm>
            <a:off x="2151844" y="373562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Service · Advisory Line</a:t>
            </a:r>
            <a:endParaRPr lang="en-US" sz="550" dirty="0"/>
          </a:p>
        </p:txBody>
      </p:sp>
      <p:sp>
        <p:nvSpPr>
          <p:cNvPr id="76" name="Shape 74"/>
          <p:cNvSpPr/>
          <p:nvPr/>
        </p:nvSpPr>
        <p:spPr>
          <a:xfrm>
            <a:off x="4406690" y="3287847"/>
            <a:ext cx="97292" cy="97292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385841" y="3388614"/>
            <a:ext cx="138989" cy="130302"/>
          </a:xfrm>
          <a:prstGeom prst="arc">
            <a:avLst>
              <a:gd name="adj1" fmla="val 10800000"/>
              <a:gd name="adj2" fmla="val 21600000"/>
            </a:avLst>
          </a:prstGeom>
          <a:ln w="17780">
            <a:solidFill>
              <a:srgbClr val="C89B3C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517881" y="3287847"/>
            <a:ext cx="97292" cy="97292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497032" y="3388614"/>
            <a:ext cx="138989" cy="130302"/>
          </a:xfrm>
          <a:prstGeom prst="arc">
            <a:avLst>
              <a:gd name="adj1" fmla="val 10800000"/>
              <a:gd name="adj2" fmla="val 21600000"/>
            </a:avLst>
          </a:prstGeom>
          <a:ln w="17780">
            <a:solidFill>
              <a:srgbClr val="C89B3C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736761" y="358018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650" dirty="0"/>
          </a:p>
        </p:txBody>
      </p:sp>
      <p:sp>
        <p:nvSpPr>
          <p:cNvPr id="81" name="Text 79"/>
          <p:cNvSpPr/>
          <p:nvPr/>
        </p:nvSpPr>
        <p:spPr>
          <a:xfrm>
            <a:off x="3736761" y="373562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· Relationship Management</a:t>
            </a:r>
            <a:endParaRPr lang="en-US" sz="550" dirty="0"/>
          </a:p>
        </p:txBody>
      </p:sp>
      <p:sp>
        <p:nvSpPr>
          <p:cNvPr id="82" name="Shape 80"/>
          <p:cNvSpPr/>
          <p:nvPr/>
        </p:nvSpPr>
        <p:spPr>
          <a:xfrm>
            <a:off x="5948172" y="3301746"/>
            <a:ext cx="295351" cy="191110"/>
          </a:xfrm>
          <a:prstGeom prst="rect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948172" y="3301746"/>
            <a:ext cx="147676" cy="112928"/>
          </a:xfrm>
          <a:prstGeom prst="line">
            <a:avLst/>
          </a:prstGeom>
          <a:noFill/>
          <a:ln w="17780">
            <a:solidFill>
              <a:srgbClr val="C89B3C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095848" y="3301746"/>
            <a:ext cx="147676" cy="112928"/>
          </a:xfrm>
          <a:prstGeom prst="line">
            <a:avLst/>
          </a:prstGeom>
          <a:noFill/>
          <a:ln w="17780">
            <a:solidFill>
              <a:srgbClr val="C89B3C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5321677" y="358018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Statements Delivery</a:t>
            </a:r>
            <a:endParaRPr lang="en-US" sz="650" dirty="0"/>
          </a:p>
        </p:txBody>
      </p:sp>
      <p:sp>
        <p:nvSpPr>
          <p:cNvPr id="86" name="Text 84"/>
          <p:cNvSpPr/>
          <p:nvPr/>
        </p:nvSpPr>
        <p:spPr>
          <a:xfrm>
            <a:off x="5321677" y="373562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Statements · Correspondence</a:t>
            </a:r>
            <a:endParaRPr lang="en-US" sz="550" dirty="0"/>
          </a:p>
        </p:txBody>
      </p:sp>
      <p:sp>
        <p:nvSpPr>
          <p:cNvPr id="87" name="Shape 85"/>
          <p:cNvSpPr/>
          <p:nvPr/>
        </p:nvSpPr>
        <p:spPr>
          <a:xfrm>
            <a:off x="7567836" y="3379927"/>
            <a:ext cx="225857" cy="165049"/>
          </a:xfrm>
          <a:prstGeom prst="roundRect">
            <a:avLst>
              <a:gd name="adj" fmla="val 55402"/>
            </a:avLst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7607795" y="3232252"/>
            <a:ext cx="145938" cy="147676"/>
          </a:xfrm>
          <a:prstGeom prst="arc">
            <a:avLst>
              <a:gd name="adj1" fmla="val 10800000"/>
              <a:gd name="adj2" fmla="val 21600000"/>
            </a:avLst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663390" y="3440735"/>
            <a:ext cx="34747" cy="34747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90" name="Text 88"/>
          <p:cNvSpPr/>
          <p:nvPr/>
        </p:nvSpPr>
        <p:spPr>
          <a:xfrm>
            <a:off x="6906594" y="358018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Security</a:t>
            </a:r>
            <a:endParaRPr lang="en-US" sz="650" dirty="0"/>
          </a:p>
        </p:txBody>
      </p:sp>
      <p:sp>
        <p:nvSpPr>
          <p:cNvPr id="91" name="Text 89"/>
          <p:cNvSpPr/>
          <p:nvPr/>
        </p:nvSpPr>
        <p:spPr>
          <a:xfrm>
            <a:off x="6906594" y="373562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Security · Privacy · Encryption</a:t>
            </a:r>
            <a:endParaRPr lang="en-US" sz="550" dirty="0"/>
          </a:p>
        </p:txBody>
      </p:sp>
      <p:sp>
        <p:nvSpPr>
          <p:cNvPr id="92" name="Shape 90"/>
          <p:cNvSpPr/>
          <p:nvPr/>
        </p:nvSpPr>
        <p:spPr>
          <a:xfrm>
            <a:off x="9118005" y="3249625"/>
            <a:ext cx="295351" cy="295351"/>
          </a:xfrm>
          <a:prstGeom prst="star5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8491510" y="358018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Score</a:t>
            </a:r>
            <a:endParaRPr lang="en-US" sz="650" dirty="0"/>
          </a:p>
        </p:txBody>
      </p:sp>
      <p:sp>
        <p:nvSpPr>
          <p:cNvPr id="94" name="Text 92"/>
          <p:cNvSpPr/>
          <p:nvPr/>
        </p:nvSpPr>
        <p:spPr>
          <a:xfrm>
            <a:off x="8491510" y="373562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Score · Rating · Standing</a:t>
            </a:r>
            <a:endParaRPr lang="en-US" sz="550" dirty="0"/>
          </a:p>
        </p:txBody>
      </p:sp>
      <p:sp>
        <p:nvSpPr>
          <p:cNvPr id="95" name="Shape 93"/>
          <p:cNvSpPr/>
          <p:nvPr/>
        </p:nvSpPr>
        <p:spPr>
          <a:xfrm>
            <a:off x="10737669" y="3284372"/>
            <a:ext cx="225857" cy="225857"/>
          </a:xfrm>
          <a:prstGeom prst="mathDivide">
            <a:avLst/>
          </a:prstGeom>
          <a:solidFill>
            <a:srgbClr val="C89B3C"/>
          </a:solidFill>
          <a:ln/>
        </p:spPr>
      </p:sp>
      <p:sp>
        <p:nvSpPr>
          <p:cNvPr id="96" name="Text 94"/>
          <p:cNvSpPr/>
          <p:nvPr/>
        </p:nvSpPr>
        <p:spPr>
          <a:xfrm>
            <a:off x="10076427" y="358018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Ratios</a:t>
            </a:r>
            <a:endParaRPr lang="en-US" sz="650" dirty="0"/>
          </a:p>
        </p:txBody>
      </p:sp>
      <p:sp>
        <p:nvSpPr>
          <p:cNvPr id="97" name="Text 95"/>
          <p:cNvSpPr/>
          <p:nvPr/>
        </p:nvSpPr>
        <p:spPr>
          <a:xfrm>
            <a:off x="10076427" y="373562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Ratios · Metrics</a:t>
            </a:r>
            <a:endParaRPr lang="en-US" sz="550" dirty="0"/>
          </a:p>
        </p:txBody>
      </p:sp>
      <p:sp>
        <p:nvSpPr>
          <p:cNvPr id="98" name="Shape 96"/>
          <p:cNvSpPr/>
          <p:nvPr/>
        </p:nvSpPr>
        <p:spPr>
          <a:xfrm>
            <a:off x="1228170" y="4137812"/>
            <a:ext cx="225857" cy="225857"/>
          </a:xfrm>
          <a:prstGeom prst="mathEqual">
            <a:avLst/>
          </a:prstGeom>
          <a:solidFill>
            <a:srgbClr val="C89B3C"/>
          </a:solidFill>
          <a:ln/>
        </p:spPr>
      </p:sp>
      <p:sp>
        <p:nvSpPr>
          <p:cNvPr id="99" name="Text 97"/>
          <p:cNvSpPr/>
          <p:nvPr/>
        </p:nvSpPr>
        <p:spPr>
          <a:xfrm>
            <a:off x="566928" y="443362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Sheet</a:t>
            </a:r>
            <a:endParaRPr lang="en-US" sz="650" dirty="0"/>
          </a:p>
        </p:txBody>
      </p:sp>
      <p:sp>
        <p:nvSpPr>
          <p:cNvPr id="100" name="Text 98"/>
          <p:cNvSpPr/>
          <p:nvPr/>
        </p:nvSpPr>
        <p:spPr>
          <a:xfrm>
            <a:off x="566928" y="458906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Sheet · Equilibrium</a:t>
            </a:r>
            <a:endParaRPr lang="en-US" sz="550" dirty="0"/>
          </a:p>
        </p:txBody>
      </p:sp>
      <p:sp>
        <p:nvSpPr>
          <p:cNvPr id="101" name="Shape 99"/>
          <p:cNvSpPr/>
          <p:nvPr/>
        </p:nvSpPr>
        <p:spPr>
          <a:xfrm>
            <a:off x="2813086" y="4137812"/>
            <a:ext cx="225857" cy="225857"/>
          </a:xfrm>
          <a:prstGeom prst="mathMultiply">
            <a:avLst/>
          </a:prstGeom>
          <a:solidFill>
            <a:srgbClr val="C89B3C"/>
          </a:solidFill>
          <a:ln/>
        </p:spPr>
      </p:sp>
      <p:sp>
        <p:nvSpPr>
          <p:cNvPr id="102" name="Text 100"/>
          <p:cNvSpPr/>
          <p:nvPr/>
        </p:nvSpPr>
        <p:spPr>
          <a:xfrm>
            <a:off x="2151844" y="443362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</a:t>
            </a:r>
            <a:endParaRPr lang="en-US" sz="650" dirty="0"/>
          </a:p>
        </p:txBody>
      </p:sp>
      <p:sp>
        <p:nvSpPr>
          <p:cNvPr id="103" name="Text 101"/>
          <p:cNvSpPr/>
          <p:nvPr/>
        </p:nvSpPr>
        <p:spPr>
          <a:xfrm>
            <a:off x="2151844" y="458906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 · Multiplier · Growth Factor</a:t>
            </a:r>
            <a:endParaRPr lang="en-US" sz="550" dirty="0"/>
          </a:p>
        </p:txBody>
      </p:sp>
      <p:sp>
        <p:nvSpPr>
          <p:cNvPr id="104" name="Shape 102"/>
          <p:cNvSpPr/>
          <p:nvPr/>
        </p:nvSpPr>
        <p:spPr>
          <a:xfrm>
            <a:off x="4354569" y="4129126"/>
            <a:ext cx="312725" cy="243230"/>
          </a:xfrm>
          <a:prstGeom prst="flowChartDecision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3736761" y="443362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Underwriting</a:t>
            </a:r>
            <a:endParaRPr lang="en-US" sz="650" dirty="0"/>
          </a:p>
        </p:txBody>
      </p:sp>
      <p:sp>
        <p:nvSpPr>
          <p:cNvPr id="106" name="Text 104"/>
          <p:cNvSpPr/>
          <p:nvPr/>
        </p:nvSpPr>
        <p:spPr>
          <a:xfrm>
            <a:off x="3736761" y="458906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Underwriting Decision · Approval</a:t>
            </a:r>
            <a:endParaRPr lang="en-US" sz="550" dirty="0"/>
          </a:p>
        </p:txBody>
      </p:sp>
      <p:sp>
        <p:nvSpPr>
          <p:cNvPr id="107" name="Shape 105"/>
          <p:cNvSpPr/>
          <p:nvPr/>
        </p:nvSpPr>
        <p:spPr>
          <a:xfrm>
            <a:off x="5939485" y="4155186"/>
            <a:ext cx="312725" cy="191110"/>
          </a:xfrm>
          <a:prstGeom prst="flowChartTerminator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5321677" y="443362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Close</a:t>
            </a:r>
            <a:endParaRPr lang="en-US" sz="650" dirty="0"/>
          </a:p>
        </p:txBody>
      </p:sp>
      <p:sp>
        <p:nvSpPr>
          <p:cNvPr id="109" name="Text 107"/>
          <p:cNvSpPr/>
          <p:nvPr/>
        </p:nvSpPr>
        <p:spPr>
          <a:xfrm>
            <a:off x="5321677" y="458906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Closure · Settlement</a:t>
            </a:r>
            <a:endParaRPr lang="en-US" sz="550" dirty="0"/>
          </a:p>
        </p:txBody>
      </p:sp>
      <p:sp>
        <p:nvSpPr>
          <p:cNvPr id="110" name="Shape 108"/>
          <p:cNvSpPr/>
          <p:nvPr/>
        </p:nvSpPr>
        <p:spPr>
          <a:xfrm>
            <a:off x="7524402" y="4137812"/>
            <a:ext cx="312725" cy="225857"/>
          </a:xfrm>
          <a:prstGeom prst="flowChartProcess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906594" y="443362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Processing</a:t>
            </a:r>
            <a:endParaRPr lang="en-US" sz="650" dirty="0"/>
          </a:p>
        </p:txBody>
      </p:sp>
      <p:sp>
        <p:nvSpPr>
          <p:cNvPr id="112" name="Text 110"/>
          <p:cNvSpPr/>
          <p:nvPr/>
        </p:nvSpPr>
        <p:spPr>
          <a:xfrm>
            <a:off x="6906594" y="458906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Processing · Workflow</a:t>
            </a:r>
            <a:endParaRPr lang="en-US" sz="550" dirty="0"/>
          </a:p>
        </p:txBody>
      </p:sp>
      <p:sp>
        <p:nvSpPr>
          <p:cNvPr id="113" name="Shape 111"/>
          <p:cNvSpPr/>
          <p:nvPr/>
        </p:nvSpPr>
        <p:spPr>
          <a:xfrm>
            <a:off x="9126692" y="4129126"/>
            <a:ext cx="277978" cy="243230"/>
          </a:xfrm>
          <a:prstGeom prst="flowChartInternalStorage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491510" y="443362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</a:t>
            </a:r>
            <a:endParaRPr lang="en-US" sz="650" dirty="0"/>
          </a:p>
        </p:txBody>
      </p:sp>
      <p:sp>
        <p:nvSpPr>
          <p:cNvPr id="115" name="Text 113"/>
          <p:cNvSpPr/>
          <p:nvPr/>
        </p:nvSpPr>
        <p:spPr>
          <a:xfrm>
            <a:off x="8491510" y="458906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· Internal Records</a:t>
            </a:r>
            <a:endParaRPr lang="en-US" sz="550" dirty="0"/>
          </a:p>
        </p:txBody>
      </p:sp>
      <p:sp>
        <p:nvSpPr>
          <p:cNvPr id="116" name="Shape 114"/>
          <p:cNvSpPr/>
          <p:nvPr/>
        </p:nvSpPr>
        <p:spPr>
          <a:xfrm>
            <a:off x="10755042" y="4094378"/>
            <a:ext cx="191110" cy="312725"/>
          </a:xfrm>
          <a:prstGeom prst="upDownArrow">
            <a:avLst/>
          </a:prstGeom>
          <a:solidFill>
            <a:srgbClr val="C89B3C"/>
          </a:solidFill>
          <a:ln/>
        </p:spPr>
      </p:sp>
      <p:sp>
        <p:nvSpPr>
          <p:cNvPr id="117" name="Text 115"/>
          <p:cNvSpPr/>
          <p:nvPr/>
        </p:nvSpPr>
        <p:spPr>
          <a:xfrm>
            <a:off x="10076427" y="443362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Range</a:t>
            </a:r>
            <a:endParaRPr lang="en-US" sz="650" dirty="0"/>
          </a:p>
        </p:txBody>
      </p:sp>
      <p:sp>
        <p:nvSpPr>
          <p:cNvPr id="118" name="Text 116"/>
          <p:cNvSpPr/>
          <p:nvPr/>
        </p:nvSpPr>
        <p:spPr>
          <a:xfrm>
            <a:off x="10076427" y="458906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Rate Range · Spread</a:t>
            </a:r>
            <a:endParaRPr lang="en-US" sz="550" dirty="0"/>
          </a:p>
        </p:txBody>
      </p:sp>
      <p:sp>
        <p:nvSpPr>
          <p:cNvPr id="119" name="Shape 117"/>
          <p:cNvSpPr/>
          <p:nvPr/>
        </p:nvSpPr>
        <p:spPr>
          <a:xfrm>
            <a:off x="1184736" y="4999939"/>
            <a:ext cx="312725" cy="208483"/>
          </a:xfrm>
          <a:prstGeom prst="notchedRightArrow">
            <a:avLst/>
          </a:prstGeom>
          <a:solidFill>
            <a:srgbClr val="C89B3C"/>
          </a:solidFill>
          <a:ln/>
        </p:spPr>
      </p:sp>
      <p:sp>
        <p:nvSpPr>
          <p:cNvPr id="120" name="Text 118"/>
          <p:cNvSpPr/>
          <p:nvPr/>
        </p:nvSpPr>
        <p:spPr>
          <a:xfrm>
            <a:off x="566928" y="528706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Payments</a:t>
            </a:r>
            <a:endParaRPr lang="en-US" sz="650" dirty="0"/>
          </a:p>
        </p:txBody>
      </p:sp>
      <p:sp>
        <p:nvSpPr>
          <p:cNvPr id="121" name="Text 119"/>
          <p:cNvSpPr/>
          <p:nvPr/>
        </p:nvSpPr>
        <p:spPr>
          <a:xfrm>
            <a:off x="566928" y="544250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Payments · Fast Settlement</a:t>
            </a:r>
            <a:endParaRPr lang="en-US" sz="550" dirty="0"/>
          </a:p>
        </p:txBody>
      </p:sp>
      <p:sp>
        <p:nvSpPr>
          <p:cNvPr id="122" name="Shape 120"/>
          <p:cNvSpPr/>
          <p:nvPr/>
        </p:nvSpPr>
        <p:spPr>
          <a:xfrm>
            <a:off x="2752279" y="5017313"/>
            <a:ext cx="347472" cy="173736"/>
          </a:xfrm>
          <a:prstGeom prst="ribbon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2151844" y="528706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Tier</a:t>
            </a:r>
            <a:endParaRPr lang="en-US" sz="650" dirty="0"/>
          </a:p>
        </p:txBody>
      </p:sp>
      <p:sp>
        <p:nvSpPr>
          <p:cNvPr id="124" name="Text 122"/>
          <p:cNvSpPr/>
          <p:nvPr/>
        </p:nvSpPr>
        <p:spPr>
          <a:xfrm>
            <a:off x="2151844" y="544250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Tier · Preferred Status</a:t>
            </a:r>
            <a:endParaRPr lang="en-US" sz="550" dirty="0"/>
          </a:p>
        </p:txBody>
      </p:sp>
      <p:sp>
        <p:nvSpPr>
          <p:cNvPr id="125" name="Shape 123"/>
          <p:cNvSpPr/>
          <p:nvPr/>
        </p:nvSpPr>
        <p:spPr>
          <a:xfrm>
            <a:off x="4371942" y="4965192"/>
            <a:ext cx="277978" cy="277978"/>
          </a:xfrm>
          <a:prstGeom prst="rtTriangle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3736761" y="528706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Yield Curve</a:t>
            </a:r>
            <a:endParaRPr lang="en-US" sz="650" dirty="0"/>
          </a:p>
        </p:txBody>
      </p:sp>
      <p:sp>
        <p:nvSpPr>
          <p:cNvPr id="127" name="Text 125"/>
          <p:cNvSpPr/>
          <p:nvPr/>
        </p:nvSpPr>
        <p:spPr>
          <a:xfrm>
            <a:off x="3736761" y="544250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Yield Curve · Rate Trend</a:t>
            </a:r>
            <a:endParaRPr lang="en-US" sz="550" dirty="0"/>
          </a:p>
        </p:txBody>
      </p:sp>
      <p:sp>
        <p:nvSpPr>
          <p:cNvPr id="128" name="Shape 126"/>
          <p:cNvSpPr/>
          <p:nvPr/>
        </p:nvSpPr>
        <p:spPr>
          <a:xfrm>
            <a:off x="5939485" y="4982566"/>
            <a:ext cx="312725" cy="243230"/>
          </a:xfrm>
          <a:prstGeom prst="flowChartMultidocument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5321677" y="528706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Filings</a:t>
            </a:r>
            <a:endParaRPr lang="en-US" sz="650" dirty="0"/>
          </a:p>
        </p:txBody>
      </p:sp>
      <p:sp>
        <p:nvSpPr>
          <p:cNvPr id="130" name="Text 128"/>
          <p:cNvSpPr/>
          <p:nvPr/>
        </p:nvSpPr>
        <p:spPr>
          <a:xfrm>
            <a:off x="5321677" y="544250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Filings · Multi-Document</a:t>
            </a:r>
            <a:endParaRPr lang="en-US" sz="550" dirty="0"/>
          </a:p>
        </p:txBody>
      </p:sp>
      <p:sp>
        <p:nvSpPr>
          <p:cNvPr id="131" name="Shape 129"/>
          <p:cNvSpPr/>
          <p:nvPr/>
        </p:nvSpPr>
        <p:spPr>
          <a:xfrm>
            <a:off x="7550462" y="4973879"/>
            <a:ext cx="260604" cy="260604"/>
          </a:xfrm>
          <a:prstGeom prst="flowChartOfflineStorage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6906594" y="528706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Storage Assets</a:t>
            </a:r>
            <a:endParaRPr lang="en-US" sz="650" dirty="0"/>
          </a:p>
        </p:txBody>
      </p:sp>
      <p:sp>
        <p:nvSpPr>
          <p:cNvPr id="133" name="Text 131"/>
          <p:cNvSpPr/>
          <p:nvPr/>
        </p:nvSpPr>
        <p:spPr>
          <a:xfrm>
            <a:off x="6906594" y="544250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Storage · Reserve Assets</a:t>
            </a:r>
            <a:endParaRPr lang="en-US" sz="550" dirty="0"/>
          </a:p>
        </p:txBody>
      </p:sp>
      <p:sp>
        <p:nvSpPr>
          <p:cNvPr id="134" name="Shape 132"/>
          <p:cNvSpPr/>
          <p:nvPr/>
        </p:nvSpPr>
        <p:spPr>
          <a:xfrm>
            <a:off x="9135379" y="4982566"/>
            <a:ext cx="260604" cy="243230"/>
          </a:xfrm>
          <a:prstGeom prst="flowChartOnlineStorage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8491510" y="528706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Banking</a:t>
            </a:r>
            <a:endParaRPr lang="en-US" sz="650" dirty="0"/>
          </a:p>
        </p:txBody>
      </p:sp>
      <p:sp>
        <p:nvSpPr>
          <p:cNvPr id="136" name="Text 134"/>
          <p:cNvSpPr/>
          <p:nvPr/>
        </p:nvSpPr>
        <p:spPr>
          <a:xfrm>
            <a:off x="8491510" y="544250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Banking · Online Access</a:t>
            </a:r>
            <a:endParaRPr lang="en-US" sz="550" dirty="0"/>
          </a:p>
        </p:txBody>
      </p:sp>
      <p:sp>
        <p:nvSpPr>
          <p:cNvPr id="137" name="Shape 135"/>
          <p:cNvSpPr/>
          <p:nvPr/>
        </p:nvSpPr>
        <p:spPr>
          <a:xfrm>
            <a:off x="10702921" y="4999939"/>
            <a:ext cx="295351" cy="208483"/>
          </a:xfrm>
          <a:prstGeom prst="rightArrow">
            <a:avLst/>
          </a:prstGeom>
          <a:solidFill>
            <a:srgbClr val="C89B3C"/>
          </a:solidFill>
          <a:ln/>
        </p:spPr>
      </p:sp>
      <p:sp>
        <p:nvSpPr>
          <p:cNvPr id="138" name="Text 136"/>
          <p:cNvSpPr/>
          <p:nvPr/>
        </p:nvSpPr>
        <p:spPr>
          <a:xfrm>
            <a:off x="10076427" y="528706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Trajectory</a:t>
            </a:r>
            <a:endParaRPr lang="en-US" sz="650" dirty="0"/>
          </a:p>
        </p:txBody>
      </p:sp>
      <p:sp>
        <p:nvSpPr>
          <p:cNvPr id="139" name="Text 137"/>
          <p:cNvSpPr/>
          <p:nvPr/>
        </p:nvSpPr>
        <p:spPr>
          <a:xfrm>
            <a:off x="10076427" y="544250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Trajectory · Forecast</a:t>
            </a:r>
            <a:endParaRPr lang="en-US" sz="550" dirty="0"/>
          </a:p>
        </p:txBody>
      </p:sp>
      <p:sp>
        <p:nvSpPr>
          <p:cNvPr id="140" name="Shape 138"/>
          <p:cNvSpPr/>
          <p:nvPr/>
        </p:nvSpPr>
        <p:spPr>
          <a:xfrm>
            <a:off x="1202109" y="5818632"/>
            <a:ext cx="277978" cy="277978"/>
          </a:xfrm>
          <a:prstGeom prst="star12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566928" y="61405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Client</a:t>
            </a:r>
            <a:endParaRPr lang="en-US" sz="650" dirty="0"/>
          </a:p>
        </p:txBody>
      </p:sp>
      <p:sp>
        <p:nvSpPr>
          <p:cNvPr id="142" name="Text 140"/>
          <p:cNvSpPr/>
          <p:nvPr/>
        </p:nvSpPr>
        <p:spPr>
          <a:xfrm>
            <a:off x="566928" y="62959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Client · VIP Status</a:t>
            </a:r>
            <a:endParaRPr lang="en-US" sz="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 Sciences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unique icons — every one is a distinct native PowerPoint shape, none repeated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193423" y="1551432"/>
            <a:ext cx="295351" cy="277978"/>
          </a:xfrm>
          <a:prstGeom prst="heart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8733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</a:t>
            </a:r>
            <a:endParaRPr lang="en-US" sz="650" dirty="0"/>
          </a:p>
        </p:txBody>
      </p:sp>
      <p:sp>
        <p:nvSpPr>
          <p:cNvPr id="6" name="Text 4"/>
          <p:cNvSpPr/>
          <p:nvPr/>
        </p:nvSpPr>
        <p:spPr>
          <a:xfrm>
            <a:off x="566928" y="20287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· Wellness · Patient Care</a:t>
            </a:r>
            <a:endParaRPr lang="en-US" sz="550" dirty="0"/>
          </a:p>
        </p:txBody>
      </p:sp>
      <p:sp>
        <p:nvSpPr>
          <p:cNvPr id="7" name="Shape 5"/>
          <p:cNvSpPr/>
          <p:nvPr/>
        </p:nvSpPr>
        <p:spPr>
          <a:xfrm>
            <a:off x="2787026" y="1551432"/>
            <a:ext cx="277978" cy="277978"/>
          </a:xfrm>
          <a:prstGeom prst="plus">
            <a:avLst/>
          </a:prstGeom>
          <a:solidFill>
            <a:srgbClr val="C89B3C"/>
          </a:solidFill>
          <a:ln/>
        </p:spPr>
      </p:sp>
      <p:sp>
        <p:nvSpPr>
          <p:cNvPr id="8" name="Text 6"/>
          <p:cNvSpPr/>
          <p:nvPr/>
        </p:nvSpPr>
        <p:spPr>
          <a:xfrm>
            <a:off x="2151844" y="18733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2151844" y="20287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· Clinical · Hospital</a:t>
            </a:r>
            <a:endParaRPr lang="en-US" sz="550" dirty="0"/>
          </a:p>
        </p:txBody>
      </p:sp>
      <p:sp>
        <p:nvSpPr>
          <p:cNvPr id="10" name="Shape 8"/>
          <p:cNvSpPr/>
          <p:nvPr/>
        </p:nvSpPr>
        <p:spPr>
          <a:xfrm flipV="1">
            <a:off x="4371942" y="1542745"/>
            <a:ext cx="138989" cy="243230"/>
          </a:xfrm>
          <a:prstGeom prst="line">
            <a:avLst/>
          </a:prstGeom>
          <a:noFill/>
          <a:ln w="19050">
            <a:solidFill>
              <a:srgbClr val="C89B3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71942" y="1785976"/>
            <a:ext cx="277978" cy="914"/>
          </a:xfrm>
          <a:prstGeom prst="line">
            <a:avLst/>
          </a:prstGeom>
          <a:noFill/>
          <a:ln w="19050">
            <a:solidFill>
              <a:srgbClr val="C89B3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10931" y="1542745"/>
            <a:ext cx="138989" cy="243230"/>
          </a:xfrm>
          <a:prstGeom prst="line">
            <a:avLst/>
          </a:prstGeom>
          <a:noFill/>
          <a:ln w="19050">
            <a:solidFill>
              <a:srgbClr val="C89B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83133" y="1514947"/>
            <a:ext cx="55596" cy="5559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4" name="Shape 12"/>
          <p:cNvSpPr/>
          <p:nvPr/>
        </p:nvSpPr>
        <p:spPr>
          <a:xfrm>
            <a:off x="4344145" y="1758178"/>
            <a:ext cx="55596" cy="5559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5" name="Shape 13"/>
          <p:cNvSpPr/>
          <p:nvPr/>
        </p:nvSpPr>
        <p:spPr>
          <a:xfrm>
            <a:off x="4622122" y="1758178"/>
            <a:ext cx="55596" cy="5559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6" name="Text 14"/>
          <p:cNvSpPr/>
          <p:nvPr/>
        </p:nvSpPr>
        <p:spPr>
          <a:xfrm>
            <a:off x="3736761" y="18733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3736761" y="20287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 Sciences · Research · Biotech · Molecule</a:t>
            </a:r>
            <a:endParaRPr lang="en-US" sz="550" dirty="0"/>
          </a:p>
        </p:txBody>
      </p:sp>
      <p:sp>
        <p:nvSpPr>
          <p:cNvPr id="18" name="Shape 16"/>
          <p:cNvSpPr/>
          <p:nvPr/>
        </p:nvSpPr>
        <p:spPr>
          <a:xfrm>
            <a:off x="6008980" y="1525372"/>
            <a:ext cx="173736" cy="330098"/>
          </a:xfrm>
          <a:prstGeom prst="roundRect">
            <a:avLst>
              <a:gd name="adj" fmla="val 78947"/>
            </a:avLst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08980" y="1690421"/>
            <a:ext cx="173736" cy="914"/>
          </a:xfrm>
          <a:prstGeom prst="line">
            <a:avLst/>
          </a:prstGeom>
          <a:noFill/>
          <a:ln w="22225">
            <a:solidFill>
              <a:srgbClr val="C89B3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21677" y="18733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5321677" y="20287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Pharmaceutical · Therapeutics · Drug Development</a:t>
            </a:r>
            <a:endParaRPr lang="en-US" sz="550" dirty="0"/>
          </a:p>
        </p:txBody>
      </p:sp>
      <p:sp>
        <p:nvSpPr>
          <p:cNvPr id="22" name="Shape 20"/>
          <p:cNvSpPr/>
          <p:nvPr/>
        </p:nvSpPr>
        <p:spPr>
          <a:xfrm>
            <a:off x="7604320" y="1518422"/>
            <a:ext cx="31272" cy="312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3" name="Shape 21"/>
          <p:cNvSpPr/>
          <p:nvPr/>
        </p:nvSpPr>
        <p:spPr>
          <a:xfrm>
            <a:off x="7619956" y="1534058"/>
            <a:ext cx="121615" cy="78181"/>
          </a:xfrm>
          <a:prstGeom prst="line">
            <a:avLst/>
          </a:prstGeom>
          <a:noFill/>
          <a:ln w="15875">
            <a:solidFill>
              <a:srgbClr val="C89B3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25935" y="1596603"/>
            <a:ext cx="31272" cy="312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5" name="Shape 23"/>
          <p:cNvSpPr/>
          <p:nvPr/>
        </p:nvSpPr>
        <p:spPr>
          <a:xfrm flipV="1">
            <a:off x="7619956" y="1612240"/>
            <a:ext cx="121615" cy="78181"/>
          </a:xfrm>
          <a:prstGeom prst="line">
            <a:avLst/>
          </a:prstGeom>
          <a:noFill/>
          <a:ln w="15875">
            <a:solidFill>
              <a:srgbClr val="C89B3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04320" y="1674785"/>
            <a:ext cx="31272" cy="312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7" name="Shape 25"/>
          <p:cNvSpPr/>
          <p:nvPr/>
        </p:nvSpPr>
        <p:spPr>
          <a:xfrm>
            <a:off x="7619956" y="1690421"/>
            <a:ext cx="121615" cy="78181"/>
          </a:xfrm>
          <a:prstGeom prst="line">
            <a:avLst/>
          </a:prstGeom>
          <a:noFill/>
          <a:ln w="15875">
            <a:solidFill>
              <a:srgbClr val="C89B3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725935" y="1752966"/>
            <a:ext cx="31272" cy="312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9" name="Shape 27"/>
          <p:cNvSpPr/>
          <p:nvPr/>
        </p:nvSpPr>
        <p:spPr>
          <a:xfrm flipV="1">
            <a:off x="7619956" y="1768602"/>
            <a:ext cx="121615" cy="78181"/>
          </a:xfrm>
          <a:prstGeom prst="line">
            <a:avLst/>
          </a:prstGeom>
          <a:noFill/>
          <a:ln w="15875">
            <a:solidFill>
              <a:srgbClr val="C89B3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04320" y="1831147"/>
            <a:ext cx="31272" cy="312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31" name="Text 29"/>
          <p:cNvSpPr/>
          <p:nvPr/>
        </p:nvSpPr>
        <p:spPr>
          <a:xfrm>
            <a:off x="6906594" y="18733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Genomics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6906594" y="20287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Genomics · DNA · Biotech · Precision Medicine</a:t>
            </a:r>
            <a:endParaRPr lang="en-US" sz="550" dirty="0"/>
          </a:p>
        </p:txBody>
      </p:sp>
      <p:sp>
        <p:nvSpPr>
          <p:cNvPr id="33" name="Shape 31"/>
          <p:cNvSpPr/>
          <p:nvPr/>
        </p:nvSpPr>
        <p:spPr>
          <a:xfrm flipV="1">
            <a:off x="9170126" y="1673047"/>
            <a:ext cx="191110" cy="173736"/>
          </a:xfrm>
          <a:prstGeom prst="triangle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234408" y="1525372"/>
            <a:ext cx="62545" cy="60808"/>
          </a:xfrm>
          <a:prstGeom prst="rect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91510" y="18733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8491510" y="20287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R&amp;D · Laboratory · Formulation · Discovery</a:t>
            </a:r>
            <a:endParaRPr lang="en-US" sz="550" dirty="0"/>
          </a:p>
        </p:txBody>
      </p:sp>
      <p:sp>
        <p:nvSpPr>
          <p:cNvPr id="37" name="Shape 35"/>
          <p:cNvSpPr/>
          <p:nvPr/>
        </p:nvSpPr>
        <p:spPr>
          <a:xfrm>
            <a:off x="10728982" y="1534058"/>
            <a:ext cx="243230" cy="312725"/>
          </a:xfrm>
          <a:prstGeom prst="roundRect">
            <a:avLst>
              <a:gd name="adj" fmla="val 22556"/>
            </a:avLst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781103" y="1620926"/>
            <a:ext cx="31272" cy="24323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10812375" y="1586179"/>
            <a:ext cx="46909" cy="59070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781103" y="1699108"/>
            <a:ext cx="31272" cy="24323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10812375" y="1664360"/>
            <a:ext cx="46909" cy="59070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781103" y="1777289"/>
            <a:ext cx="31272" cy="24323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10812375" y="1742542"/>
            <a:ext cx="46909" cy="59070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076427" y="18733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Protocol</a:t>
            </a:r>
            <a:endParaRPr lang="en-US" sz="650" dirty="0"/>
          </a:p>
        </p:txBody>
      </p:sp>
      <p:sp>
        <p:nvSpPr>
          <p:cNvPr id="45" name="Text 43"/>
          <p:cNvSpPr/>
          <p:nvPr/>
        </p:nvSpPr>
        <p:spPr>
          <a:xfrm>
            <a:off x="10076427" y="20287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Trial · Protocol · Checklist</a:t>
            </a:r>
            <a:endParaRPr lang="en-US" sz="550" dirty="0"/>
          </a:p>
        </p:txBody>
      </p:sp>
      <p:sp>
        <p:nvSpPr>
          <p:cNvPr id="46" name="Shape 44"/>
          <p:cNvSpPr/>
          <p:nvPr/>
        </p:nvSpPr>
        <p:spPr>
          <a:xfrm>
            <a:off x="1236857" y="2387498"/>
            <a:ext cx="208483" cy="312725"/>
          </a:xfrm>
          <a:prstGeom prst="roundRect">
            <a:avLst>
              <a:gd name="adj" fmla="val 26316"/>
            </a:avLst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280291" y="2483053"/>
            <a:ext cx="121615" cy="914"/>
          </a:xfrm>
          <a:prstGeom prst="line">
            <a:avLst/>
          </a:prstGeom>
          <a:noFill/>
          <a:ln w="13970">
            <a:solidFill>
              <a:srgbClr val="C89B3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280291" y="2543861"/>
            <a:ext cx="121615" cy="914"/>
          </a:xfrm>
          <a:prstGeom prst="line">
            <a:avLst/>
          </a:prstGeom>
          <a:noFill/>
          <a:ln w="13970">
            <a:solidFill>
              <a:srgbClr val="C89B3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280291" y="2604668"/>
            <a:ext cx="121615" cy="914"/>
          </a:xfrm>
          <a:prstGeom prst="line">
            <a:avLst/>
          </a:prstGeom>
          <a:noFill/>
          <a:ln w="13970">
            <a:solidFill>
              <a:srgbClr val="C89B3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66928" y="272674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Filing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566928" y="288218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· Submission · Documentation</a:t>
            </a:r>
            <a:endParaRPr lang="en-US" sz="550" dirty="0"/>
          </a:p>
        </p:txBody>
      </p:sp>
      <p:sp>
        <p:nvSpPr>
          <p:cNvPr id="52" name="Shape 50"/>
          <p:cNvSpPr/>
          <p:nvPr/>
        </p:nvSpPr>
        <p:spPr>
          <a:xfrm>
            <a:off x="2813086" y="2526487"/>
            <a:ext cx="225857" cy="165049"/>
          </a:xfrm>
          <a:prstGeom prst="roundRect">
            <a:avLst>
              <a:gd name="adj" fmla="val 55402"/>
            </a:avLst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853046" y="2378812"/>
            <a:ext cx="145938" cy="147676"/>
          </a:xfrm>
          <a:prstGeom prst="arc">
            <a:avLst>
              <a:gd name="adj1" fmla="val 10800000"/>
              <a:gd name="adj2" fmla="val 21600000"/>
            </a:avLst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908641" y="2587295"/>
            <a:ext cx="34747" cy="34747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55" name="Text 53"/>
          <p:cNvSpPr/>
          <p:nvPr/>
        </p:nvSpPr>
        <p:spPr>
          <a:xfrm>
            <a:off x="2151844" y="272674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Privacy</a:t>
            </a:r>
            <a:endParaRPr lang="en-US" sz="650" dirty="0"/>
          </a:p>
        </p:txBody>
      </p:sp>
      <p:sp>
        <p:nvSpPr>
          <p:cNvPr id="56" name="Text 54"/>
          <p:cNvSpPr/>
          <p:nvPr/>
        </p:nvSpPr>
        <p:spPr>
          <a:xfrm>
            <a:off x="2151844" y="288218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Data · Privacy · HIPAA</a:t>
            </a:r>
            <a:endParaRPr lang="en-US" sz="550" dirty="0"/>
          </a:p>
        </p:txBody>
      </p:sp>
      <p:sp>
        <p:nvSpPr>
          <p:cNvPr id="57" name="Shape 55"/>
          <p:cNvSpPr/>
          <p:nvPr/>
        </p:nvSpPr>
        <p:spPr>
          <a:xfrm>
            <a:off x="4371942" y="2422246"/>
            <a:ext cx="277978" cy="260604"/>
          </a:xfrm>
          <a:prstGeom prst="roundRect">
            <a:avLst>
              <a:gd name="adj" fmla="val 21053"/>
            </a:avLst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371942" y="2500427"/>
            <a:ext cx="277978" cy="914"/>
          </a:xfrm>
          <a:prstGeom prst="line">
            <a:avLst/>
          </a:prstGeom>
          <a:noFill/>
          <a:ln w="17780">
            <a:solidFill>
              <a:srgbClr val="C89B3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441437" y="2387498"/>
            <a:ext cx="17374" cy="52121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60" name="Shape 58"/>
          <p:cNvSpPr/>
          <p:nvPr/>
        </p:nvSpPr>
        <p:spPr>
          <a:xfrm>
            <a:off x="4563052" y="2387498"/>
            <a:ext cx="17374" cy="52121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61" name="Text 59"/>
          <p:cNvSpPr/>
          <p:nvPr/>
        </p:nvSpPr>
        <p:spPr>
          <a:xfrm>
            <a:off x="3736761" y="272674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Timeline</a:t>
            </a:r>
            <a:endParaRPr lang="en-US" sz="650" dirty="0"/>
          </a:p>
        </p:txBody>
      </p:sp>
      <p:sp>
        <p:nvSpPr>
          <p:cNvPr id="62" name="Text 60"/>
          <p:cNvSpPr/>
          <p:nvPr/>
        </p:nvSpPr>
        <p:spPr>
          <a:xfrm>
            <a:off x="3736761" y="288218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Timeline · Milestones</a:t>
            </a:r>
            <a:endParaRPr lang="en-US" sz="550" dirty="0"/>
          </a:p>
        </p:txBody>
      </p:sp>
      <p:sp>
        <p:nvSpPr>
          <p:cNvPr id="63" name="Shape 61"/>
          <p:cNvSpPr/>
          <p:nvPr/>
        </p:nvSpPr>
        <p:spPr>
          <a:xfrm>
            <a:off x="5930798" y="2413559"/>
            <a:ext cx="330098" cy="260604"/>
          </a:xfrm>
          <a:prstGeom prst="roundRect">
            <a:avLst>
              <a:gd name="adj" fmla="val 28070"/>
            </a:avLst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991606" y="2483053"/>
            <a:ext cx="138989" cy="138989"/>
          </a:xfrm>
          <a:prstGeom prst="pie">
            <a:avLst>
              <a:gd name="adj1" fmla="val 16200000"/>
              <a:gd name="adj2" fmla="val 5400000"/>
            </a:avLst>
          </a:prstGeom>
          <a:ln w="15875">
            <a:solidFill>
              <a:srgbClr val="C89B3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321677" y="272674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Dashboard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5321677" y="288218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Monitoring · Dashboard · KPIs</a:t>
            </a:r>
            <a:endParaRPr lang="en-US" sz="550" dirty="0"/>
          </a:p>
        </p:txBody>
      </p:sp>
      <p:sp>
        <p:nvSpPr>
          <p:cNvPr id="67" name="Shape 65"/>
          <p:cNvSpPr/>
          <p:nvPr/>
        </p:nvSpPr>
        <p:spPr>
          <a:xfrm>
            <a:off x="7576522" y="2434407"/>
            <a:ext cx="97292" cy="97292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555674" y="2535174"/>
            <a:ext cx="138989" cy="130302"/>
          </a:xfrm>
          <a:prstGeom prst="arc">
            <a:avLst>
              <a:gd name="adj1" fmla="val 10800000"/>
              <a:gd name="adj2" fmla="val 21600000"/>
            </a:avLst>
          </a:prstGeom>
          <a:ln w="17780">
            <a:solidFill>
              <a:srgbClr val="C89B3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687713" y="2434407"/>
            <a:ext cx="97292" cy="97292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666865" y="2535174"/>
            <a:ext cx="138989" cy="130302"/>
          </a:xfrm>
          <a:prstGeom prst="arc">
            <a:avLst>
              <a:gd name="adj1" fmla="val 10800000"/>
              <a:gd name="adj2" fmla="val 21600000"/>
            </a:avLst>
          </a:prstGeom>
          <a:ln w="17780">
            <a:solidFill>
              <a:srgbClr val="C89B3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906594" y="272674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</a:t>
            </a:r>
            <a:endParaRPr lang="en-US" sz="650" dirty="0"/>
          </a:p>
        </p:txBody>
      </p:sp>
      <p:sp>
        <p:nvSpPr>
          <p:cNvPr id="72" name="Text 70"/>
          <p:cNvSpPr/>
          <p:nvPr/>
        </p:nvSpPr>
        <p:spPr>
          <a:xfrm>
            <a:off x="6906594" y="288218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· Care Teams · Cohort</a:t>
            </a:r>
            <a:endParaRPr lang="en-US" sz="550" dirty="0"/>
          </a:p>
        </p:txBody>
      </p:sp>
      <p:sp>
        <p:nvSpPr>
          <p:cNvPr id="73" name="Shape 71"/>
          <p:cNvSpPr/>
          <p:nvPr/>
        </p:nvSpPr>
        <p:spPr>
          <a:xfrm>
            <a:off x="9118005" y="2396185"/>
            <a:ext cx="295351" cy="295351"/>
          </a:xfrm>
          <a:prstGeom prst="irregularSeal1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491510" y="272674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</a:t>
            </a:r>
            <a:endParaRPr lang="en-US" sz="650" dirty="0"/>
          </a:p>
        </p:txBody>
      </p:sp>
      <p:sp>
        <p:nvSpPr>
          <p:cNvPr id="75" name="Text 73"/>
          <p:cNvSpPr/>
          <p:nvPr/>
        </p:nvSpPr>
        <p:spPr>
          <a:xfrm>
            <a:off x="8491510" y="288218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Approval · Certification · Compliance</a:t>
            </a:r>
            <a:endParaRPr lang="en-US" sz="550" dirty="0"/>
          </a:p>
        </p:txBody>
      </p:sp>
      <p:sp>
        <p:nvSpPr>
          <p:cNvPr id="76" name="Shape 74"/>
          <p:cNvSpPr/>
          <p:nvPr/>
        </p:nvSpPr>
        <p:spPr>
          <a:xfrm>
            <a:off x="10728982" y="2387498"/>
            <a:ext cx="243230" cy="312725"/>
          </a:xfrm>
          <a:prstGeom prst="can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0076427" y="272674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Biobank</a:t>
            </a:r>
            <a:endParaRPr lang="en-US" sz="650" dirty="0"/>
          </a:p>
        </p:txBody>
      </p:sp>
      <p:sp>
        <p:nvSpPr>
          <p:cNvPr id="78" name="Text 76"/>
          <p:cNvSpPr/>
          <p:nvPr/>
        </p:nvSpPr>
        <p:spPr>
          <a:xfrm>
            <a:off x="10076427" y="288218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Biobank · Sample Storage · Cold Chain</a:t>
            </a:r>
            <a:endParaRPr lang="en-US" sz="550" dirty="0"/>
          </a:p>
        </p:txBody>
      </p:sp>
      <p:sp>
        <p:nvSpPr>
          <p:cNvPr id="79" name="Shape 77"/>
          <p:cNvSpPr/>
          <p:nvPr/>
        </p:nvSpPr>
        <p:spPr>
          <a:xfrm>
            <a:off x="1245543" y="3266999"/>
            <a:ext cx="191110" cy="260604"/>
          </a:xfrm>
          <a:prstGeom prst="teardrop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66928" y="358018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</a:t>
            </a:r>
            <a:endParaRPr lang="en-US" sz="650" dirty="0"/>
          </a:p>
        </p:txBody>
      </p:sp>
      <p:sp>
        <p:nvSpPr>
          <p:cNvPr id="81" name="Text 79"/>
          <p:cNvSpPr/>
          <p:nvPr/>
        </p:nvSpPr>
        <p:spPr>
          <a:xfrm>
            <a:off x="566928" y="373562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 · Liquid · Dosage</a:t>
            </a:r>
            <a:endParaRPr lang="en-US" sz="550" dirty="0"/>
          </a:p>
        </p:txBody>
      </p:sp>
      <p:sp>
        <p:nvSpPr>
          <p:cNvPr id="82" name="Shape 80"/>
          <p:cNvSpPr/>
          <p:nvPr/>
        </p:nvSpPr>
        <p:spPr>
          <a:xfrm>
            <a:off x="2787026" y="3266999"/>
            <a:ext cx="277978" cy="260604"/>
          </a:xfrm>
          <a:prstGeom prst="heart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151844" y="358018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Wellbeing</a:t>
            </a:r>
            <a:endParaRPr lang="en-US" sz="650" dirty="0"/>
          </a:p>
        </p:txBody>
      </p:sp>
      <p:sp>
        <p:nvSpPr>
          <p:cNvPr id="84" name="Text 82"/>
          <p:cNvSpPr/>
          <p:nvPr/>
        </p:nvSpPr>
        <p:spPr>
          <a:xfrm>
            <a:off x="2151844" y="373562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Wellbeing · Outcomes</a:t>
            </a:r>
            <a:endParaRPr lang="en-US" sz="550" dirty="0"/>
          </a:p>
        </p:txBody>
      </p:sp>
      <p:sp>
        <p:nvSpPr>
          <p:cNvPr id="85" name="Shape 83"/>
          <p:cNvSpPr/>
          <p:nvPr/>
        </p:nvSpPr>
        <p:spPr>
          <a:xfrm rot="10800000">
            <a:off x="4415376" y="3258312"/>
            <a:ext cx="191110" cy="277978"/>
          </a:xfrm>
          <a:prstGeom prst="teardrop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3736761" y="358018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</a:t>
            </a:r>
            <a:endParaRPr lang="en-US" sz="650" dirty="0"/>
          </a:p>
        </p:txBody>
      </p:sp>
      <p:sp>
        <p:nvSpPr>
          <p:cNvPr id="87" name="Text 85"/>
          <p:cNvSpPr/>
          <p:nvPr/>
        </p:nvSpPr>
        <p:spPr>
          <a:xfrm>
            <a:off x="3736761" y="373562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Site · Facility Location</a:t>
            </a:r>
            <a:endParaRPr lang="en-US" sz="550" dirty="0"/>
          </a:p>
        </p:txBody>
      </p:sp>
      <p:sp>
        <p:nvSpPr>
          <p:cNvPr id="88" name="Shape 86"/>
          <p:cNvSpPr/>
          <p:nvPr/>
        </p:nvSpPr>
        <p:spPr>
          <a:xfrm>
            <a:off x="5948172" y="3249625"/>
            <a:ext cx="295351" cy="295351"/>
          </a:xfrm>
          <a:prstGeom prst="star5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321677" y="358018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650" dirty="0"/>
          </a:p>
        </p:txBody>
      </p:sp>
      <p:sp>
        <p:nvSpPr>
          <p:cNvPr id="90" name="Text 88"/>
          <p:cNvSpPr/>
          <p:nvPr/>
        </p:nvSpPr>
        <p:spPr>
          <a:xfrm>
            <a:off x="5321677" y="373562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· Grade · Standard</a:t>
            </a:r>
            <a:endParaRPr lang="en-US" sz="550" dirty="0"/>
          </a:p>
        </p:txBody>
      </p:sp>
      <p:sp>
        <p:nvSpPr>
          <p:cNvPr id="91" name="Shape 89"/>
          <p:cNvSpPr/>
          <p:nvPr/>
        </p:nvSpPr>
        <p:spPr>
          <a:xfrm>
            <a:off x="7576522" y="3240938"/>
            <a:ext cx="208483" cy="312725"/>
          </a:xfrm>
          <a:prstGeom prst="verticalScroll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906594" y="358018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History</a:t>
            </a:r>
            <a:endParaRPr lang="en-US" sz="650" dirty="0"/>
          </a:p>
        </p:txBody>
      </p:sp>
      <p:sp>
        <p:nvSpPr>
          <p:cNvPr id="93" name="Text 91"/>
          <p:cNvSpPr/>
          <p:nvPr/>
        </p:nvSpPr>
        <p:spPr>
          <a:xfrm>
            <a:off x="6906594" y="373562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History · Patient Record</a:t>
            </a:r>
            <a:endParaRPr lang="en-US" sz="550" dirty="0"/>
          </a:p>
        </p:txBody>
      </p:sp>
      <p:sp>
        <p:nvSpPr>
          <p:cNvPr id="94" name="Shape 92"/>
          <p:cNvSpPr/>
          <p:nvPr/>
        </p:nvSpPr>
        <p:spPr>
          <a:xfrm>
            <a:off x="9196186" y="3232252"/>
            <a:ext cx="138989" cy="330098"/>
          </a:xfrm>
          <a:prstGeom prst="roundRect">
            <a:avLst>
              <a:gd name="adj" fmla="val 131579"/>
            </a:avLst>
          </a:prstGeom>
          <a:ln w="21590">
            <a:solidFill>
              <a:srgbClr val="C89B3C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9250044" y="3494593"/>
            <a:ext cx="31272" cy="312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96" name="Text 94"/>
          <p:cNvSpPr/>
          <p:nvPr/>
        </p:nvSpPr>
        <p:spPr>
          <a:xfrm>
            <a:off x="8491510" y="358018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Support</a:t>
            </a:r>
            <a:endParaRPr lang="en-US" sz="650" dirty="0"/>
          </a:p>
        </p:txBody>
      </p:sp>
      <p:sp>
        <p:nvSpPr>
          <p:cNvPr id="97" name="Text 95"/>
          <p:cNvSpPr/>
          <p:nvPr/>
        </p:nvSpPr>
        <p:spPr>
          <a:xfrm>
            <a:off x="8491510" y="373562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Support Line · Contact</a:t>
            </a:r>
            <a:endParaRPr lang="en-US" sz="550" dirty="0"/>
          </a:p>
        </p:txBody>
      </p:sp>
      <p:sp>
        <p:nvSpPr>
          <p:cNvPr id="98" name="Shape 96"/>
          <p:cNvSpPr/>
          <p:nvPr/>
        </p:nvSpPr>
        <p:spPr>
          <a:xfrm>
            <a:off x="10694235" y="3275686"/>
            <a:ext cx="312725" cy="243230"/>
          </a:xfrm>
          <a:prstGeom prst="flowChartDecision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10076427" y="358018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Go/No-Go</a:t>
            </a:r>
            <a:endParaRPr lang="en-US" sz="650" dirty="0"/>
          </a:p>
        </p:txBody>
      </p:sp>
      <p:sp>
        <p:nvSpPr>
          <p:cNvPr id="100" name="Text 98"/>
          <p:cNvSpPr/>
          <p:nvPr/>
        </p:nvSpPr>
        <p:spPr>
          <a:xfrm>
            <a:off x="10076427" y="373562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Go/No-Go Decision · Trial Gate</a:t>
            </a:r>
            <a:endParaRPr lang="en-US" sz="550" dirty="0"/>
          </a:p>
        </p:txBody>
      </p:sp>
      <p:sp>
        <p:nvSpPr>
          <p:cNvPr id="101" name="Shape 99"/>
          <p:cNvSpPr/>
          <p:nvPr/>
        </p:nvSpPr>
        <p:spPr>
          <a:xfrm>
            <a:off x="1184736" y="4137812"/>
            <a:ext cx="312725" cy="225857"/>
          </a:xfrm>
          <a:prstGeom prst="flowChartProcess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566928" y="443362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Step</a:t>
            </a:r>
            <a:endParaRPr lang="en-US" sz="650" dirty="0"/>
          </a:p>
        </p:txBody>
      </p:sp>
      <p:sp>
        <p:nvSpPr>
          <p:cNvPr id="103" name="Text 101"/>
          <p:cNvSpPr/>
          <p:nvPr/>
        </p:nvSpPr>
        <p:spPr>
          <a:xfrm>
            <a:off x="566928" y="458906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Step · Trial Process</a:t>
            </a:r>
            <a:endParaRPr lang="en-US" sz="550" dirty="0"/>
          </a:p>
        </p:txBody>
      </p:sp>
      <p:sp>
        <p:nvSpPr>
          <p:cNvPr id="104" name="Shape 102"/>
          <p:cNvSpPr/>
          <p:nvPr/>
        </p:nvSpPr>
        <p:spPr>
          <a:xfrm>
            <a:off x="2769652" y="4155186"/>
            <a:ext cx="312725" cy="191110"/>
          </a:xfrm>
          <a:prstGeom prst="flowChartTerminator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151844" y="443362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Endpoint</a:t>
            </a:r>
            <a:endParaRPr lang="en-US" sz="650" dirty="0"/>
          </a:p>
        </p:txBody>
      </p:sp>
      <p:sp>
        <p:nvSpPr>
          <p:cNvPr id="106" name="Text 104"/>
          <p:cNvSpPr/>
          <p:nvPr/>
        </p:nvSpPr>
        <p:spPr>
          <a:xfrm>
            <a:off x="2151844" y="458906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Endpoint · Study Completion</a:t>
            </a:r>
            <a:endParaRPr lang="en-US" sz="550" dirty="0"/>
          </a:p>
        </p:txBody>
      </p:sp>
      <p:sp>
        <p:nvSpPr>
          <p:cNvPr id="107" name="Shape 105"/>
          <p:cNvSpPr/>
          <p:nvPr/>
        </p:nvSpPr>
        <p:spPr>
          <a:xfrm>
            <a:off x="4354569" y="4129126"/>
            <a:ext cx="312725" cy="243230"/>
          </a:xfrm>
          <a:prstGeom prst="flowChartMultidocument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3736761" y="443362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Dossier</a:t>
            </a:r>
            <a:endParaRPr lang="en-US" sz="650" dirty="0"/>
          </a:p>
        </p:txBody>
      </p:sp>
      <p:sp>
        <p:nvSpPr>
          <p:cNvPr id="109" name="Text 107"/>
          <p:cNvSpPr/>
          <p:nvPr/>
        </p:nvSpPr>
        <p:spPr>
          <a:xfrm>
            <a:off x="3736761" y="458906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Dossier · Submission Package</a:t>
            </a:r>
            <a:endParaRPr lang="en-US" sz="550" dirty="0"/>
          </a:p>
        </p:txBody>
      </p:sp>
      <p:sp>
        <p:nvSpPr>
          <p:cNvPr id="110" name="Shape 108"/>
          <p:cNvSpPr/>
          <p:nvPr/>
        </p:nvSpPr>
        <p:spPr>
          <a:xfrm>
            <a:off x="5956859" y="4129126"/>
            <a:ext cx="277978" cy="243230"/>
          </a:xfrm>
          <a:prstGeom prst="flowChartInternalStorage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321677" y="443362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Repository</a:t>
            </a:r>
            <a:endParaRPr lang="en-US" sz="650" dirty="0"/>
          </a:p>
        </p:txBody>
      </p:sp>
      <p:sp>
        <p:nvSpPr>
          <p:cNvPr id="112" name="Text 110"/>
          <p:cNvSpPr/>
          <p:nvPr/>
        </p:nvSpPr>
        <p:spPr>
          <a:xfrm>
            <a:off x="5321677" y="458906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Repository · Specimen Storage</a:t>
            </a:r>
            <a:endParaRPr lang="en-US" sz="550" dirty="0"/>
          </a:p>
        </p:txBody>
      </p:sp>
      <p:sp>
        <p:nvSpPr>
          <p:cNvPr id="113" name="Shape 111"/>
          <p:cNvSpPr/>
          <p:nvPr/>
        </p:nvSpPr>
        <p:spPr>
          <a:xfrm>
            <a:off x="7533088" y="4137812"/>
            <a:ext cx="295351" cy="225857"/>
          </a:xfrm>
          <a:prstGeom prst="flowChartManualInput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906594" y="443362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Capture</a:t>
            </a:r>
            <a:endParaRPr lang="en-US" sz="650" dirty="0"/>
          </a:p>
        </p:txBody>
      </p:sp>
      <p:sp>
        <p:nvSpPr>
          <p:cNvPr id="115" name="Text 113"/>
          <p:cNvSpPr/>
          <p:nvPr/>
        </p:nvSpPr>
        <p:spPr>
          <a:xfrm>
            <a:off x="6906594" y="458906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Data Capture · CRF</a:t>
            </a:r>
            <a:endParaRPr lang="en-US" sz="550" dirty="0"/>
          </a:p>
        </p:txBody>
      </p:sp>
      <p:sp>
        <p:nvSpPr>
          <p:cNvPr id="116" name="Shape 114"/>
          <p:cNvSpPr/>
          <p:nvPr/>
        </p:nvSpPr>
        <p:spPr>
          <a:xfrm>
            <a:off x="9118005" y="4103065"/>
            <a:ext cx="295351" cy="295351"/>
          </a:xfrm>
          <a:prstGeom prst="smileyFace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8491510" y="443362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Outcome</a:t>
            </a:r>
            <a:endParaRPr lang="en-US" sz="650" dirty="0"/>
          </a:p>
        </p:txBody>
      </p:sp>
      <p:sp>
        <p:nvSpPr>
          <p:cNvPr id="118" name="Text 116"/>
          <p:cNvSpPr/>
          <p:nvPr/>
        </p:nvSpPr>
        <p:spPr>
          <a:xfrm>
            <a:off x="8491510" y="458906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Patient-Reported Outcome · PRO</a:t>
            </a:r>
            <a:endParaRPr lang="en-US" sz="550" dirty="0"/>
          </a:p>
        </p:txBody>
      </p:sp>
      <p:sp>
        <p:nvSpPr>
          <p:cNvPr id="119" name="Shape 117"/>
          <p:cNvSpPr/>
          <p:nvPr/>
        </p:nvSpPr>
        <p:spPr>
          <a:xfrm>
            <a:off x="10702921" y="4103065"/>
            <a:ext cx="295351" cy="295351"/>
          </a:xfrm>
          <a:prstGeom prst="noSmoking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10076427" y="443362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Contraindication</a:t>
            </a:r>
            <a:endParaRPr lang="en-US" sz="650" dirty="0"/>
          </a:p>
        </p:txBody>
      </p:sp>
      <p:sp>
        <p:nvSpPr>
          <p:cNvPr id="121" name="Text 119"/>
          <p:cNvSpPr/>
          <p:nvPr/>
        </p:nvSpPr>
        <p:spPr>
          <a:xfrm>
            <a:off x="10076427" y="458906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Contraindication · Restricted Use</a:t>
            </a:r>
            <a:endParaRPr lang="en-US" sz="550" dirty="0"/>
          </a:p>
        </p:txBody>
      </p:sp>
      <p:sp>
        <p:nvSpPr>
          <p:cNvPr id="122" name="Shape 120"/>
          <p:cNvSpPr/>
          <p:nvPr/>
        </p:nvSpPr>
        <p:spPr>
          <a:xfrm>
            <a:off x="1202109" y="4965192"/>
            <a:ext cx="277978" cy="277978"/>
          </a:xfrm>
          <a:prstGeom prst="flowChartSort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66928" y="528706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Stratification</a:t>
            </a:r>
            <a:endParaRPr lang="en-US" sz="650" dirty="0"/>
          </a:p>
        </p:txBody>
      </p:sp>
      <p:sp>
        <p:nvSpPr>
          <p:cNvPr id="124" name="Text 122"/>
          <p:cNvSpPr/>
          <p:nvPr/>
        </p:nvSpPr>
        <p:spPr>
          <a:xfrm>
            <a:off x="566928" y="544250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Stratification · Patient Sorting</a:t>
            </a:r>
            <a:endParaRPr lang="en-US" sz="550" dirty="0"/>
          </a:p>
        </p:txBody>
      </p:sp>
      <p:sp>
        <p:nvSpPr>
          <p:cNvPr id="125" name="Shape 123"/>
          <p:cNvSpPr/>
          <p:nvPr/>
        </p:nvSpPr>
        <p:spPr>
          <a:xfrm>
            <a:off x="2795713" y="4973879"/>
            <a:ext cx="260604" cy="260604"/>
          </a:xfrm>
          <a:prstGeom prst="flowChartSummingJunction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2151844" y="528706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Pooling</a:t>
            </a:r>
            <a:endParaRPr lang="en-US" sz="650" dirty="0"/>
          </a:p>
        </p:txBody>
      </p:sp>
      <p:sp>
        <p:nvSpPr>
          <p:cNvPr id="127" name="Text 125"/>
          <p:cNvSpPr/>
          <p:nvPr/>
        </p:nvSpPr>
        <p:spPr>
          <a:xfrm>
            <a:off x="2151844" y="544250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Pooling · Meta-Analysis</a:t>
            </a:r>
            <a:endParaRPr lang="en-US" sz="550" dirty="0"/>
          </a:p>
        </p:txBody>
      </p:sp>
      <p:sp>
        <p:nvSpPr>
          <p:cNvPr id="128" name="Shape 126"/>
          <p:cNvSpPr/>
          <p:nvPr/>
        </p:nvSpPr>
        <p:spPr>
          <a:xfrm>
            <a:off x="4398003" y="4991252"/>
            <a:ext cx="225857" cy="225857"/>
          </a:xfrm>
          <a:prstGeom prst="mathMultiply">
            <a:avLst/>
          </a:prstGeom>
          <a:solidFill>
            <a:srgbClr val="C89B3C"/>
          </a:solidFill>
          <a:ln/>
        </p:spPr>
      </p:sp>
      <p:sp>
        <p:nvSpPr>
          <p:cNvPr id="129" name="Text 127"/>
          <p:cNvSpPr/>
          <p:nvPr/>
        </p:nvSpPr>
        <p:spPr>
          <a:xfrm>
            <a:off x="3736761" y="528706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Scale-Up</a:t>
            </a:r>
            <a:endParaRPr lang="en-US" sz="650" dirty="0"/>
          </a:p>
        </p:txBody>
      </p:sp>
      <p:sp>
        <p:nvSpPr>
          <p:cNvPr id="130" name="Text 128"/>
          <p:cNvSpPr/>
          <p:nvPr/>
        </p:nvSpPr>
        <p:spPr>
          <a:xfrm>
            <a:off x="3736761" y="544250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Scale-Up · Titer</a:t>
            </a:r>
            <a:endParaRPr lang="en-US" sz="550" dirty="0"/>
          </a:p>
        </p:txBody>
      </p:sp>
      <p:sp>
        <p:nvSpPr>
          <p:cNvPr id="131" name="Shape 129"/>
          <p:cNvSpPr/>
          <p:nvPr/>
        </p:nvSpPr>
        <p:spPr>
          <a:xfrm>
            <a:off x="5965546" y="4965192"/>
            <a:ext cx="260604" cy="277978"/>
          </a:xfrm>
          <a:prstGeom prst="flowChartOffpageConnector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5321677" y="528706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</a:t>
            </a:r>
            <a:endParaRPr lang="en-US" sz="650" dirty="0"/>
          </a:p>
        </p:txBody>
      </p:sp>
      <p:sp>
        <p:nvSpPr>
          <p:cNvPr id="133" name="Text 131"/>
          <p:cNvSpPr/>
          <p:nvPr/>
        </p:nvSpPr>
        <p:spPr>
          <a:xfrm>
            <a:off x="5321677" y="544250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Referral · Site Transfer</a:t>
            </a:r>
            <a:endParaRPr lang="en-US" sz="550" dirty="0"/>
          </a:p>
        </p:txBody>
      </p:sp>
      <p:sp>
        <p:nvSpPr>
          <p:cNvPr id="134" name="Shape 132"/>
          <p:cNvSpPr/>
          <p:nvPr/>
        </p:nvSpPr>
        <p:spPr>
          <a:xfrm>
            <a:off x="7507028" y="5017313"/>
            <a:ext cx="347472" cy="173736"/>
          </a:xfrm>
          <a:prstGeom prst="ribbon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6906594" y="528706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Breakthrough Designation</a:t>
            </a:r>
            <a:endParaRPr lang="en-US" sz="650" dirty="0"/>
          </a:p>
        </p:txBody>
      </p:sp>
      <p:sp>
        <p:nvSpPr>
          <p:cNvPr id="136" name="Text 134"/>
          <p:cNvSpPr/>
          <p:nvPr/>
        </p:nvSpPr>
        <p:spPr>
          <a:xfrm>
            <a:off x="6906594" y="544250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Breakthrough Designation · Priority Review</a:t>
            </a:r>
            <a:endParaRPr lang="en-US" sz="550" dirty="0"/>
          </a:p>
        </p:txBody>
      </p:sp>
      <p:sp>
        <p:nvSpPr>
          <p:cNvPr id="137" name="Shape 135"/>
          <p:cNvSpPr/>
          <p:nvPr/>
        </p:nvSpPr>
        <p:spPr>
          <a:xfrm>
            <a:off x="9126692" y="4965192"/>
            <a:ext cx="277978" cy="277978"/>
          </a:xfrm>
          <a:prstGeom prst="rtTriangle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8491510" y="528706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Escalation</a:t>
            </a:r>
            <a:endParaRPr lang="en-US" sz="650" dirty="0"/>
          </a:p>
        </p:txBody>
      </p:sp>
      <p:sp>
        <p:nvSpPr>
          <p:cNvPr id="139" name="Text 137"/>
          <p:cNvSpPr/>
          <p:nvPr/>
        </p:nvSpPr>
        <p:spPr>
          <a:xfrm>
            <a:off x="8491510" y="544250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Escalation · Titration</a:t>
            </a:r>
            <a:endParaRPr lang="en-US" sz="550" dirty="0"/>
          </a:p>
        </p:txBody>
      </p:sp>
      <p:sp>
        <p:nvSpPr>
          <p:cNvPr id="140" name="Shape 138"/>
          <p:cNvSpPr/>
          <p:nvPr/>
        </p:nvSpPr>
        <p:spPr>
          <a:xfrm>
            <a:off x="10702921" y="4999939"/>
            <a:ext cx="295351" cy="208483"/>
          </a:xfrm>
          <a:prstGeom prst="rightArrow">
            <a:avLst/>
          </a:prstGeom>
          <a:solidFill>
            <a:srgbClr val="C89B3C"/>
          </a:solidFill>
          <a:ln/>
        </p:spPr>
      </p:sp>
      <p:sp>
        <p:nvSpPr>
          <p:cNvPr id="141" name="Text 139"/>
          <p:cNvSpPr/>
          <p:nvPr/>
        </p:nvSpPr>
        <p:spPr>
          <a:xfrm>
            <a:off x="10076427" y="528706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Progression</a:t>
            </a:r>
            <a:endParaRPr lang="en-US" sz="650" dirty="0"/>
          </a:p>
        </p:txBody>
      </p:sp>
      <p:sp>
        <p:nvSpPr>
          <p:cNvPr id="142" name="Text 140"/>
          <p:cNvSpPr/>
          <p:nvPr/>
        </p:nvSpPr>
        <p:spPr>
          <a:xfrm>
            <a:off x="10076427" y="544250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Progression · Phase Advance</a:t>
            </a:r>
            <a:endParaRPr lang="en-US" sz="550" dirty="0"/>
          </a:p>
        </p:txBody>
      </p:sp>
      <p:sp>
        <p:nvSpPr>
          <p:cNvPr id="143" name="Shape 141"/>
          <p:cNvSpPr/>
          <p:nvPr/>
        </p:nvSpPr>
        <p:spPr>
          <a:xfrm>
            <a:off x="1202109" y="5818632"/>
            <a:ext cx="277978" cy="277978"/>
          </a:xfrm>
          <a:prstGeom prst="star4">
            <a:avLst/>
          </a:prstGeom>
          <a:solidFill>
            <a:srgbClr val="C89B3C"/>
          </a:solidFill>
          <a:ln/>
        </p:spPr>
      </p:sp>
      <p:sp>
        <p:nvSpPr>
          <p:cNvPr id="144" name="Text 142"/>
          <p:cNvSpPr/>
          <p:nvPr/>
        </p:nvSpPr>
        <p:spPr>
          <a:xfrm>
            <a:off x="566928" y="6140501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 Therapy</a:t>
            </a:r>
            <a:endParaRPr lang="en-US" sz="650" dirty="0"/>
          </a:p>
        </p:txBody>
      </p:sp>
      <p:sp>
        <p:nvSpPr>
          <p:cNvPr id="145" name="Text 143"/>
          <p:cNvSpPr/>
          <p:nvPr/>
        </p:nvSpPr>
        <p:spPr>
          <a:xfrm>
            <a:off x="566928" y="6295949"/>
            <a:ext cx="1548340" cy="214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 Therapy · Innovation</a:t>
            </a:r>
            <a:endParaRPr lang="en-US" sz="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Manufacturing &amp; Industrial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unique icons — every one is a distinct native PowerPoint shape, none repeated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184736" y="1535278"/>
            <a:ext cx="312725" cy="312725"/>
          </a:xfrm>
          <a:prstGeom prst="gear9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650" dirty="0"/>
          </a:p>
        </p:txBody>
      </p:sp>
      <p:sp>
        <p:nvSpPr>
          <p:cNvPr id="6" name="Text 4"/>
          <p:cNvSpPr/>
          <p:nvPr/>
        </p:nvSpPr>
        <p:spPr>
          <a:xfrm>
            <a:off x="566928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· Operations · Machinery</a:t>
            </a:r>
            <a:endParaRPr lang="en-US" sz="550" dirty="0"/>
          </a:p>
        </p:txBody>
      </p:sp>
      <p:sp>
        <p:nvSpPr>
          <p:cNvPr id="7" name="Shape 5"/>
          <p:cNvSpPr/>
          <p:nvPr/>
        </p:nvSpPr>
        <p:spPr>
          <a:xfrm>
            <a:off x="2769652" y="1656893"/>
            <a:ext cx="312725" cy="156362"/>
          </a:xfrm>
          <a:prstGeom prst="rect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60965" y="1526591"/>
            <a:ext cx="330098" cy="130302"/>
          </a:xfrm>
          <a:prstGeom prst="triangle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04196" y="1491844"/>
            <a:ext cx="31272" cy="95555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10" name="Text 8"/>
          <p:cNvSpPr/>
          <p:nvPr/>
        </p:nvSpPr>
        <p:spPr>
          <a:xfrm>
            <a:off x="2151844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2151844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· Facility · Production</a:t>
            </a:r>
            <a:endParaRPr lang="en-US" sz="550" dirty="0"/>
          </a:p>
        </p:txBody>
      </p:sp>
      <p:sp>
        <p:nvSpPr>
          <p:cNvPr id="12" name="Shape 10"/>
          <p:cNvSpPr/>
          <p:nvPr/>
        </p:nvSpPr>
        <p:spPr>
          <a:xfrm>
            <a:off x="4354569" y="1639519"/>
            <a:ext cx="260604" cy="121615"/>
          </a:xfrm>
          <a:prstGeom prst="rect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15173" y="1682953"/>
            <a:ext cx="86868" cy="78181"/>
          </a:xfrm>
          <a:prstGeom prst="rect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85841" y="1748973"/>
            <a:ext cx="76444" cy="76444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33517" y="1748973"/>
            <a:ext cx="76444" cy="76444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36761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3736761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 · Supply Chain · Distribution</a:t>
            </a:r>
            <a:endParaRPr lang="en-US" sz="550" dirty="0"/>
          </a:p>
        </p:txBody>
      </p:sp>
      <p:sp>
        <p:nvSpPr>
          <p:cNvPr id="18" name="Shape 16"/>
          <p:cNvSpPr/>
          <p:nvPr/>
        </p:nvSpPr>
        <p:spPr>
          <a:xfrm>
            <a:off x="5948172" y="1543964"/>
            <a:ext cx="295351" cy="295351"/>
          </a:xfrm>
          <a:prstGeom prst="cube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21677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Packaging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5321677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Packaging · Inventory · Product</a:t>
            </a:r>
            <a:endParaRPr lang="en-US" sz="550" dirty="0"/>
          </a:p>
        </p:txBody>
      </p:sp>
      <p:sp>
        <p:nvSpPr>
          <p:cNvPr id="21" name="Shape 19"/>
          <p:cNvSpPr/>
          <p:nvPr/>
        </p:nvSpPr>
        <p:spPr>
          <a:xfrm>
            <a:off x="7559149" y="1535278"/>
            <a:ext cx="243230" cy="312725"/>
          </a:xfrm>
          <a:prstGeom prst="roundRect">
            <a:avLst>
              <a:gd name="adj" fmla="val 22556"/>
            </a:avLst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11270" y="1622146"/>
            <a:ext cx="31272" cy="24323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7642542" y="1587398"/>
            <a:ext cx="46909" cy="59070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611270" y="1700327"/>
            <a:ext cx="31272" cy="24323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642542" y="1665580"/>
            <a:ext cx="46909" cy="59070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11270" y="1778508"/>
            <a:ext cx="31272" cy="24323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642542" y="1743761"/>
            <a:ext cx="46909" cy="59070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06594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Control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6906594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Control · Inspection · Checklist</a:t>
            </a:r>
            <a:endParaRPr lang="en-US" sz="550" dirty="0"/>
          </a:p>
        </p:txBody>
      </p:sp>
      <p:sp>
        <p:nvSpPr>
          <p:cNvPr id="30" name="Shape 28"/>
          <p:cNvSpPr/>
          <p:nvPr/>
        </p:nvSpPr>
        <p:spPr>
          <a:xfrm rot="2700000">
            <a:off x="9170126" y="1667317"/>
            <a:ext cx="191110" cy="48646"/>
          </a:xfrm>
          <a:prstGeom prst="rect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131904" y="1557863"/>
            <a:ext cx="76444" cy="76444"/>
          </a:xfrm>
          <a:prstGeom prst="ellipse">
            <a:avLst/>
          </a:prstGeom>
          <a:ln w="17780">
            <a:solidFill>
              <a:srgbClr val="C89B3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323013" y="1748973"/>
            <a:ext cx="76444" cy="76444"/>
          </a:xfrm>
          <a:prstGeom prst="ellipse">
            <a:avLst/>
          </a:prstGeom>
          <a:ln w="17780">
            <a:solidFill>
              <a:srgbClr val="C89B3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491510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8491510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· Repair · Service</a:t>
            </a:r>
            <a:endParaRPr lang="en-US" sz="550" dirty="0"/>
          </a:p>
        </p:txBody>
      </p:sp>
      <p:sp>
        <p:nvSpPr>
          <p:cNvPr id="35" name="Shape 33"/>
          <p:cNvSpPr/>
          <p:nvPr/>
        </p:nvSpPr>
        <p:spPr>
          <a:xfrm>
            <a:off x="10781103" y="1622146"/>
            <a:ext cx="86868" cy="86868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36" name="Shape 34"/>
          <p:cNvSpPr/>
          <p:nvPr/>
        </p:nvSpPr>
        <p:spPr>
          <a:xfrm>
            <a:off x="10781103" y="1717700"/>
            <a:ext cx="86868" cy="86868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37" name="Shape 35"/>
          <p:cNvSpPr/>
          <p:nvPr/>
        </p:nvSpPr>
        <p:spPr>
          <a:xfrm>
            <a:off x="10876657" y="1622146"/>
            <a:ext cx="86868" cy="86868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38" name="Shape 36"/>
          <p:cNvSpPr/>
          <p:nvPr/>
        </p:nvSpPr>
        <p:spPr>
          <a:xfrm>
            <a:off x="10876657" y="1717700"/>
            <a:ext cx="86868" cy="86868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39" name="Text 37"/>
          <p:cNvSpPr/>
          <p:nvPr/>
        </p:nvSpPr>
        <p:spPr>
          <a:xfrm>
            <a:off x="10076427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Line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10076427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Line · Work Cells</a:t>
            </a:r>
            <a:endParaRPr lang="en-US" sz="550" dirty="0"/>
          </a:p>
        </p:txBody>
      </p:sp>
      <p:sp>
        <p:nvSpPr>
          <p:cNvPr id="41" name="Shape 39"/>
          <p:cNvSpPr/>
          <p:nvPr/>
        </p:nvSpPr>
        <p:spPr>
          <a:xfrm>
            <a:off x="1219483" y="2559406"/>
            <a:ext cx="243230" cy="312725"/>
          </a:xfrm>
          <a:prstGeom prst="can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66928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566928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Materials · Storage · Silo</a:t>
            </a:r>
            <a:endParaRPr lang="en-US" sz="550" dirty="0"/>
          </a:p>
        </p:txBody>
      </p:sp>
      <p:sp>
        <p:nvSpPr>
          <p:cNvPr id="44" name="Shape 42"/>
          <p:cNvSpPr/>
          <p:nvPr/>
        </p:nvSpPr>
        <p:spPr>
          <a:xfrm>
            <a:off x="2787026" y="2594153"/>
            <a:ext cx="277978" cy="260604"/>
          </a:xfrm>
          <a:prstGeom prst="roundRect">
            <a:avLst>
              <a:gd name="adj" fmla="val 21053"/>
            </a:avLst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787026" y="2672334"/>
            <a:ext cx="277978" cy="914"/>
          </a:xfrm>
          <a:prstGeom prst="line">
            <a:avLst/>
          </a:prstGeom>
          <a:noFill/>
          <a:ln w="17780">
            <a:solidFill>
              <a:srgbClr val="C89B3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856520" y="2559406"/>
            <a:ext cx="17374" cy="52121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47" name="Shape 45"/>
          <p:cNvSpPr/>
          <p:nvPr/>
        </p:nvSpPr>
        <p:spPr>
          <a:xfrm>
            <a:off x="2978135" y="2559406"/>
            <a:ext cx="17374" cy="52121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48" name="Text 46"/>
          <p:cNvSpPr/>
          <p:nvPr/>
        </p:nvSpPr>
        <p:spPr>
          <a:xfrm>
            <a:off x="2151844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Schedule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2151844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Schedule · Planning</a:t>
            </a:r>
            <a:endParaRPr lang="en-US" sz="550" dirty="0"/>
          </a:p>
        </p:txBody>
      </p:sp>
      <p:sp>
        <p:nvSpPr>
          <p:cNvPr id="50" name="Shape 48"/>
          <p:cNvSpPr/>
          <p:nvPr/>
        </p:nvSpPr>
        <p:spPr>
          <a:xfrm>
            <a:off x="4345882" y="2585466"/>
            <a:ext cx="330098" cy="260604"/>
          </a:xfrm>
          <a:prstGeom prst="roundRect">
            <a:avLst>
              <a:gd name="adj" fmla="val 28070"/>
            </a:avLst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06690" y="2654960"/>
            <a:ext cx="138989" cy="138989"/>
          </a:xfrm>
          <a:prstGeom prst="pie">
            <a:avLst>
              <a:gd name="adj1" fmla="val 16200000"/>
              <a:gd name="adj2" fmla="val 5400000"/>
            </a:avLst>
          </a:prstGeom>
          <a:ln w="15875">
            <a:solidFill>
              <a:srgbClr val="C89B3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6761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Dashboard</a:t>
            </a:r>
            <a:endParaRPr lang="en-US" sz="650" dirty="0"/>
          </a:p>
        </p:txBody>
      </p:sp>
      <p:sp>
        <p:nvSpPr>
          <p:cNvPr id="53" name="Text 51"/>
          <p:cNvSpPr/>
          <p:nvPr/>
        </p:nvSpPr>
        <p:spPr>
          <a:xfrm>
            <a:off x="3736761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Performance · OEE Dashboard</a:t>
            </a:r>
            <a:endParaRPr lang="en-US" sz="550" dirty="0"/>
          </a:p>
        </p:txBody>
      </p:sp>
      <p:sp>
        <p:nvSpPr>
          <p:cNvPr id="54" name="Shape 52"/>
          <p:cNvSpPr/>
          <p:nvPr/>
        </p:nvSpPr>
        <p:spPr>
          <a:xfrm>
            <a:off x="5956859" y="2576779"/>
            <a:ext cx="277978" cy="277978"/>
          </a:xfrm>
          <a:prstGeom prst="octagon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321677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650" dirty="0"/>
          </a:p>
        </p:txBody>
      </p:sp>
      <p:sp>
        <p:nvSpPr>
          <p:cNvPr id="56" name="Text 54"/>
          <p:cNvSpPr/>
          <p:nvPr/>
        </p:nvSpPr>
        <p:spPr>
          <a:xfrm>
            <a:off x="5321677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· Hazard · Compliance</a:t>
            </a:r>
            <a:endParaRPr lang="en-US" sz="550" dirty="0"/>
          </a:p>
        </p:txBody>
      </p:sp>
      <p:sp>
        <p:nvSpPr>
          <p:cNvPr id="57" name="Shape 55"/>
          <p:cNvSpPr/>
          <p:nvPr/>
        </p:nvSpPr>
        <p:spPr>
          <a:xfrm>
            <a:off x="7533088" y="2568092"/>
            <a:ext cx="295351" cy="295351"/>
          </a:xfrm>
          <a:prstGeom prst="irregularSeal1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906594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</a:t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6906594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Certification · Standards</a:t>
            </a:r>
            <a:endParaRPr lang="en-US" sz="550" dirty="0"/>
          </a:p>
        </p:txBody>
      </p:sp>
      <p:sp>
        <p:nvSpPr>
          <p:cNvPr id="60" name="Shape 58"/>
          <p:cNvSpPr/>
          <p:nvPr/>
        </p:nvSpPr>
        <p:spPr>
          <a:xfrm>
            <a:off x="9121480" y="2649748"/>
            <a:ext cx="132039" cy="132039"/>
          </a:xfrm>
          <a:prstGeom prst="ellipse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9248307" y="2715768"/>
            <a:ext cx="147676" cy="914"/>
          </a:xfrm>
          <a:prstGeom prst="line">
            <a:avLst/>
          </a:prstGeom>
          <a:noFill/>
          <a:ln w="20320">
            <a:solidFill>
              <a:srgbClr val="C89B3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352549" y="2715768"/>
            <a:ext cx="914" cy="43434"/>
          </a:xfrm>
          <a:prstGeom prst="line">
            <a:avLst/>
          </a:prstGeom>
          <a:noFill/>
          <a:ln w="17780">
            <a:solidFill>
              <a:srgbClr val="C89B3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9390770" y="2715768"/>
            <a:ext cx="914" cy="43434"/>
          </a:xfrm>
          <a:prstGeom prst="line">
            <a:avLst/>
          </a:prstGeom>
          <a:noFill/>
          <a:ln w="17780">
            <a:solidFill>
              <a:srgbClr val="C89B3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491510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8491510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Access · Security</a:t>
            </a:r>
            <a:endParaRPr lang="en-US" sz="550" dirty="0"/>
          </a:p>
        </p:txBody>
      </p:sp>
      <p:sp>
        <p:nvSpPr>
          <p:cNvPr id="66" name="Shape 64"/>
          <p:cNvSpPr/>
          <p:nvPr/>
        </p:nvSpPr>
        <p:spPr>
          <a:xfrm>
            <a:off x="10746355" y="2606314"/>
            <a:ext cx="97292" cy="97292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0725507" y="2707081"/>
            <a:ext cx="138989" cy="130302"/>
          </a:xfrm>
          <a:prstGeom prst="arc">
            <a:avLst>
              <a:gd name="adj1" fmla="val 10800000"/>
              <a:gd name="adj2" fmla="val 21600000"/>
            </a:avLst>
          </a:prstGeom>
          <a:ln w="17780">
            <a:solidFill>
              <a:srgbClr val="C89B3C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0857546" y="2606314"/>
            <a:ext cx="97292" cy="97292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0836698" y="2707081"/>
            <a:ext cx="138989" cy="130302"/>
          </a:xfrm>
          <a:prstGeom prst="arc">
            <a:avLst>
              <a:gd name="adj1" fmla="val 10800000"/>
              <a:gd name="adj2" fmla="val 21600000"/>
            </a:avLst>
          </a:prstGeom>
          <a:ln w="17780">
            <a:solidFill>
              <a:srgbClr val="C89B3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076427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endParaRPr lang="en-US" sz="650" dirty="0"/>
          </a:p>
        </p:txBody>
      </p:sp>
      <p:sp>
        <p:nvSpPr>
          <p:cNvPr id="71" name="Text 69"/>
          <p:cNvSpPr/>
          <p:nvPr/>
        </p:nvSpPr>
        <p:spPr>
          <a:xfrm>
            <a:off x="10076427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· Labor · Shift Teams</a:t>
            </a:r>
            <a:endParaRPr lang="en-US" sz="550" dirty="0"/>
          </a:p>
        </p:txBody>
      </p:sp>
      <p:sp>
        <p:nvSpPr>
          <p:cNvPr id="72" name="Shape 70"/>
          <p:cNvSpPr/>
          <p:nvPr/>
        </p:nvSpPr>
        <p:spPr>
          <a:xfrm>
            <a:off x="1184736" y="3635654"/>
            <a:ext cx="312725" cy="208483"/>
          </a:xfrm>
          <a:prstGeom prst="chevron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66928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650" dirty="0"/>
          </a:p>
        </p:txBody>
      </p:sp>
      <p:sp>
        <p:nvSpPr>
          <p:cNvPr id="74" name="Text 72"/>
          <p:cNvSpPr/>
          <p:nvPr/>
        </p:nvSpPr>
        <p:spPr>
          <a:xfrm>
            <a:off x="566928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Flow · Sequence · Workflow</a:t>
            </a:r>
            <a:endParaRPr lang="en-US" sz="550" dirty="0"/>
          </a:p>
        </p:txBody>
      </p:sp>
      <p:sp>
        <p:nvSpPr>
          <p:cNvPr id="75" name="Shape 73"/>
          <p:cNvSpPr/>
          <p:nvPr/>
        </p:nvSpPr>
        <p:spPr>
          <a:xfrm>
            <a:off x="2821773" y="3583534"/>
            <a:ext cx="208483" cy="312725"/>
          </a:xfrm>
          <a:prstGeom prst="verticalScroll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2151844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Order</a:t>
            </a:r>
            <a:endParaRPr lang="en-US" sz="650" dirty="0"/>
          </a:p>
        </p:txBody>
      </p:sp>
      <p:sp>
        <p:nvSpPr>
          <p:cNvPr id="77" name="Text 75"/>
          <p:cNvSpPr/>
          <p:nvPr/>
        </p:nvSpPr>
        <p:spPr>
          <a:xfrm>
            <a:off x="2151844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Order · Traveler · Routing</a:t>
            </a:r>
            <a:endParaRPr lang="en-US" sz="550" dirty="0"/>
          </a:p>
        </p:txBody>
      </p:sp>
      <p:sp>
        <p:nvSpPr>
          <p:cNvPr id="78" name="Shape 76"/>
          <p:cNvSpPr/>
          <p:nvPr/>
        </p:nvSpPr>
        <p:spPr>
          <a:xfrm>
            <a:off x="4363256" y="3592220"/>
            <a:ext cx="295351" cy="295351"/>
          </a:xfrm>
          <a:prstGeom prst="cube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736761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650" dirty="0"/>
          </a:p>
        </p:txBody>
      </p:sp>
      <p:sp>
        <p:nvSpPr>
          <p:cNvPr id="80" name="Text 78"/>
          <p:cNvSpPr/>
          <p:nvPr/>
        </p:nvSpPr>
        <p:spPr>
          <a:xfrm>
            <a:off x="3736761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· SKU · Stock</a:t>
            </a:r>
            <a:endParaRPr lang="en-US" sz="550" dirty="0"/>
          </a:p>
        </p:txBody>
      </p:sp>
      <p:sp>
        <p:nvSpPr>
          <p:cNvPr id="81" name="Shape 79"/>
          <p:cNvSpPr/>
          <p:nvPr/>
        </p:nvSpPr>
        <p:spPr>
          <a:xfrm flipV="1">
            <a:off x="6000293" y="3713836"/>
            <a:ext cx="191110" cy="173736"/>
          </a:xfrm>
          <a:prstGeom prst="trapezoid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974232" y="3687775"/>
            <a:ext cx="243230" cy="27798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83" name="Text 81"/>
          <p:cNvSpPr/>
          <p:nvPr/>
        </p:nvSpPr>
        <p:spPr>
          <a:xfrm>
            <a:off x="5321677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Reduction</a:t>
            </a:r>
            <a:endParaRPr lang="en-US" sz="650" dirty="0"/>
          </a:p>
        </p:txBody>
      </p:sp>
      <p:sp>
        <p:nvSpPr>
          <p:cNvPr id="84" name="Text 82"/>
          <p:cNvSpPr/>
          <p:nvPr/>
        </p:nvSpPr>
        <p:spPr>
          <a:xfrm>
            <a:off x="5321677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Reduction · Scrap · Lean</a:t>
            </a:r>
            <a:endParaRPr lang="en-US" sz="550" dirty="0"/>
          </a:p>
        </p:txBody>
      </p:sp>
      <p:sp>
        <p:nvSpPr>
          <p:cNvPr id="85" name="Shape 83"/>
          <p:cNvSpPr/>
          <p:nvPr/>
        </p:nvSpPr>
        <p:spPr>
          <a:xfrm>
            <a:off x="7524402" y="3618281"/>
            <a:ext cx="312725" cy="243230"/>
          </a:xfrm>
          <a:prstGeom prst="flowChartDecision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906594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Go/No-Go Inspection</a:t>
            </a:r>
            <a:endParaRPr lang="en-US" sz="650" dirty="0"/>
          </a:p>
        </p:txBody>
      </p:sp>
      <p:sp>
        <p:nvSpPr>
          <p:cNvPr id="87" name="Text 85"/>
          <p:cNvSpPr/>
          <p:nvPr/>
        </p:nvSpPr>
        <p:spPr>
          <a:xfrm>
            <a:off x="6906594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Gate · Go/No-Go</a:t>
            </a:r>
            <a:endParaRPr lang="en-US" sz="550" dirty="0"/>
          </a:p>
        </p:txBody>
      </p:sp>
      <p:sp>
        <p:nvSpPr>
          <p:cNvPr id="88" name="Shape 86"/>
          <p:cNvSpPr/>
          <p:nvPr/>
        </p:nvSpPr>
        <p:spPr>
          <a:xfrm>
            <a:off x="9109318" y="3626968"/>
            <a:ext cx="312725" cy="225857"/>
          </a:xfrm>
          <a:prstGeom prst="flowChartProcess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8491510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Step</a:t>
            </a:r>
            <a:endParaRPr lang="en-US" sz="650" dirty="0"/>
          </a:p>
        </p:txBody>
      </p:sp>
      <p:sp>
        <p:nvSpPr>
          <p:cNvPr id="90" name="Text 88"/>
          <p:cNvSpPr/>
          <p:nvPr/>
        </p:nvSpPr>
        <p:spPr>
          <a:xfrm>
            <a:off x="8491510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Process Step</a:t>
            </a:r>
            <a:endParaRPr lang="en-US" sz="550" dirty="0"/>
          </a:p>
        </p:txBody>
      </p:sp>
      <p:sp>
        <p:nvSpPr>
          <p:cNvPr id="91" name="Shape 89"/>
          <p:cNvSpPr/>
          <p:nvPr/>
        </p:nvSpPr>
        <p:spPr>
          <a:xfrm>
            <a:off x="10694235" y="3644341"/>
            <a:ext cx="312725" cy="191110"/>
          </a:xfrm>
          <a:prstGeom prst="flowChartTerminator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10076427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Boundary</a:t>
            </a:r>
            <a:endParaRPr lang="en-US" sz="650" dirty="0"/>
          </a:p>
        </p:txBody>
      </p:sp>
      <p:sp>
        <p:nvSpPr>
          <p:cNvPr id="93" name="Text 91"/>
          <p:cNvSpPr/>
          <p:nvPr/>
        </p:nvSpPr>
        <p:spPr>
          <a:xfrm>
            <a:off x="10076427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Start/Stop · Shift Boundary</a:t>
            </a:r>
            <a:endParaRPr lang="en-US" sz="550" dirty="0"/>
          </a:p>
        </p:txBody>
      </p:sp>
      <p:sp>
        <p:nvSpPr>
          <p:cNvPr id="94" name="Shape 92"/>
          <p:cNvSpPr/>
          <p:nvPr/>
        </p:nvSpPr>
        <p:spPr>
          <a:xfrm>
            <a:off x="1202109" y="4642409"/>
            <a:ext cx="277978" cy="243230"/>
          </a:xfrm>
          <a:prstGeom prst="flowChartManualOperation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566928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Assembly</a:t>
            </a:r>
            <a:endParaRPr lang="en-US" sz="650" dirty="0"/>
          </a:p>
        </p:txBody>
      </p:sp>
      <p:sp>
        <p:nvSpPr>
          <p:cNvPr id="96" name="Text 94"/>
          <p:cNvSpPr/>
          <p:nvPr/>
        </p:nvSpPr>
        <p:spPr>
          <a:xfrm>
            <a:off x="566928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Assembly · Hand Operation</a:t>
            </a:r>
            <a:endParaRPr lang="en-US" sz="550" dirty="0"/>
          </a:p>
        </p:txBody>
      </p:sp>
      <p:sp>
        <p:nvSpPr>
          <p:cNvPr id="97" name="Shape 95"/>
          <p:cNvSpPr/>
          <p:nvPr/>
        </p:nvSpPr>
        <p:spPr>
          <a:xfrm>
            <a:off x="2787026" y="4642409"/>
            <a:ext cx="277978" cy="243230"/>
          </a:xfrm>
          <a:prstGeom prst="flowChartDelay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2151844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Changeover Delay</a:t>
            </a:r>
            <a:endParaRPr lang="en-US" sz="650" dirty="0"/>
          </a:p>
        </p:txBody>
      </p:sp>
      <p:sp>
        <p:nvSpPr>
          <p:cNvPr id="99" name="Text 97"/>
          <p:cNvSpPr/>
          <p:nvPr/>
        </p:nvSpPr>
        <p:spPr>
          <a:xfrm>
            <a:off x="2151844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Changeover Delay · Downtime</a:t>
            </a:r>
            <a:endParaRPr lang="en-US" sz="550" dirty="0"/>
          </a:p>
        </p:txBody>
      </p:sp>
      <p:sp>
        <p:nvSpPr>
          <p:cNvPr id="100" name="Shape 98"/>
          <p:cNvSpPr/>
          <p:nvPr/>
        </p:nvSpPr>
        <p:spPr>
          <a:xfrm>
            <a:off x="4380629" y="4642409"/>
            <a:ext cx="260604" cy="243230"/>
          </a:xfrm>
          <a:prstGeom prst="flowChartMerge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3736761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Merge</a:t>
            </a:r>
            <a:endParaRPr lang="en-US" sz="650" dirty="0"/>
          </a:p>
        </p:txBody>
      </p:sp>
      <p:sp>
        <p:nvSpPr>
          <p:cNvPr id="102" name="Text 100"/>
          <p:cNvSpPr/>
          <p:nvPr/>
        </p:nvSpPr>
        <p:spPr>
          <a:xfrm>
            <a:off x="3736761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Merge · Assembly Convergence</a:t>
            </a:r>
            <a:endParaRPr lang="en-US" sz="550" dirty="0"/>
          </a:p>
        </p:txBody>
      </p:sp>
      <p:sp>
        <p:nvSpPr>
          <p:cNvPr id="103" name="Shape 101"/>
          <p:cNvSpPr/>
          <p:nvPr/>
        </p:nvSpPr>
        <p:spPr>
          <a:xfrm>
            <a:off x="5956859" y="4625035"/>
            <a:ext cx="277978" cy="277978"/>
          </a:xfrm>
          <a:prstGeom prst="flowChartSort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5321677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Sorting Station</a:t>
            </a:r>
            <a:endParaRPr lang="en-US" sz="650" dirty="0"/>
          </a:p>
        </p:txBody>
      </p:sp>
      <p:sp>
        <p:nvSpPr>
          <p:cNvPr id="105" name="Text 103"/>
          <p:cNvSpPr/>
          <p:nvPr/>
        </p:nvSpPr>
        <p:spPr>
          <a:xfrm>
            <a:off x="5321677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Sorting Station · Grading</a:t>
            </a:r>
            <a:endParaRPr lang="en-US" sz="550" dirty="0"/>
          </a:p>
        </p:txBody>
      </p:sp>
      <p:sp>
        <p:nvSpPr>
          <p:cNvPr id="106" name="Shape 104"/>
          <p:cNvSpPr/>
          <p:nvPr/>
        </p:nvSpPr>
        <p:spPr>
          <a:xfrm>
            <a:off x="7541775" y="4642409"/>
            <a:ext cx="277978" cy="243230"/>
          </a:xfrm>
          <a:prstGeom prst="flowChartInternalStorage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6906594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WIP Storage</a:t>
            </a:r>
            <a:endParaRPr lang="en-US" sz="650" dirty="0"/>
          </a:p>
        </p:txBody>
      </p:sp>
      <p:sp>
        <p:nvSpPr>
          <p:cNvPr id="108" name="Text 106"/>
          <p:cNvSpPr/>
          <p:nvPr/>
        </p:nvSpPr>
        <p:spPr>
          <a:xfrm>
            <a:off x="6906594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Work-in-Process Storage</a:t>
            </a:r>
            <a:endParaRPr lang="en-US" sz="550" dirty="0"/>
          </a:p>
        </p:txBody>
      </p:sp>
      <p:sp>
        <p:nvSpPr>
          <p:cNvPr id="109" name="Shape 107"/>
          <p:cNvSpPr/>
          <p:nvPr/>
        </p:nvSpPr>
        <p:spPr>
          <a:xfrm>
            <a:off x="9135379" y="4642409"/>
            <a:ext cx="260604" cy="243230"/>
          </a:xfrm>
          <a:prstGeom prst="flowChartOnlineStorage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491510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Data</a:t>
            </a:r>
            <a:endParaRPr lang="en-US" sz="650" dirty="0"/>
          </a:p>
        </p:txBody>
      </p:sp>
      <p:sp>
        <p:nvSpPr>
          <p:cNvPr id="111" name="Text 109"/>
          <p:cNvSpPr/>
          <p:nvPr/>
        </p:nvSpPr>
        <p:spPr>
          <a:xfrm>
            <a:off x="8491510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Data · Real-Time Records</a:t>
            </a:r>
            <a:endParaRPr lang="en-US" sz="550" dirty="0"/>
          </a:p>
        </p:txBody>
      </p:sp>
      <p:sp>
        <p:nvSpPr>
          <p:cNvPr id="112" name="Shape 110"/>
          <p:cNvSpPr/>
          <p:nvPr/>
        </p:nvSpPr>
        <p:spPr>
          <a:xfrm>
            <a:off x="10694235" y="4642409"/>
            <a:ext cx="312725" cy="243230"/>
          </a:xfrm>
          <a:prstGeom prst="flowChartMultidocument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10076427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Traveler Packet</a:t>
            </a:r>
            <a:endParaRPr lang="en-US" sz="650" dirty="0"/>
          </a:p>
        </p:txBody>
      </p:sp>
      <p:sp>
        <p:nvSpPr>
          <p:cNvPr id="114" name="Text 112"/>
          <p:cNvSpPr/>
          <p:nvPr/>
        </p:nvSpPr>
        <p:spPr>
          <a:xfrm>
            <a:off x="10076427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Traveler Packet · Routing Documents</a:t>
            </a:r>
            <a:endParaRPr lang="en-US" sz="550" dirty="0"/>
          </a:p>
        </p:txBody>
      </p:sp>
      <p:sp>
        <p:nvSpPr>
          <p:cNvPr id="115" name="Shape 113"/>
          <p:cNvSpPr/>
          <p:nvPr/>
        </p:nvSpPr>
        <p:spPr>
          <a:xfrm>
            <a:off x="1193423" y="5683910"/>
            <a:ext cx="295351" cy="208483"/>
          </a:xfrm>
          <a:prstGeom prst="rightArrow">
            <a:avLst/>
          </a:prstGeom>
          <a:solidFill>
            <a:srgbClr val="C89B3C"/>
          </a:solidFill>
          <a:ln/>
        </p:spPr>
      </p:sp>
      <p:sp>
        <p:nvSpPr>
          <p:cNvPr id="116" name="Text 114"/>
          <p:cNvSpPr/>
          <p:nvPr/>
        </p:nvSpPr>
        <p:spPr>
          <a:xfrm>
            <a:off x="566928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</a:t>
            </a:r>
            <a:endParaRPr lang="en-US" sz="650" dirty="0"/>
          </a:p>
        </p:txBody>
      </p:sp>
      <p:sp>
        <p:nvSpPr>
          <p:cNvPr id="117" name="Text 115"/>
          <p:cNvSpPr/>
          <p:nvPr/>
        </p:nvSpPr>
        <p:spPr>
          <a:xfrm>
            <a:off x="566928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· Line Speed</a:t>
            </a:r>
            <a:endParaRPr lang="en-US" sz="550" dirty="0"/>
          </a:p>
        </p:txBody>
      </p:sp>
      <p:sp>
        <p:nvSpPr>
          <p:cNvPr id="118" name="Shape 116"/>
          <p:cNvSpPr/>
          <p:nvPr/>
        </p:nvSpPr>
        <p:spPr>
          <a:xfrm>
            <a:off x="2769652" y="5683910"/>
            <a:ext cx="312725" cy="208483"/>
          </a:xfrm>
          <a:prstGeom prst="notchedRightArrow">
            <a:avLst/>
          </a:prstGeom>
          <a:solidFill>
            <a:srgbClr val="C89B3C"/>
          </a:solidFill>
          <a:ln/>
        </p:spPr>
      </p:sp>
      <p:sp>
        <p:nvSpPr>
          <p:cNvPr id="119" name="Text 117"/>
          <p:cNvSpPr/>
          <p:nvPr/>
        </p:nvSpPr>
        <p:spPr>
          <a:xfrm>
            <a:off x="2151844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Time Reduction</a:t>
            </a:r>
            <a:endParaRPr lang="en-US" sz="650" dirty="0"/>
          </a:p>
        </p:txBody>
      </p:sp>
      <p:sp>
        <p:nvSpPr>
          <p:cNvPr id="120" name="Text 118"/>
          <p:cNvSpPr/>
          <p:nvPr/>
        </p:nvSpPr>
        <p:spPr>
          <a:xfrm>
            <a:off x="2151844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Time Reduction · Speed-Up</a:t>
            </a:r>
            <a:endParaRPr lang="en-US" sz="550" dirty="0"/>
          </a:p>
        </p:txBody>
      </p:sp>
      <p:sp>
        <p:nvSpPr>
          <p:cNvPr id="121" name="Shape 119"/>
          <p:cNvSpPr/>
          <p:nvPr/>
        </p:nvSpPr>
        <p:spPr>
          <a:xfrm>
            <a:off x="4354569" y="5631790"/>
            <a:ext cx="312725" cy="312725"/>
          </a:xfrm>
          <a:prstGeom prst="quadArrow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3736761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Cross-Docking</a:t>
            </a:r>
            <a:endParaRPr lang="en-US" sz="650" dirty="0"/>
          </a:p>
        </p:txBody>
      </p:sp>
      <p:sp>
        <p:nvSpPr>
          <p:cNvPr id="123" name="Text 121"/>
          <p:cNvSpPr/>
          <p:nvPr/>
        </p:nvSpPr>
        <p:spPr>
          <a:xfrm>
            <a:off x="3736761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Cross-Docking · Multi-Directional Flow</a:t>
            </a:r>
            <a:endParaRPr lang="en-US" sz="550" dirty="0"/>
          </a:p>
        </p:txBody>
      </p:sp>
      <p:sp>
        <p:nvSpPr>
          <p:cNvPr id="124" name="Shape 122"/>
          <p:cNvSpPr/>
          <p:nvPr/>
        </p:nvSpPr>
        <p:spPr>
          <a:xfrm>
            <a:off x="5948172" y="5640476"/>
            <a:ext cx="295351" cy="295351"/>
          </a:xfrm>
          <a:prstGeom prst="noSmoking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5321677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 Zone</a:t>
            </a:r>
            <a:endParaRPr lang="en-US" sz="650" dirty="0"/>
          </a:p>
        </p:txBody>
      </p:sp>
      <p:sp>
        <p:nvSpPr>
          <p:cNvPr id="126" name="Text 124"/>
          <p:cNvSpPr/>
          <p:nvPr/>
        </p:nvSpPr>
        <p:spPr>
          <a:xfrm>
            <a:off x="5321677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 Zone · Restricted Access</a:t>
            </a:r>
            <a:endParaRPr lang="en-US" sz="550" dirty="0"/>
          </a:p>
        </p:txBody>
      </p:sp>
      <p:sp>
        <p:nvSpPr>
          <p:cNvPr id="127" name="Shape 125"/>
          <p:cNvSpPr/>
          <p:nvPr/>
        </p:nvSpPr>
        <p:spPr>
          <a:xfrm>
            <a:off x="7541775" y="5649163"/>
            <a:ext cx="277978" cy="277978"/>
          </a:xfrm>
          <a:prstGeom prst="rtTriangle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6906594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Ramp-Up</a:t>
            </a:r>
            <a:endParaRPr lang="en-US" sz="650" dirty="0"/>
          </a:p>
        </p:txBody>
      </p:sp>
      <p:sp>
        <p:nvSpPr>
          <p:cNvPr id="129" name="Text 127"/>
          <p:cNvSpPr/>
          <p:nvPr/>
        </p:nvSpPr>
        <p:spPr>
          <a:xfrm>
            <a:off x="6906594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Ramp-Up</a:t>
            </a:r>
            <a:endParaRPr lang="en-US" sz="550" dirty="0"/>
          </a:p>
        </p:txBody>
      </p:sp>
      <p:sp>
        <p:nvSpPr>
          <p:cNvPr id="130" name="Shape 128"/>
          <p:cNvSpPr/>
          <p:nvPr/>
        </p:nvSpPr>
        <p:spPr>
          <a:xfrm>
            <a:off x="9135379" y="5657850"/>
            <a:ext cx="260604" cy="260604"/>
          </a:xfrm>
          <a:prstGeom prst="flowChartSummingJunction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8491510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Consolidation Point</a:t>
            </a:r>
            <a:endParaRPr lang="en-US" sz="650" dirty="0"/>
          </a:p>
        </p:txBody>
      </p:sp>
      <p:sp>
        <p:nvSpPr>
          <p:cNvPr id="132" name="Text 130"/>
          <p:cNvSpPr/>
          <p:nvPr/>
        </p:nvSpPr>
        <p:spPr>
          <a:xfrm>
            <a:off x="8491510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Consolidation Point · Batch Aggregation</a:t>
            </a:r>
            <a:endParaRPr lang="en-US" sz="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&amp; Telecom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unique icons — every one is a distinct native PowerPoint shape, none repeated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176049" y="1578712"/>
            <a:ext cx="330098" cy="225857"/>
          </a:xfrm>
          <a:prstGeom prst="cloud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650" dirty="0"/>
          </a:p>
        </p:txBody>
      </p:sp>
      <p:sp>
        <p:nvSpPr>
          <p:cNvPr id="6" name="Text 4"/>
          <p:cNvSpPr/>
          <p:nvPr/>
        </p:nvSpPr>
        <p:spPr>
          <a:xfrm>
            <a:off x="566928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· Infrastructure · SaaS</a:t>
            </a:r>
            <a:endParaRPr lang="en-US" sz="550" dirty="0"/>
          </a:p>
        </p:txBody>
      </p:sp>
      <p:sp>
        <p:nvSpPr>
          <p:cNvPr id="7" name="Shape 5"/>
          <p:cNvSpPr/>
          <p:nvPr/>
        </p:nvSpPr>
        <p:spPr>
          <a:xfrm>
            <a:off x="2905166" y="1766346"/>
            <a:ext cx="41697" cy="41697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8" name="Shape 6"/>
          <p:cNvSpPr/>
          <p:nvPr/>
        </p:nvSpPr>
        <p:spPr>
          <a:xfrm>
            <a:off x="2839147" y="1700327"/>
            <a:ext cx="173736" cy="173736"/>
          </a:xfrm>
          <a:prstGeom prst="arc">
            <a:avLst>
              <a:gd name="adj1" fmla="val 12000000"/>
              <a:gd name="adj2" fmla="val 20400000"/>
            </a:avLst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78339" y="1639519"/>
            <a:ext cx="295351" cy="295351"/>
          </a:xfrm>
          <a:prstGeom prst="arc">
            <a:avLst>
              <a:gd name="adj1" fmla="val 12000000"/>
              <a:gd name="adj2" fmla="val 20400000"/>
            </a:avLst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17531" y="1578712"/>
            <a:ext cx="416966" cy="416966"/>
          </a:xfrm>
          <a:prstGeom prst="arc">
            <a:avLst>
              <a:gd name="adj1" fmla="val 12000000"/>
              <a:gd name="adj2" fmla="val 20400000"/>
            </a:avLst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51844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2151844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· Network · Telecom</a:t>
            </a:r>
            <a:endParaRPr lang="en-US" sz="550" dirty="0"/>
          </a:p>
        </p:txBody>
      </p:sp>
      <p:sp>
        <p:nvSpPr>
          <p:cNvPr id="13" name="Shape 11"/>
          <p:cNvSpPr/>
          <p:nvPr/>
        </p:nvSpPr>
        <p:spPr>
          <a:xfrm>
            <a:off x="4363256" y="1543964"/>
            <a:ext cx="295351" cy="295351"/>
          </a:xfrm>
          <a:prstGeom prst="roundRect">
            <a:avLst>
              <a:gd name="adj" fmla="val 24768"/>
            </a:avLst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15376" y="1613459"/>
            <a:ext cx="191110" cy="17374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15" name="Shape 13"/>
          <p:cNvSpPr/>
          <p:nvPr/>
        </p:nvSpPr>
        <p:spPr>
          <a:xfrm>
            <a:off x="4415376" y="1682953"/>
            <a:ext cx="191110" cy="17374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16" name="Shape 14"/>
          <p:cNvSpPr/>
          <p:nvPr/>
        </p:nvSpPr>
        <p:spPr>
          <a:xfrm>
            <a:off x="4415376" y="1752448"/>
            <a:ext cx="191110" cy="17374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17" name="Text 15"/>
          <p:cNvSpPr/>
          <p:nvPr/>
        </p:nvSpPr>
        <p:spPr>
          <a:xfrm>
            <a:off x="3736761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3736761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· IT · Digital</a:t>
            </a:r>
            <a:endParaRPr lang="en-US" sz="550" dirty="0"/>
          </a:p>
        </p:txBody>
      </p:sp>
      <p:sp>
        <p:nvSpPr>
          <p:cNvPr id="19" name="Shape 17"/>
          <p:cNvSpPr/>
          <p:nvPr/>
        </p:nvSpPr>
        <p:spPr>
          <a:xfrm>
            <a:off x="5991606" y="1526591"/>
            <a:ext cx="208483" cy="208483"/>
          </a:xfrm>
          <a:prstGeom prst="ellipse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43727" y="1726387"/>
            <a:ext cx="104242" cy="60808"/>
          </a:xfrm>
          <a:prstGeom prst="rect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21677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5321677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· Technology · R&amp;D</a:t>
            </a:r>
            <a:endParaRPr lang="en-US" sz="550" dirty="0"/>
          </a:p>
        </p:txBody>
      </p:sp>
      <p:sp>
        <p:nvSpPr>
          <p:cNvPr id="23" name="Shape 21"/>
          <p:cNvSpPr/>
          <p:nvPr/>
        </p:nvSpPr>
        <p:spPr>
          <a:xfrm>
            <a:off x="7533088" y="1543964"/>
            <a:ext cx="295351" cy="295351"/>
          </a:xfrm>
          <a:prstGeom prst="arc">
            <a:avLst>
              <a:gd name="adj1" fmla="val 12000000"/>
              <a:gd name="adj2" fmla="val 20400000"/>
            </a:avLst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06594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6906594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· Wireless · Telecom</a:t>
            </a:r>
            <a:endParaRPr lang="en-US" sz="550" dirty="0"/>
          </a:p>
        </p:txBody>
      </p:sp>
      <p:sp>
        <p:nvSpPr>
          <p:cNvPr id="26" name="Shape 24"/>
          <p:cNvSpPr/>
          <p:nvPr/>
        </p:nvSpPr>
        <p:spPr>
          <a:xfrm>
            <a:off x="9196186" y="1622146"/>
            <a:ext cx="86868" cy="86868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27" name="Shape 25"/>
          <p:cNvSpPr/>
          <p:nvPr/>
        </p:nvSpPr>
        <p:spPr>
          <a:xfrm>
            <a:off x="9196186" y="1717700"/>
            <a:ext cx="86868" cy="86868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28" name="Shape 26"/>
          <p:cNvSpPr/>
          <p:nvPr/>
        </p:nvSpPr>
        <p:spPr>
          <a:xfrm>
            <a:off x="9291741" y="1622146"/>
            <a:ext cx="86868" cy="86868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29" name="Shape 27"/>
          <p:cNvSpPr/>
          <p:nvPr/>
        </p:nvSpPr>
        <p:spPr>
          <a:xfrm>
            <a:off x="9291741" y="1717700"/>
            <a:ext cx="86868" cy="86868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30" name="Text 28"/>
          <p:cNvSpPr/>
          <p:nvPr/>
        </p:nvSpPr>
        <p:spPr>
          <a:xfrm>
            <a:off x="8491510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8491510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· Applications · Platforms</a:t>
            </a:r>
            <a:endParaRPr lang="en-US" sz="550" dirty="0"/>
          </a:p>
        </p:txBody>
      </p:sp>
      <p:sp>
        <p:nvSpPr>
          <p:cNvPr id="32" name="Shape 30"/>
          <p:cNvSpPr/>
          <p:nvPr/>
        </p:nvSpPr>
        <p:spPr>
          <a:xfrm>
            <a:off x="10737669" y="1674266"/>
            <a:ext cx="225857" cy="165049"/>
          </a:xfrm>
          <a:prstGeom prst="roundRect">
            <a:avLst>
              <a:gd name="adj" fmla="val 55402"/>
            </a:avLst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777628" y="1526591"/>
            <a:ext cx="145938" cy="147676"/>
          </a:xfrm>
          <a:prstGeom prst="arc">
            <a:avLst>
              <a:gd name="adj1" fmla="val 10800000"/>
              <a:gd name="adj2" fmla="val 21600000"/>
            </a:avLst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833223" y="1735074"/>
            <a:ext cx="34747" cy="34747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35" name="Text 33"/>
          <p:cNvSpPr/>
          <p:nvPr/>
        </p:nvSpPr>
        <p:spPr>
          <a:xfrm>
            <a:off x="10076427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10076427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 · Data Protection</a:t>
            </a:r>
            <a:endParaRPr lang="en-US" sz="550" dirty="0"/>
          </a:p>
        </p:txBody>
      </p:sp>
      <p:sp>
        <p:nvSpPr>
          <p:cNvPr id="37" name="Shape 35"/>
          <p:cNvSpPr/>
          <p:nvPr/>
        </p:nvSpPr>
        <p:spPr>
          <a:xfrm>
            <a:off x="1196897" y="2649748"/>
            <a:ext cx="132039" cy="132039"/>
          </a:xfrm>
          <a:prstGeom prst="ellipse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323725" y="2715768"/>
            <a:ext cx="147676" cy="914"/>
          </a:xfrm>
          <a:prstGeom prst="line">
            <a:avLst/>
          </a:prstGeom>
          <a:noFill/>
          <a:ln w="20320">
            <a:solidFill>
              <a:srgbClr val="C89B3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427966" y="2715768"/>
            <a:ext cx="914" cy="43434"/>
          </a:xfrm>
          <a:prstGeom prst="line">
            <a:avLst/>
          </a:prstGeom>
          <a:noFill/>
          <a:ln w="17780">
            <a:solidFill>
              <a:srgbClr val="C89B3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466188" y="2715768"/>
            <a:ext cx="914" cy="43434"/>
          </a:xfrm>
          <a:prstGeom prst="line">
            <a:avLst/>
          </a:prstGeom>
          <a:noFill/>
          <a:ln w="17780">
            <a:solidFill>
              <a:srgbClr val="C89B3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66928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650" dirty="0"/>
          </a:p>
        </p:txBody>
      </p:sp>
      <p:sp>
        <p:nvSpPr>
          <p:cNvPr id="42" name="Text 40"/>
          <p:cNvSpPr/>
          <p:nvPr/>
        </p:nvSpPr>
        <p:spPr>
          <a:xfrm>
            <a:off x="566928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· Access Management</a:t>
            </a:r>
            <a:endParaRPr lang="en-US" sz="550" dirty="0"/>
          </a:p>
        </p:txBody>
      </p:sp>
      <p:sp>
        <p:nvSpPr>
          <p:cNvPr id="43" name="Shape 41"/>
          <p:cNvSpPr/>
          <p:nvPr/>
        </p:nvSpPr>
        <p:spPr>
          <a:xfrm>
            <a:off x="2804399" y="2559406"/>
            <a:ext cx="243230" cy="312725"/>
          </a:xfrm>
          <a:prstGeom prst="can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151844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Servers</a:t>
            </a:r>
            <a:endParaRPr lang="en-US" sz="650" dirty="0"/>
          </a:p>
        </p:txBody>
      </p:sp>
      <p:sp>
        <p:nvSpPr>
          <p:cNvPr id="45" name="Text 43"/>
          <p:cNvSpPr/>
          <p:nvPr/>
        </p:nvSpPr>
        <p:spPr>
          <a:xfrm>
            <a:off x="2151844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Servers · Data Center · Storage</a:t>
            </a:r>
            <a:endParaRPr lang="en-US" sz="550" dirty="0"/>
          </a:p>
        </p:txBody>
      </p:sp>
      <p:sp>
        <p:nvSpPr>
          <p:cNvPr id="46" name="Shape 44"/>
          <p:cNvSpPr/>
          <p:nvPr/>
        </p:nvSpPr>
        <p:spPr>
          <a:xfrm>
            <a:off x="4345882" y="2585466"/>
            <a:ext cx="330098" cy="260604"/>
          </a:xfrm>
          <a:prstGeom prst="roundRect">
            <a:avLst>
              <a:gd name="adj" fmla="val 28070"/>
            </a:avLst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406690" y="2654960"/>
            <a:ext cx="138989" cy="138989"/>
          </a:xfrm>
          <a:prstGeom prst="pie">
            <a:avLst>
              <a:gd name="adj1" fmla="val 16200000"/>
              <a:gd name="adj2" fmla="val 5400000"/>
            </a:avLst>
          </a:prstGeom>
          <a:ln w="15875">
            <a:solidFill>
              <a:srgbClr val="C89B3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736761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Dashboard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3736761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Monitoring · Dashboard · Uptime</a:t>
            </a:r>
            <a:endParaRPr lang="en-US" sz="550" dirty="0"/>
          </a:p>
        </p:txBody>
      </p:sp>
      <p:sp>
        <p:nvSpPr>
          <p:cNvPr id="50" name="Shape 48"/>
          <p:cNvSpPr/>
          <p:nvPr/>
        </p:nvSpPr>
        <p:spPr>
          <a:xfrm>
            <a:off x="5939485" y="2585466"/>
            <a:ext cx="312725" cy="260604"/>
          </a:xfrm>
          <a:prstGeom prst="leftRightCircularArrow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321677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650" dirty="0"/>
          </a:p>
        </p:txBody>
      </p:sp>
      <p:sp>
        <p:nvSpPr>
          <p:cNvPr id="52" name="Text 50"/>
          <p:cNvSpPr/>
          <p:nvPr/>
        </p:nvSpPr>
        <p:spPr>
          <a:xfrm>
            <a:off x="5321677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Integration · Data Exchange</a:t>
            </a:r>
            <a:endParaRPr lang="en-US" sz="550" dirty="0"/>
          </a:p>
        </p:txBody>
      </p:sp>
      <p:sp>
        <p:nvSpPr>
          <p:cNvPr id="53" name="Shape 51"/>
          <p:cNvSpPr/>
          <p:nvPr/>
        </p:nvSpPr>
        <p:spPr>
          <a:xfrm>
            <a:off x="7533088" y="2576779"/>
            <a:ext cx="295351" cy="277978"/>
          </a:xfrm>
          <a:prstGeom prst="hexagon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906594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Node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6906594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Node · Infrastructure</a:t>
            </a:r>
            <a:endParaRPr lang="en-US" sz="550" dirty="0"/>
          </a:p>
        </p:txBody>
      </p:sp>
      <p:sp>
        <p:nvSpPr>
          <p:cNvPr id="56" name="Shape 54"/>
          <p:cNvSpPr/>
          <p:nvPr/>
        </p:nvSpPr>
        <p:spPr>
          <a:xfrm>
            <a:off x="9118005" y="2628900"/>
            <a:ext cx="295351" cy="173736"/>
          </a:xfrm>
          <a:prstGeom prst="roundRect">
            <a:avLst>
              <a:gd name="adj" fmla="val 42105"/>
            </a:avLst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204873" y="2654960"/>
            <a:ext cx="121615" cy="121615"/>
          </a:xfrm>
          <a:prstGeom prst="ellipse">
            <a:avLst/>
          </a:prstGeom>
          <a:ln w="17780">
            <a:solidFill>
              <a:srgbClr val="C89B3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291741" y="2590678"/>
            <a:ext cx="69494" cy="38222"/>
          </a:xfrm>
          <a:prstGeom prst="rect">
            <a:avLst/>
          </a:prstGeom>
          <a:ln w="17780">
            <a:solidFill>
              <a:srgbClr val="C89B3C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491510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Media</a:t>
            </a:r>
            <a:endParaRPr lang="en-US" sz="650" dirty="0"/>
          </a:p>
        </p:txBody>
      </p:sp>
      <p:sp>
        <p:nvSpPr>
          <p:cNvPr id="60" name="Text 58"/>
          <p:cNvSpPr/>
          <p:nvPr/>
        </p:nvSpPr>
        <p:spPr>
          <a:xfrm>
            <a:off x="8491510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Media · Streaming · Content</a:t>
            </a:r>
            <a:endParaRPr lang="en-US" sz="550" dirty="0"/>
          </a:p>
        </p:txBody>
      </p:sp>
      <p:sp>
        <p:nvSpPr>
          <p:cNvPr id="61" name="Shape 59"/>
          <p:cNvSpPr/>
          <p:nvPr/>
        </p:nvSpPr>
        <p:spPr>
          <a:xfrm>
            <a:off x="10781103" y="2550719"/>
            <a:ext cx="138989" cy="330098"/>
          </a:xfrm>
          <a:prstGeom prst="roundRect">
            <a:avLst>
              <a:gd name="adj" fmla="val 131579"/>
            </a:avLst>
          </a:prstGeom>
          <a:ln w="21590">
            <a:solidFill>
              <a:srgbClr val="C89B3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0834961" y="2813060"/>
            <a:ext cx="31272" cy="312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3" name="Text 61"/>
          <p:cNvSpPr/>
          <p:nvPr/>
        </p:nvSpPr>
        <p:spPr>
          <a:xfrm>
            <a:off x="10076427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</a:t>
            </a:r>
            <a:endParaRPr lang="en-US" sz="650" dirty="0"/>
          </a:p>
        </p:txBody>
      </p:sp>
      <p:sp>
        <p:nvSpPr>
          <p:cNvPr id="64" name="Text 62"/>
          <p:cNvSpPr/>
          <p:nvPr/>
        </p:nvSpPr>
        <p:spPr>
          <a:xfrm>
            <a:off x="10076427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· Devices · Telecom</a:t>
            </a:r>
            <a:endParaRPr lang="en-US" sz="550" dirty="0"/>
          </a:p>
        </p:txBody>
      </p:sp>
      <p:sp>
        <p:nvSpPr>
          <p:cNvPr id="65" name="Shape 63"/>
          <p:cNvSpPr/>
          <p:nvPr/>
        </p:nvSpPr>
        <p:spPr>
          <a:xfrm>
            <a:off x="1219483" y="3583534"/>
            <a:ext cx="243230" cy="312725"/>
          </a:xfrm>
          <a:prstGeom prst="roundRect">
            <a:avLst>
              <a:gd name="adj" fmla="val 22556"/>
            </a:avLst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271604" y="3670402"/>
            <a:ext cx="31272" cy="24323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1302876" y="3635654"/>
            <a:ext cx="46909" cy="59070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71604" y="3748583"/>
            <a:ext cx="31272" cy="24323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 flipV="1">
            <a:off x="1302876" y="3713836"/>
            <a:ext cx="46909" cy="59070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271604" y="3826764"/>
            <a:ext cx="31272" cy="24323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 flipV="1">
            <a:off x="1302876" y="3792017"/>
            <a:ext cx="46909" cy="59070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66928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</a:t>
            </a:r>
            <a:endParaRPr lang="en-US" sz="650" dirty="0"/>
          </a:p>
        </p:txBody>
      </p:sp>
      <p:sp>
        <p:nvSpPr>
          <p:cNvPr id="73" name="Text 71"/>
          <p:cNvSpPr/>
          <p:nvPr/>
        </p:nvSpPr>
        <p:spPr>
          <a:xfrm>
            <a:off x="566928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· Release Checklist · CI/CD</a:t>
            </a:r>
            <a:endParaRPr lang="en-US" sz="550" dirty="0"/>
          </a:p>
        </p:txBody>
      </p:sp>
      <p:sp>
        <p:nvSpPr>
          <p:cNvPr id="74" name="Shape 72"/>
          <p:cNvSpPr/>
          <p:nvPr/>
        </p:nvSpPr>
        <p:spPr>
          <a:xfrm>
            <a:off x="2821773" y="3630442"/>
            <a:ext cx="97292" cy="97292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800925" y="3731209"/>
            <a:ext cx="138989" cy="130302"/>
          </a:xfrm>
          <a:prstGeom prst="arc">
            <a:avLst>
              <a:gd name="adj1" fmla="val 10800000"/>
              <a:gd name="adj2" fmla="val 21600000"/>
            </a:avLst>
          </a:prstGeom>
          <a:ln w="17780">
            <a:solidFill>
              <a:srgbClr val="C89B3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932964" y="3630442"/>
            <a:ext cx="97292" cy="97292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2912116" y="3731209"/>
            <a:ext cx="138989" cy="130302"/>
          </a:xfrm>
          <a:prstGeom prst="arc">
            <a:avLst>
              <a:gd name="adj1" fmla="val 10800000"/>
              <a:gd name="adj2" fmla="val 21600000"/>
            </a:avLst>
          </a:prstGeom>
          <a:ln w="17780">
            <a:solidFill>
              <a:srgbClr val="C89B3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2151844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Support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2151844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Support · Help Desk</a:t>
            </a:r>
            <a:endParaRPr lang="en-US" sz="550" dirty="0"/>
          </a:p>
        </p:txBody>
      </p:sp>
      <p:sp>
        <p:nvSpPr>
          <p:cNvPr id="80" name="Shape 78"/>
          <p:cNvSpPr/>
          <p:nvPr/>
        </p:nvSpPr>
        <p:spPr>
          <a:xfrm>
            <a:off x="4354569" y="3626968"/>
            <a:ext cx="312725" cy="225857"/>
          </a:xfrm>
          <a:prstGeom prst="wedgeRoundRectCallout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736761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</a:t>
            </a:r>
            <a:endParaRPr lang="en-US" sz="650" dirty="0"/>
          </a:p>
        </p:txBody>
      </p:sp>
      <p:sp>
        <p:nvSpPr>
          <p:cNvPr id="82" name="Text 80"/>
          <p:cNvSpPr/>
          <p:nvPr/>
        </p:nvSpPr>
        <p:spPr>
          <a:xfrm>
            <a:off x="3736761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 · Messaging · Chat</a:t>
            </a:r>
            <a:endParaRPr lang="en-US" sz="550" dirty="0"/>
          </a:p>
        </p:txBody>
      </p:sp>
      <p:sp>
        <p:nvSpPr>
          <p:cNvPr id="83" name="Shape 81"/>
          <p:cNvSpPr/>
          <p:nvPr/>
        </p:nvSpPr>
        <p:spPr>
          <a:xfrm>
            <a:off x="5922112" y="3653028"/>
            <a:ext cx="347472" cy="173736"/>
          </a:xfrm>
          <a:prstGeom prst="wave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321677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Bandwidth</a:t>
            </a:r>
            <a:endParaRPr lang="en-US" sz="650" dirty="0"/>
          </a:p>
        </p:txBody>
      </p:sp>
      <p:sp>
        <p:nvSpPr>
          <p:cNvPr id="85" name="Text 83"/>
          <p:cNvSpPr/>
          <p:nvPr/>
        </p:nvSpPr>
        <p:spPr>
          <a:xfrm>
            <a:off x="5321677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Bandwidth · Throughput · Capacity</a:t>
            </a:r>
            <a:endParaRPr lang="en-US" sz="550" dirty="0"/>
          </a:p>
        </p:txBody>
      </p:sp>
      <p:sp>
        <p:nvSpPr>
          <p:cNvPr id="86" name="Shape 84"/>
          <p:cNvSpPr/>
          <p:nvPr/>
        </p:nvSpPr>
        <p:spPr>
          <a:xfrm>
            <a:off x="7524402" y="3618281"/>
            <a:ext cx="312725" cy="243230"/>
          </a:xfrm>
          <a:prstGeom prst="flowChartDecision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906594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Decision</a:t>
            </a:r>
            <a:endParaRPr lang="en-US" sz="650" dirty="0"/>
          </a:p>
        </p:txBody>
      </p:sp>
      <p:sp>
        <p:nvSpPr>
          <p:cNvPr id="88" name="Text 86"/>
          <p:cNvSpPr/>
          <p:nvPr/>
        </p:nvSpPr>
        <p:spPr>
          <a:xfrm>
            <a:off x="6906594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Decision · Load Balancing</a:t>
            </a:r>
            <a:endParaRPr lang="en-US" sz="550" dirty="0"/>
          </a:p>
        </p:txBody>
      </p:sp>
      <p:sp>
        <p:nvSpPr>
          <p:cNvPr id="89" name="Shape 87"/>
          <p:cNvSpPr/>
          <p:nvPr/>
        </p:nvSpPr>
        <p:spPr>
          <a:xfrm>
            <a:off x="9109318" y="3626968"/>
            <a:ext cx="312725" cy="225857"/>
          </a:xfrm>
          <a:prstGeom prst="flowChartProcess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491510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Step</a:t>
            </a:r>
            <a:endParaRPr lang="en-US" sz="650" dirty="0"/>
          </a:p>
        </p:txBody>
      </p:sp>
      <p:sp>
        <p:nvSpPr>
          <p:cNvPr id="91" name="Text 89"/>
          <p:cNvSpPr/>
          <p:nvPr/>
        </p:nvSpPr>
        <p:spPr>
          <a:xfrm>
            <a:off x="8491510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Step · Build Process</a:t>
            </a:r>
            <a:endParaRPr lang="en-US" sz="550" dirty="0"/>
          </a:p>
        </p:txBody>
      </p:sp>
      <p:sp>
        <p:nvSpPr>
          <p:cNvPr id="92" name="Shape 90"/>
          <p:cNvSpPr/>
          <p:nvPr/>
        </p:nvSpPr>
        <p:spPr>
          <a:xfrm>
            <a:off x="10694235" y="3644341"/>
            <a:ext cx="312725" cy="191110"/>
          </a:xfrm>
          <a:prstGeom prst="flowChartTerminator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0076427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Boundary</a:t>
            </a:r>
            <a:endParaRPr lang="en-US" sz="650" dirty="0"/>
          </a:p>
        </p:txBody>
      </p:sp>
      <p:sp>
        <p:nvSpPr>
          <p:cNvPr id="94" name="Text 92"/>
          <p:cNvSpPr/>
          <p:nvPr/>
        </p:nvSpPr>
        <p:spPr>
          <a:xfrm>
            <a:off x="10076427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Start/End</a:t>
            </a:r>
            <a:endParaRPr lang="en-US" sz="550" dirty="0"/>
          </a:p>
        </p:txBody>
      </p:sp>
      <p:sp>
        <p:nvSpPr>
          <p:cNvPr id="95" name="Shape 93"/>
          <p:cNvSpPr/>
          <p:nvPr/>
        </p:nvSpPr>
        <p:spPr>
          <a:xfrm>
            <a:off x="1202109" y="4642409"/>
            <a:ext cx="277978" cy="243230"/>
          </a:xfrm>
          <a:prstGeom prst="flowChartInternalStorage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66928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</a:t>
            </a:r>
            <a:endParaRPr lang="en-US" sz="650" dirty="0"/>
          </a:p>
        </p:txBody>
      </p:sp>
      <p:sp>
        <p:nvSpPr>
          <p:cNvPr id="97" name="Text 95"/>
          <p:cNvSpPr/>
          <p:nvPr/>
        </p:nvSpPr>
        <p:spPr>
          <a:xfrm>
            <a:off x="566928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· In-Memory Storage</a:t>
            </a:r>
            <a:endParaRPr lang="en-US" sz="550" dirty="0"/>
          </a:p>
        </p:txBody>
      </p:sp>
      <p:sp>
        <p:nvSpPr>
          <p:cNvPr id="98" name="Shape 96"/>
          <p:cNvSpPr/>
          <p:nvPr/>
        </p:nvSpPr>
        <p:spPr>
          <a:xfrm>
            <a:off x="2795713" y="4642409"/>
            <a:ext cx="260604" cy="243230"/>
          </a:xfrm>
          <a:prstGeom prst="flowChartOnlineStorage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151844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Storage</a:t>
            </a:r>
            <a:endParaRPr lang="en-US" sz="650" dirty="0"/>
          </a:p>
        </p:txBody>
      </p:sp>
      <p:sp>
        <p:nvSpPr>
          <p:cNvPr id="100" name="Text 98"/>
          <p:cNvSpPr/>
          <p:nvPr/>
        </p:nvSpPr>
        <p:spPr>
          <a:xfrm>
            <a:off x="2151844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Storage · Object Store</a:t>
            </a:r>
            <a:endParaRPr lang="en-US" sz="550" dirty="0"/>
          </a:p>
        </p:txBody>
      </p:sp>
      <p:sp>
        <p:nvSpPr>
          <p:cNvPr id="101" name="Shape 99"/>
          <p:cNvSpPr/>
          <p:nvPr/>
        </p:nvSpPr>
        <p:spPr>
          <a:xfrm>
            <a:off x="4380629" y="4633722"/>
            <a:ext cx="260604" cy="260604"/>
          </a:xfrm>
          <a:prstGeom prst="flowChartOfflineStorage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3736761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Backup</a:t>
            </a:r>
            <a:endParaRPr lang="en-US" sz="650" dirty="0"/>
          </a:p>
        </p:txBody>
      </p:sp>
      <p:sp>
        <p:nvSpPr>
          <p:cNvPr id="103" name="Text 101"/>
          <p:cNvSpPr/>
          <p:nvPr/>
        </p:nvSpPr>
        <p:spPr>
          <a:xfrm>
            <a:off x="3736761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Backup · Archive Storage</a:t>
            </a:r>
            <a:endParaRPr lang="en-US" sz="550" dirty="0"/>
          </a:p>
        </p:txBody>
      </p:sp>
      <p:sp>
        <p:nvSpPr>
          <p:cNvPr id="104" name="Shape 102"/>
          <p:cNvSpPr/>
          <p:nvPr/>
        </p:nvSpPr>
        <p:spPr>
          <a:xfrm>
            <a:off x="5939485" y="4642409"/>
            <a:ext cx="312725" cy="243230"/>
          </a:xfrm>
          <a:prstGeom prst="flowChartMultidocument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321677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Docs</a:t>
            </a:r>
            <a:endParaRPr lang="en-US" sz="650" dirty="0"/>
          </a:p>
        </p:txBody>
      </p:sp>
      <p:sp>
        <p:nvSpPr>
          <p:cNvPr id="106" name="Text 104"/>
          <p:cNvSpPr/>
          <p:nvPr/>
        </p:nvSpPr>
        <p:spPr>
          <a:xfrm>
            <a:off x="5321677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Documentation · Specs</a:t>
            </a:r>
            <a:endParaRPr lang="en-US" sz="550" dirty="0"/>
          </a:p>
        </p:txBody>
      </p:sp>
      <p:sp>
        <p:nvSpPr>
          <p:cNvPr id="107" name="Shape 105"/>
          <p:cNvSpPr/>
          <p:nvPr/>
        </p:nvSpPr>
        <p:spPr>
          <a:xfrm>
            <a:off x="7533088" y="4651096"/>
            <a:ext cx="295351" cy="225857"/>
          </a:xfrm>
          <a:prstGeom prst="flowChartManualInput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6906594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Input</a:t>
            </a:r>
            <a:endParaRPr lang="en-US" sz="650" dirty="0"/>
          </a:p>
        </p:txBody>
      </p:sp>
      <p:sp>
        <p:nvSpPr>
          <p:cNvPr id="109" name="Text 107"/>
          <p:cNvSpPr/>
          <p:nvPr/>
        </p:nvSpPr>
        <p:spPr>
          <a:xfrm>
            <a:off x="6906594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Configuration · Setup</a:t>
            </a:r>
            <a:endParaRPr lang="en-US" sz="550" dirty="0"/>
          </a:p>
        </p:txBody>
      </p:sp>
      <p:sp>
        <p:nvSpPr>
          <p:cNvPr id="110" name="Shape 108"/>
          <p:cNvSpPr/>
          <p:nvPr/>
        </p:nvSpPr>
        <p:spPr>
          <a:xfrm>
            <a:off x="9109318" y="4607662"/>
            <a:ext cx="312725" cy="312725"/>
          </a:xfrm>
          <a:prstGeom prst="quadArrow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8491510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 Network</a:t>
            </a:r>
            <a:endParaRPr lang="en-US" sz="650" dirty="0"/>
          </a:p>
        </p:txBody>
      </p:sp>
      <p:sp>
        <p:nvSpPr>
          <p:cNvPr id="112" name="Text 110"/>
          <p:cNvSpPr/>
          <p:nvPr/>
        </p:nvSpPr>
        <p:spPr>
          <a:xfrm>
            <a:off x="8491510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 Network · Multi-Path Routing</a:t>
            </a:r>
            <a:endParaRPr lang="en-US" sz="550" dirty="0"/>
          </a:p>
        </p:txBody>
      </p:sp>
      <p:sp>
        <p:nvSpPr>
          <p:cNvPr id="113" name="Shape 111"/>
          <p:cNvSpPr/>
          <p:nvPr/>
        </p:nvSpPr>
        <p:spPr>
          <a:xfrm>
            <a:off x="10685548" y="4668469"/>
            <a:ext cx="330098" cy="191110"/>
          </a:xfrm>
          <a:prstGeom prst="leftRightArrow">
            <a:avLst/>
          </a:prstGeom>
          <a:solidFill>
            <a:srgbClr val="C89B3C"/>
          </a:solidFill>
          <a:ln/>
        </p:spPr>
      </p:sp>
      <p:sp>
        <p:nvSpPr>
          <p:cNvPr id="114" name="Text 112"/>
          <p:cNvSpPr/>
          <p:nvPr/>
        </p:nvSpPr>
        <p:spPr>
          <a:xfrm>
            <a:off x="10076427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Duplex Link</a:t>
            </a:r>
            <a:endParaRPr lang="en-US" sz="650" dirty="0"/>
          </a:p>
        </p:txBody>
      </p:sp>
      <p:sp>
        <p:nvSpPr>
          <p:cNvPr id="115" name="Text 113"/>
          <p:cNvSpPr/>
          <p:nvPr/>
        </p:nvSpPr>
        <p:spPr>
          <a:xfrm>
            <a:off x="10076427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Full-Duplex Link · Two-Way Data</a:t>
            </a:r>
            <a:endParaRPr lang="en-US" sz="550" dirty="0"/>
          </a:p>
        </p:txBody>
      </p:sp>
      <p:sp>
        <p:nvSpPr>
          <p:cNvPr id="116" name="Shape 114"/>
          <p:cNvSpPr/>
          <p:nvPr/>
        </p:nvSpPr>
        <p:spPr>
          <a:xfrm>
            <a:off x="1193423" y="5640476"/>
            <a:ext cx="295351" cy="295351"/>
          </a:xfrm>
          <a:prstGeom prst="leftCircularArrow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566928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</a:t>
            </a:r>
            <a:endParaRPr lang="en-US" sz="650" dirty="0"/>
          </a:p>
        </p:txBody>
      </p:sp>
      <p:sp>
        <p:nvSpPr>
          <p:cNvPr id="118" name="Text 116"/>
          <p:cNvSpPr/>
          <p:nvPr/>
        </p:nvSpPr>
        <p:spPr>
          <a:xfrm>
            <a:off x="566928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· Version Revert</a:t>
            </a:r>
            <a:endParaRPr lang="en-US" sz="550" dirty="0"/>
          </a:p>
        </p:txBody>
      </p:sp>
      <p:sp>
        <p:nvSpPr>
          <p:cNvPr id="119" name="Shape 117"/>
          <p:cNvSpPr/>
          <p:nvPr/>
        </p:nvSpPr>
        <p:spPr>
          <a:xfrm>
            <a:off x="2778339" y="5683910"/>
            <a:ext cx="295351" cy="208483"/>
          </a:xfrm>
          <a:prstGeom prst="rightArrow">
            <a:avLst/>
          </a:prstGeom>
          <a:solidFill>
            <a:srgbClr val="C89B3C"/>
          </a:solidFill>
          <a:ln/>
        </p:spPr>
      </p:sp>
      <p:sp>
        <p:nvSpPr>
          <p:cNvPr id="120" name="Text 118"/>
          <p:cNvSpPr/>
          <p:nvPr/>
        </p:nvSpPr>
        <p:spPr>
          <a:xfrm>
            <a:off x="2151844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650" dirty="0"/>
          </a:p>
        </p:txBody>
      </p:sp>
      <p:sp>
        <p:nvSpPr>
          <p:cNvPr id="121" name="Text 119"/>
          <p:cNvSpPr/>
          <p:nvPr/>
        </p:nvSpPr>
        <p:spPr>
          <a:xfrm>
            <a:off x="2151844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· Release Forward</a:t>
            </a:r>
            <a:endParaRPr lang="en-US" sz="550" dirty="0"/>
          </a:p>
        </p:txBody>
      </p:sp>
      <p:sp>
        <p:nvSpPr>
          <p:cNvPr id="122" name="Shape 120"/>
          <p:cNvSpPr/>
          <p:nvPr/>
        </p:nvSpPr>
        <p:spPr>
          <a:xfrm>
            <a:off x="4363256" y="5640476"/>
            <a:ext cx="295351" cy="295351"/>
          </a:xfrm>
          <a:prstGeom prst="noSmoking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3736761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Denied</a:t>
            </a:r>
            <a:endParaRPr lang="en-US" sz="650" dirty="0"/>
          </a:p>
        </p:txBody>
      </p:sp>
      <p:sp>
        <p:nvSpPr>
          <p:cNvPr id="124" name="Text 122"/>
          <p:cNvSpPr/>
          <p:nvPr/>
        </p:nvSpPr>
        <p:spPr>
          <a:xfrm>
            <a:off x="3736761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Denied · Firewall Block</a:t>
            </a:r>
            <a:endParaRPr lang="en-US" sz="550" dirty="0"/>
          </a:p>
        </p:txBody>
      </p:sp>
      <p:sp>
        <p:nvSpPr>
          <p:cNvPr id="125" name="Shape 123"/>
          <p:cNvSpPr/>
          <p:nvPr/>
        </p:nvSpPr>
        <p:spPr>
          <a:xfrm>
            <a:off x="5956859" y="5649163"/>
            <a:ext cx="277978" cy="277978"/>
          </a:xfrm>
          <a:prstGeom prst="star4">
            <a:avLst/>
          </a:prstGeom>
          <a:solidFill>
            <a:srgbClr val="C89B3C"/>
          </a:solidFill>
          <a:ln/>
        </p:spPr>
      </p:sp>
      <p:sp>
        <p:nvSpPr>
          <p:cNvPr id="126" name="Text 124"/>
          <p:cNvSpPr/>
          <p:nvPr/>
        </p:nvSpPr>
        <p:spPr>
          <a:xfrm>
            <a:off x="5321677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Release</a:t>
            </a:r>
            <a:endParaRPr lang="en-US" sz="650" dirty="0"/>
          </a:p>
        </p:txBody>
      </p:sp>
      <p:sp>
        <p:nvSpPr>
          <p:cNvPr id="127" name="Text 125"/>
          <p:cNvSpPr/>
          <p:nvPr/>
        </p:nvSpPr>
        <p:spPr>
          <a:xfrm>
            <a:off x="5321677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Release · Feature Launch</a:t>
            </a:r>
            <a:endParaRPr lang="en-US" sz="550" dirty="0"/>
          </a:p>
        </p:txBody>
      </p:sp>
      <p:sp>
        <p:nvSpPr>
          <p:cNvPr id="128" name="Shape 126"/>
          <p:cNvSpPr/>
          <p:nvPr/>
        </p:nvSpPr>
        <p:spPr>
          <a:xfrm>
            <a:off x="7524402" y="5683910"/>
            <a:ext cx="312725" cy="208483"/>
          </a:xfrm>
          <a:prstGeom prst="notchedRightArrow">
            <a:avLst/>
          </a:prstGeom>
          <a:solidFill>
            <a:srgbClr val="C89B3C"/>
          </a:solidFill>
          <a:ln/>
        </p:spPr>
      </p:sp>
      <p:sp>
        <p:nvSpPr>
          <p:cNvPr id="129" name="Text 127"/>
          <p:cNvSpPr/>
          <p:nvPr/>
        </p:nvSpPr>
        <p:spPr>
          <a:xfrm>
            <a:off x="6906594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Latency</a:t>
            </a:r>
            <a:endParaRPr lang="en-US" sz="650" dirty="0"/>
          </a:p>
        </p:txBody>
      </p:sp>
      <p:sp>
        <p:nvSpPr>
          <p:cNvPr id="130" name="Text 128"/>
          <p:cNvSpPr/>
          <p:nvPr/>
        </p:nvSpPr>
        <p:spPr>
          <a:xfrm>
            <a:off x="6906594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Latency · High Speed</a:t>
            </a:r>
            <a:endParaRPr lang="en-US" sz="550" dirty="0"/>
          </a:p>
        </p:txBody>
      </p:sp>
      <p:sp>
        <p:nvSpPr>
          <p:cNvPr id="131" name="Shape 129"/>
          <p:cNvSpPr/>
          <p:nvPr/>
        </p:nvSpPr>
        <p:spPr>
          <a:xfrm>
            <a:off x="9152752" y="5675224"/>
            <a:ext cx="225857" cy="225857"/>
          </a:xfrm>
          <a:prstGeom prst="mathMultiply">
            <a:avLst/>
          </a:prstGeom>
          <a:solidFill>
            <a:srgbClr val="C89B3C"/>
          </a:solidFill>
          <a:ln/>
        </p:spPr>
      </p:sp>
      <p:sp>
        <p:nvSpPr>
          <p:cNvPr id="132" name="Text 130"/>
          <p:cNvSpPr/>
          <p:nvPr/>
        </p:nvSpPr>
        <p:spPr>
          <a:xfrm>
            <a:off x="8491510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650" dirty="0"/>
          </a:p>
        </p:txBody>
      </p:sp>
      <p:sp>
        <p:nvSpPr>
          <p:cNvPr id="133" name="Text 131"/>
          <p:cNvSpPr/>
          <p:nvPr/>
        </p:nvSpPr>
        <p:spPr>
          <a:xfrm>
            <a:off x="8491510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 · Elastic Compute</a:t>
            </a:r>
            <a:endParaRPr lang="en-US" sz="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Energy &amp; Utilities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unique icons — every one is a distinct native PowerPoint shape, none repeated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193423" y="1543964"/>
            <a:ext cx="295351" cy="295351"/>
          </a:xfrm>
          <a:prstGeom prst="sun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Renewable</a:t>
            </a:r>
            <a:endParaRPr lang="en-US" sz="650" dirty="0"/>
          </a:p>
        </p:txBody>
      </p:sp>
      <p:sp>
        <p:nvSpPr>
          <p:cNvPr id="6" name="Text 4"/>
          <p:cNvSpPr/>
          <p:nvPr/>
        </p:nvSpPr>
        <p:spPr>
          <a:xfrm>
            <a:off x="566928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Renewable · Solar · Energy</a:t>
            </a:r>
            <a:endParaRPr lang="en-US" sz="550" dirty="0"/>
          </a:p>
        </p:txBody>
      </p:sp>
      <p:sp>
        <p:nvSpPr>
          <p:cNvPr id="7" name="Shape 5"/>
          <p:cNvSpPr/>
          <p:nvPr/>
        </p:nvSpPr>
        <p:spPr>
          <a:xfrm>
            <a:off x="2830460" y="1526591"/>
            <a:ext cx="191110" cy="330098"/>
          </a:xfrm>
          <a:prstGeom prst="lightningBolt">
            <a:avLst/>
          </a:prstGeom>
          <a:solidFill>
            <a:srgbClr val="C89B3C"/>
          </a:solidFill>
          <a:ln/>
        </p:spPr>
      </p:sp>
      <p:sp>
        <p:nvSpPr>
          <p:cNvPr id="8" name="Text 6"/>
          <p:cNvSpPr/>
          <p:nvPr/>
        </p:nvSpPr>
        <p:spPr>
          <a:xfrm>
            <a:off x="2151844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2151844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· Utilities · Electricity</a:t>
            </a:r>
            <a:endParaRPr lang="en-US" sz="550" dirty="0"/>
          </a:p>
        </p:txBody>
      </p:sp>
      <p:sp>
        <p:nvSpPr>
          <p:cNvPr id="10" name="Shape 8"/>
          <p:cNvSpPr/>
          <p:nvPr/>
        </p:nvSpPr>
        <p:spPr>
          <a:xfrm rot="2700000">
            <a:off x="4380629" y="1543964"/>
            <a:ext cx="191110" cy="260604"/>
          </a:xfrm>
          <a:prstGeom prst="teardrop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3500000">
            <a:off x="4450124" y="1578712"/>
            <a:ext cx="191110" cy="260604"/>
          </a:xfrm>
          <a:prstGeom prst="teardrop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36761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Sustainability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3736761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Sustainability · Environment · ESG</a:t>
            </a:r>
            <a:endParaRPr lang="en-US" sz="550" dirty="0"/>
          </a:p>
        </p:txBody>
      </p:sp>
      <p:sp>
        <p:nvSpPr>
          <p:cNvPr id="14" name="Shape 12"/>
          <p:cNvSpPr/>
          <p:nvPr/>
        </p:nvSpPr>
        <p:spPr>
          <a:xfrm>
            <a:off x="5965546" y="1604772"/>
            <a:ext cx="260604" cy="173736"/>
          </a:xfrm>
          <a:prstGeom prst="roundRect">
            <a:avLst>
              <a:gd name="adj" fmla="val 63158"/>
            </a:avLst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26150" y="1660368"/>
            <a:ext cx="20848" cy="62545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16" name="Text 14"/>
          <p:cNvSpPr/>
          <p:nvPr/>
        </p:nvSpPr>
        <p:spPr>
          <a:xfrm>
            <a:off x="5321677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5321677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Storage · Battery · Grid</a:t>
            </a:r>
            <a:endParaRPr lang="en-US" sz="550" dirty="0"/>
          </a:p>
        </p:txBody>
      </p:sp>
      <p:sp>
        <p:nvSpPr>
          <p:cNvPr id="18" name="Shape 16"/>
          <p:cNvSpPr/>
          <p:nvPr/>
        </p:nvSpPr>
        <p:spPr>
          <a:xfrm>
            <a:off x="7611270" y="1622146"/>
            <a:ext cx="86868" cy="86868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19" name="Shape 17"/>
          <p:cNvSpPr/>
          <p:nvPr/>
        </p:nvSpPr>
        <p:spPr>
          <a:xfrm>
            <a:off x="7611270" y="1717700"/>
            <a:ext cx="86868" cy="86868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20" name="Shape 18"/>
          <p:cNvSpPr/>
          <p:nvPr/>
        </p:nvSpPr>
        <p:spPr>
          <a:xfrm>
            <a:off x="7706824" y="1622146"/>
            <a:ext cx="86868" cy="86868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21" name="Shape 19"/>
          <p:cNvSpPr/>
          <p:nvPr/>
        </p:nvSpPr>
        <p:spPr>
          <a:xfrm>
            <a:off x="7706824" y="1717700"/>
            <a:ext cx="86868" cy="86868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22" name="Text 20"/>
          <p:cNvSpPr/>
          <p:nvPr/>
        </p:nvSpPr>
        <p:spPr>
          <a:xfrm>
            <a:off x="6906594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Grid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6906594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Grid · Distribution Network</a:t>
            </a:r>
            <a:endParaRPr lang="en-US" sz="550" dirty="0"/>
          </a:p>
        </p:txBody>
      </p:sp>
      <p:sp>
        <p:nvSpPr>
          <p:cNvPr id="24" name="Shape 22"/>
          <p:cNvSpPr/>
          <p:nvPr/>
        </p:nvSpPr>
        <p:spPr>
          <a:xfrm>
            <a:off x="9100631" y="1561338"/>
            <a:ext cx="330098" cy="260604"/>
          </a:xfrm>
          <a:prstGeom prst="roundRect">
            <a:avLst>
              <a:gd name="adj" fmla="val 28070"/>
            </a:avLst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61439" y="1630832"/>
            <a:ext cx="138989" cy="138989"/>
          </a:xfrm>
          <a:prstGeom prst="pie">
            <a:avLst>
              <a:gd name="adj1" fmla="val 16200000"/>
              <a:gd name="adj2" fmla="val 5400000"/>
            </a:avLst>
          </a:prstGeom>
          <a:ln w="15875">
            <a:solidFill>
              <a:srgbClr val="C89B3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91510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Dashboard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8491510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Monitoring · Dashboard</a:t>
            </a:r>
            <a:endParaRPr lang="en-US" sz="550" dirty="0"/>
          </a:p>
        </p:txBody>
      </p:sp>
      <p:sp>
        <p:nvSpPr>
          <p:cNvPr id="28" name="Shape 26"/>
          <p:cNvSpPr/>
          <p:nvPr/>
        </p:nvSpPr>
        <p:spPr>
          <a:xfrm>
            <a:off x="10711608" y="1570025"/>
            <a:ext cx="277978" cy="260604"/>
          </a:xfrm>
          <a:prstGeom prst="roundRect">
            <a:avLst>
              <a:gd name="adj" fmla="val 21053"/>
            </a:avLst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711608" y="1648206"/>
            <a:ext cx="277978" cy="914"/>
          </a:xfrm>
          <a:prstGeom prst="line">
            <a:avLst/>
          </a:prstGeom>
          <a:noFill/>
          <a:ln w="17780">
            <a:solidFill>
              <a:srgbClr val="C89B3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781103" y="1535278"/>
            <a:ext cx="17374" cy="52121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31" name="Shape 29"/>
          <p:cNvSpPr/>
          <p:nvPr/>
        </p:nvSpPr>
        <p:spPr>
          <a:xfrm>
            <a:off x="10902718" y="1535278"/>
            <a:ext cx="17374" cy="52121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32" name="Text 30"/>
          <p:cNvSpPr/>
          <p:nvPr/>
        </p:nvSpPr>
        <p:spPr>
          <a:xfrm>
            <a:off x="10076427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Schedule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10076427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Schedule · Outage Planning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1202109" y="2576779"/>
            <a:ext cx="277978" cy="277978"/>
          </a:xfrm>
          <a:prstGeom prst="octagon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66928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Compliance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566928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· Regulatory Compliance</a:t>
            </a:r>
            <a:endParaRPr lang="en-US" sz="550" dirty="0"/>
          </a:p>
        </p:txBody>
      </p:sp>
      <p:sp>
        <p:nvSpPr>
          <p:cNvPr id="37" name="Shape 35"/>
          <p:cNvSpPr/>
          <p:nvPr/>
        </p:nvSpPr>
        <p:spPr>
          <a:xfrm>
            <a:off x="2804399" y="2559406"/>
            <a:ext cx="243230" cy="312725"/>
          </a:xfrm>
          <a:prstGeom prst="can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51844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Reservoir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2151844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Reservoir · Fuel Storage</a:t>
            </a:r>
            <a:endParaRPr lang="en-US" sz="550" dirty="0"/>
          </a:p>
        </p:txBody>
      </p:sp>
      <p:sp>
        <p:nvSpPr>
          <p:cNvPr id="40" name="Shape 38"/>
          <p:cNvSpPr/>
          <p:nvPr/>
        </p:nvSpPr>
        <p:spPr>
          <a:xfrm rot="10800000">
            <a:off x="4415376" y="2576779"/>
            <a:ext cx="191110" cy="277978"/>
          </a:xfrm>
          <a:prstGeom prst="teardrop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736761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</a:t>
            </a:r>
            <a:endParaRPr lang="en-US" sz="650" dirty="0"/>
          </a:p>
        </p:txBody>
      </p:sp>
      <p:sp>
        <p:nvSpPr>
          <p:cNvPr id="42" name="Text 40"/>
          <p:cNvSpPr/>
          <p:nvPr/>
        </p:nvSpPr>
        <p:spPr>
          <a:xfrm>
            <a:off x="3736761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Site · Facility Location</a:t>
            </a:r>
            <a:endParaRPr lang="en-US" sz="550" dirty="0"/>
          </a:p>
        </p:txBody>
      </p:sp>
      <p:sp>
        <p:nvSpPr>
          <p:cNvPr id="43" name="Shape 41"/>
          <p:cNvSpPr/>
          <p:nvPr/>
        </p:nvSpPr>
        <p:spPr>
          <a:xfrm>
            <a:off x="5974232" y="2559406"/>
            <a:ext cx="243230" cy="312725"/>
          </a:xfrm>
          <a:prstGeom prst="roundRect">
            <a:avLst>
              <a:gd name="adj" fmla="val 22556"/>
            </a:avLst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026353" y="2646274"/>
            <a:ext cx="31272" cy="24323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6057626" y="2611526"/>
            <a:ext cx="46909" cy="59070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026353" y="2724455"/>
            <a:ext cx="31272" cy="24323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6057626" y="2689708"/>
            <a:ext cx="46909" cy="59070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026353" y="2802636"/>
            <a:ext cx="31272" cy="24323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V="1">
            <a:off x="6057626" y="2767889"/>
            <a:ext cx="46909" cy="59070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321677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5321677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· Compliance Checklist</a:t>
            </a:r>
            <a:endParaRPr lang="en-US" sz="550" dirty="0"/>
          </a:p>
        </p:txBody>
      </p:sp>
      <p:sp>
        <p:nvSpPr>
          <p:cNvPr id="52" name="Shape 50"/>
          <p:cNvSpPr/>
          <p:nvPr/>
        </p:nvSpPr>
        <p:spPr>
          <a:xfrm>
            <a:off x="7576522" y="2606314"/>
            <a:ext cx="97292" cy="97292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55674" y="2707081"/>
            <a:ext cx="138989" cy="130302"/>
          </a:xfrm>
          <a:prstGeom prst="arc">
            <a:avLst>
              <a:gd name="adj1" fmla="val 10800000"/>
              <a:gd name="adj2" fmla="val 21600000"/>
            </a:avLst>
          </a:prstGeom>
          <a:ln w="17780">
            <a:solidFill>
              <a:srgbClr val="C89B3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687713" y="2606314"/>
            <a:ext cx="97292" cy="97292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666865" y="2707081"/>
            <a:ext cx="138989" cy="130302"/>
          </a:xfrm>
          <a:prstGeom prst="arc">
            <a:avLst>
              <a:gd name="adj1" fmla="val 10800000"/>
              <a:gd name="adj2" fmla="val 21600000"/>
            </a:avLst>
          </a:prstGeom>
          <a:ln w="17780">
            <a:solidFill>
              <a:srgbClr val="C89B3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906594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Crews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6906594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Crews · Technicians</a:t>
            </a:r>
            <a:endParaRPr lang="en-US" sz="550" dirty="0"/>
          </a:p>
        </p:txBody>
      </p:sp>
      <p:sp>
        <p:nvSpPr>
          <p:cNvPr id="58" name="Shape 56"/>
          <p:cNvSpPr/>
          <p:nvPr/>
        </p:nvSpPr>
        <p:spPr>
          <a:xfrm>
            <a:off x="9109318" y="2611526"/>
            <a:ext cx="312725" cy="208483"/>
          </a:xfrm>
          <a:prstGeom prst="chevron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491510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</a:t>
            </a:r>
            <a:endParaRPr lang="en-US" sz="650" dirty="0"/>
          </a:p>
        </p:txBody>
      </p:sp>
      <p:sp>
        <p:nvSpPr>
          <p:cNvPr id="60" name="Text 58"/>
          <p:cNvSpPr/>
          <p:nvPr/>
        </p:nvSpPr>
        <p:spPr>
          <a:xfrm>
            <a:off x="8491510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· Transmission Flow</a:t>
            </a:r>
            <a:endParaRPr lang="en-US" sz="550" dirty="0"/>
          </a:p>
        </p:txBody>
      </p:sp>
      <p:sp>
        <p:nvSpPr>
          <p:cNvPr id="61" name="Shape 59"/>
          <p:cNvSpPr/>
          <p:nvPr/>
        </p:nvSpPr>
        <p:spPr>
          <a:xfrm>
            <a:off x="10755042" y="2585466"/>
            <a:ext cx="191110" cy="260604"/>
          </a:xfrm>
          <a:prstGeom prst="teardrop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0076427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Utility</a:t>
            </a:r>
            <a:endParaRPr lang="en-US" sz="650" dirty="0"/>
          </a:p>
        </p:txBody>
      </p:sp>
      <p:sp>
        <p:nvSpPr>
          <p:cNvPr id="63" name="Text 61"/>
          <p:cNvSpPr/>
          <p:nvPr/>
        </p:nvSpPr>
        <p:spPr>
          <a:xfrm>
            <a:off x="10076427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Utility · Resource Management</a:t>
            </a:r>
            <a:endParaRPr lang="en-US" sz="550" dirty="0"/>
          </a:p>
        </p:txBody>
      </p:sp>
      <p:sp>
        <p:nvSpPr>
          <p:cNvPr id="64" name="Shape 62"/>
          <p:cNvSpPr/>
          <p:nvPr/>
        </p:nvSpPr>
        <p:spPr>
          <a:xfrm>
            <a:off x="1193423" y="3592220"/>
            <a:ext cx="295351" cy="295351"/>
          </a:xfrm>
          <a:prstGeom prst="irregularSeal1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66928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566928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Environmental Certification · ESG Rating</a:t>
            </a:r>
            <a:endParaRPr lang="en-US" sz="550" dirty="0"/>
          </a:p>
        </p:txBody>
      </p:sp>
      <p:sp>
        <p:nvSpPr>
          <p:cNvPr id="67" name="Shape 65"/>
          <p:cNvSpPr/>
          <p:nvPr/>
        </p:nvSpPr>
        <p:spPr>
          <a:xfrm rot="2700000">
            <a:off x="2830460" y="3715573"/>
            <a:ext cx="191110" cy="48646"/>
          </a:xfrm>
          <a:prstGeom prst="rect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792238" y="3606119"/>
            <a:ext cx="76444" cy="76444"/>
          </a:xfrm>
          <a:prstGeom prst="ellipse">
            <a:avLst/>
          </a:prstGeom>
          <a:ln w="17780">
            <a:solidFill>
              <a:srgbClr val="C89B3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983348" y="3797229"/>
            <a:ext cx="76444" cy="76444"/>
          </a:xfrm>
          <a:prstGeom prst="ellipse">
            <a:avLst/>
          </a:prstGeom>
          <a:ln w="17780">
            <a:solidFill>
              <a:srgbClr val="C89B3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2151844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</a:t>
            </a:r>
            <a:endParaRPr lang="en-US" sz="650" dirty="0"/>
          </a:p>
        </p:txBody>
      </p:sp>
      <p:sp>
        <p:nvSpPr>
          <p:cNvPr id="71" name="Text 69"/>
          <p:cNvSpPr/>
          <p:nvPr/>
        </p:nvSpPr>
        <p:spPr>
          <a:xfrm>
            <a:off x="2151844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Maintenance · Service</a:t>
            </a:r>
            <a:endParaRPr lang="en-US" sz="550" dirty="0"/>
          </a:p>
        </p:txBody>
      </p:sp>
      <p:sp>
        <p:nvSpPr>
          <p:cNvPr id="72" name="Shape 70"/>
          <p:cNvSpPr/>
          <p:nvPr/>
        </p:nvSpPr>
        <p:spPr>
          <a:xfrm>
            <a:off x="4337195" y="3653028"/>
            <a:ext cx="347472" cy="173736"/>
          </a:xfrm>
          <a:prstGeom prst="wave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736761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Load</a:t>
            </a:r>
            <a:endParaRPr lang="en-US" sz="650" dirty="0"/>
          </a:p>
        </p:txBody>
      </p:sp>
      <p:sp>
        <p:nvSpPr>
          <p:cNvPr id="74" name="Text 72"/>
          <p:cNvSpPr/>
          <p:nvPr/>
        </p:nvSpPr>
        <p:spPr>
          <a:xfrm>
            <a:off x="3736761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Load · Demand · Capacity</a:t>
            </a:r>
            <a:endParaRPr lang="en-US" sz="550" dirty="0"/>
          </a:p>
        </p:txBody>
      </p:sp>
      <p:sp>
        <p:nvSpPr>
          <p:cNvPr id="75" name="Shape 73"/>
          <p:cNvSpPr/>
          <p:nvPr/>
        </p:nvSpPr>
        <p:spPr>
          <a:xfrm>
            <a:off x="5939485" y="3618281"/>
            <a:ext cx="312725" cy="243230"/>
          </a:xfrm>
          <a:prstGeom prst="flowChartDecision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5321677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Shedding Decision</a:t>
            </a:r>
            <a:endParaRPr lang="en-US" sz="650" dirty="0"/>
          </a:p>
        </p:txBody>
      </p:sp>
      <p:sp>
        <p:nvSpPr>
          <p:cNvPr id="77" name="Text 75"/>
          <p:cNvSpPr/>
          <p:nvPr/>
        </p:nvSpPr>
        <p:spPr>
          <a:xfrm>
            <a:off x="5321677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Shedding · Demand Response</a:t>
            </a:r>
            <a:endParaRPr lang="en-US" sz="550" dirty="0"/>
          </a:p>
        </p:txBody>
      </p:sp>
      <p:sp>
        <p:nvSpPr>
          <p:cNvPr id="78" name="Shape 76"/>
          <p:cNvSpPr/>
          <p:nvPr/>
        </p:nvSpPr>
        <p:spPr>
          <a:xfrm>
            <a:off x="7524402" y="3626968"/>
            <a:ext cx="312725" cy="225857"/>
          </a:xfrm>
          <a:prstGeom prst="flowChartProcess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906594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Process</a:t>
            </a:r>
            <a:endParaRPr lang="en-US" sz="650" dirty="0"/>
          </a:p>
        </p:txBody>
      </p:sp>
      <p:sp>
        <p:nvSpPr>
          <p:cNvPr id="80" name="Text 78"/>
          <p:cNvSpPr/>
          <p:nvPr/>
        </p:nvSpPr>
        <p:spPr>
          <a:xfrm>
            <a:off x="6906594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Generation Process</a:t>
            </a:r>
            <a:endParaRPr lang="en-US" sz="550" dirty="0"/>
          </a:p>
        </p:txBody>
      </p:sp>
      <p:sp>
        <p:nvSpPr>
          <p:cNvPr id="81" name="Shape 79"/>
          <p:cNvSpPr/>
          <p:nvPr/>
        </p:nvSpPr>
        <p:spPr>
          <a:xfrm>
            <a:off x="9109318" y="3644341"/>
            <a:ext cx="312725" cy="191110"/>
          </a:xfrm>
          <a:prstGeom prst="flowChartTerminator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491510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Outage Boundary</a:t>
            </a:r>
            <a:endParaRPr lang="en-US" sz="650" dirty="0"/>
          </a:p>
        </p:txBody>
      </p:sp>
      <p:sp>
        <p:nvSpPr>
          <p:cNvPr id="83" name="Text 81"/>
          <p:cNvSpPr/>
          <p:nvPr/>
        </p:nvSpPr>
        <p:spPr>
          <a:xfrm>
            <a:off x="8491510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Outage Start/End · Restoration</a:t>
            </a:r>
            <a:endParaRPr lang="en-US" sz="550" dirty="0"/>
          </a:p>
        </p:txBody>
      </p:sp>
      <p:sp>
        <p:nvSpPr>
          <p:cNvPr id="84" name="Shape 82"/>
          <p:cNvSpPr/>
          <p:nvPr/>
        </p:nvSpPr>
        <p:spPr>
          <a:xfrm>
            <a:off x="10711608" y="3618281"/>
            <a:ext cx="277978" cy="243230"/>
          </a:xfrm>
          <a:prstGeom prst="flowChartInternalStorage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0076427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 Reserve</a:t>
            </a:r>
            <a:endParaRPr lang="en-US" sz="650" dirty="0"/>
          </a:p>
        </p:txBody>
      </p:sp>
      <p:sp>
        <p:nvSpPr>
          <p:cNvPr id="86" name="Text 84"/>
          <p:cNvSpPr/>
          <p:nvPr/>
        </p:nvSpPr>
        <p:spPr>
          <a:xfrm>
            <a:off x="10076427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 Reserve · Internal Storage</a:t>
            </a:r>
            <a:endParaRPr lang="en-US" sz="550" dirty="0"/>
          </a:p>
        </p:txBody>
      </p:sp>
      <p:sp>
        <p:nvSpPr>
          <p:cNvPr id="87" name="Shape 85"/>
          <p:cNvSpPr/>
          <p:nvPr/>
        </p:nvSpPr>
        <p:spPr>
          <a:xfrm>
            <a:off x="1210796" y="4642409"/>
            <a:ext cx="260604" cy="243230"/>
          </a:xfrm>
          <a:prstGeom prst="flowChartOnlineStorage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66928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SCADA Data</a:t>
            </a:r>
            <a:endParaRPr lang="en-US" sz="650" dirty="0"/>
          </a:p>
        </p:txBody>
      </p:sp>
      <p:sp>
        <p:nvSpPr>
          <p:cNvPr id="89" name="Text 87"/>
          <p:cNvSpPr/>
          <p:nvPr/>
        </p:nvSpPr>
        <p:spPr>
          <a:xfrm>
            <a:off x="566928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SCADA Data · Telemetry</a:t>
            </a:r>
            <a:endParaRPr lang="en-US" sz="550" dirty="0"/>
          </a:p>
        </p:txBody>
      </p:sp>
      <p:sp>
        <p:nvSpPr>
          <p:cNvPr id="90" name="Shape 88"/>
          <p:cNvSpPr/>
          <p:nvPr/>
        </p:nvSpPr>
        <p:spPr>
          <a:xfrm>
            <a:off x="2769652" y="4642409"/>
            <a:ext cx="312725" cy="243230"/>
          </a:xfrm>
          <a:prstGeom prst="flowChartMultidocument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2151844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Filings</a:t>
            </a:r>
            <a:endParaRPr lang="en-US" sz="650" dirty="0"/>
          </a:p>
        </p:txBody>
      </p:sp>
      <p:sp>
        <p:nvSpPr>
          <p:cNvPr id="92" name="Text 90"/>
          <p:cNvSpPr/>
          <p:nvPr/>
        </p:nvSpPr>
        <p:spPr>
          <a:xfrm>
            <a:off x="2151844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Filings · Compliance Docs</a:t>
            </a:r>
            <a:endParaRPr lang="en-US" sz="550" dirty="0"/>
          </a:p>
        </p:txBody>
      </p:sp>
      <p:sp>
        <p:nvSpPr>
          <p:cNvPr id="93" name="Shape 91"/>
          <p:cNvSpPr/>
          <p:nvPr/>
        </p:nvSpPr>
        <p:spPr>
          <a:xfrm>
            <a:off x="4371942" y="4642409"/>
            <a:ext cx="277978" cy="243230"/>
          </a:xfrm>
          <a:prstGeom prst="flowChartManualOperation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3736761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Switching</a:t>
            </a:r>
            <a:endParaRPr lang="en-US" sz="650" dirty="0"/>
          </a:p>
        </p:txBody>
      </p:sp>
      <p:sp>
        <p:nvSpPr>
          <p:cNvPr id="95" name="Text 93"/>
          <p:cNvSpPr/>
          <p:nvPr/>
        </p:nvSpPr>
        <p:spPr>
          <a:xfrm>
            <a:off x="3736761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Field Switching · Isolation</a:t>
            </a:r>
            <a:endParaRPr lang="en-US" sz="550" dirty="0"/>
          </a:p>
        </p:txBody>
      </p:sp>
      <p:sp>
        <p:nvSpPr>
          <p:cNvPr id="96" name="Shape 94"/>
          <p:cNvSpPr/>
          <p:nvPr/>
        </p:nvSpPr>
        <p:spPr>
          <a:xfrm>
            <a:off x="5939485" y="4607662"/>
            <a:ext cx="312725" cy="312725"/>
          </a:xfrm>
          <a:prstGeom prst="quadArrow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5321677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Interconnection</a:t>
            </a:r>
            <a:endParaRPr lang="en-US" sz="650" dirty="0"/>
          </a:p>
        </p:txBody>
      </p:sp>
      <p:sp>
        <p:nvSpPr>
          <p:cNvPr id="98" name="Text 96"/>
          <p:cNvSpPr/>
          <p:nvPr/>
        </p:nvSpPr>
        <p:spPr>
          <a:xfrm>
            <a:off x="5321677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Interconnection · Multi-Feed</a:t>
            </a:r>
            <a:endParaRPr lang="en-US" sz="550" dirty="0"/>
          </a:p>
        </p:txBody>
      </p:sp>
      <p:sp>
        <p:nvSpPr>
          <p:cNvPr id="99" name="Shape 97"/>
          <p:cNvSpPr/>
          <p:nvPr/>
        </p:nvSpPr>
        <p:spPr>
          <a:xfrm>
            <a:off x="7533088" y="4659782"/>
            <a:ext cx="295351" cy="208483"/>
          </a:xfrm>
          <a:prstGeom prst="rightArrow">
            <a:avLst/>
          </a:prstGeom>
          <a:solidFill>
            <a:srgbClr val="C89B3C"/>
          </a:solidFill>
          <a:ln/>
        </p:spPr>
      </p:sp>
      <p:sp>
        <p:nvSpPr>
          <p:cNvPr id="100" name="Text 98"/>
          <p:cNvSpPr/>
          <p:nvPr/>
        </p:nvSpPr>
        <p:spPr>
          <a:xfrm>
            <a:off x="6906594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Growth</a:t>
            </a:r>
            <a:endParaRPr lang="en-US" sz="650" dirty="0"/>
          </a:p>
        </p:txBody>
      </p:sp>
      <p:sp>
        <p:nvSpPr>
          <p:cNvPr id="101" name="Text 99"/>
          <p:cNvSpPr/>
          <p:nvPr/>
        </p:nvSpPr>
        <p:spPr>
          <a:xfrm>
            <a:off x="6906594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Growth · Expansion</a:t>
            </a:r>
            <a:endParaRPr lang="en-US" sz="550" dirty="0"/>
          </a:p>
        </p:txBody>
      </p:sp>
      <p:sp>
        <p:nvSpPr>
          <p:cNvPr id="102" name="Shape 100"/>
          <p:cNvSpPr/>
          <p:nvPr/>
        </p:nvSpPr>
        <p:spPr>
          <a:xfrm>
            <a:off x="9118005" y="4616348"/>
            <a:ext cx="295351" cy="295351"/>
          </a:xfrm>
          <a:prstGeom prst="noSmoking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8491510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 Area</a:t>
            </a:r>
            <a:endParaRPr lang="en-US" sz="650" dirty="0"/>
          </a:p>
        </p:txBody>
      </p:sp>
      <p:sp>
        <p:nvSpPr>
          <p:cNvPr id="104" name="Text 102"/>
          <p:cNvSpPr/>
          <p:nvPr/>
        </p:nvSpPr>
        <p:spPr>
          <a:xfrm>
            <a:off x="8491510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 Area · Restricted Zone</a:t>
            </a:r>
            <a:endParaRPr lang="en-US" sz="550" dirty="0"/>
          </a:p>
        </p:txBody>
      </p:sp>
      <p:sp>
        <p:nvSpPr>
          <p:cNvPr id="105" name="Shape 103"/>
          <p:cNvSpPr/>
          <p:nvPr/>
        </p:nvSpPr>
        <p:spPr>
          <a:xfrm>
            <a:off x="10711608" y="4625035"/>
            <a:ext cx="277978" cy="277978"/>
          </a:xfrm>
          <a:prstGeom prst="rtTriangle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10076427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Demand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10076427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Demand · Load Ramp</a:t>
            </a:r>
            <a:endParaRPr lang="en-US" sz="550" dirty="0"/>
          </a:p>
        </p:txBody>
      </p:sp>
      <p:sp>
        <p:nvSpPr>
          <p:cNvPr id="108" name="Shape 106"/>
          <p:cNvSpPr/>
          <p:nvPr/>
        </p:nvSpPr>
        <p:spPr>
          <a:xfrm>
            <a:off x="1210796" y="5657850"/>
            <a:ext cx="260604" cy="260604"/>
          </a:xfrm>
          <a:prstGeom prst="flowChartSummingJunction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66928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Substation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566928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Substation · Aggregation Node</a:t>
            </a:r>
            <a:endParaRPr lang="en-US" sz="550" dirty="0"/>
          </a:p>
        </p:txBody>
      </p:sp>
      <p:sp>
        <p:nvSpPr>
          <p:cNvPr id="111" name="Shape 109"/>
          <p:cNvSpPr/>
          <p:nvPr/>
        </p:nvSpPr>
        <p:spPr>
          <a:xfrm>
            <a:off x="2787026" y="5649163"/>
            <a:ext cx="277978" cy="277978"/>
          </a:xfrm>
          <a:prstGeom prst="star4">
            <a:avLst/>
          </a:prstGeom>
          <a:solidFill>
            <a:srgbClr val="C89B3C"/>
          </a:solidFill>
          <a:ln/>
        </p:spPr>
      </p:sp>
      <p:sp>
        <p:nvSpPr>
          <p:cNvPr id="112" name="Text 110"/>
          <p:cNvSpPr/>
          <p:nvPr/>
        </p:nvSpPr>
        <p:spPr>
          <a:xfrm>
            <a:off x="2151844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Capacity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2151844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Capacity · Commissioning</a:t>
            </a:r>
            <a:endParaRPr lang="en-US" sz="550" dirty="0"/>
          </a:p>
        </p:txBody>
      </p:sp>
      <p:sp>
        <p:nvSpPr>
          <p:cNvPr id="114" name="Shape 112"/>
          <p:cNvSpPr/>
          <p:nvPr/>
        </p:nvSpPr>
        <p:spPr>
          <a:xfrm>
            <a:off x="4354569" y="5683910"/>
            <a:ext cx="312725" cy="208483"/>
          </a:xfrm>
          <a:prstGeom prst="notchedRightArrow">
            <a:avLst/>
          </a:prstGeom>
          <a:solidFill>
            <a:srgbClr val="C89B3C"/>
          </a:solidFill>
          <a:ln/>
        </p:spPr>
      </p:sp>
      <p:sp>
        <p:nvSpPr>
          <p:cNvPr id="115" name="Text 113"/>
          <p:cNvSpPr/>
          <p:nvPr/>
        </p:nvSpPr>
        <p:spPr>
          <a:xfrm>
            <a:off x="3736761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Response</a:t>
            </a:r>
            <a:endParaRPr lang="en-US" sz="650" dirty="0"/>
          </a:p>
        </p:txBody>
      </p:sp>
      <p:sp>
        <p:nvSpPr>
          <p:cNvPr id="116" name="Text 114"/>
          <p:cNvSpPr/>
          <p:nvPr/>
        </p:nvSpPr>
        <p:spPr>
          <a:xfrm>
            <a:off x="3736761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Response · Fast Ramp</a:t>
            </a:r>
            <a:endParaRPr lang="en-US" sz="550" dirty="0"/>
          </a:p>
        </p:txBody>
      </p:sp>
      <p:sp>
        <p:nvSpPr>
          <p:cNvPr id="117" name="Shape 115"/>
          <p:cNvSpPr/>
          <p:nvPr/>
        </p:nvSpPr>
        <p:spPr>
          <a:xfrm>
            <a:off x="5930798" y="5692597"/>
            <a:ext cx="330098" cy="191110"/>
          </a:xfrm>
          <a:prstGeom prst="leftRightArrow">
            <a:avLst/>
          </a:prstGeom>
          <a:solidFill>
            <a:srgbClr val="C89B3C"/>
          </a:solidFill>
          <a:ln/>
        </p:spPr>
      </p:sp>
      <p:sp>
        <p:nvSpPr>
          <p:cNvPr id="118" name="Text 116"/>
          <p:cNvSpPr/>
          <p:nvPr/>
        </p:nvSpPr>
        <p:spPr>
          <a:xfrm>
            <a:off x="5321677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Flow</a:t>
            </a:r>
            <a:endParaRPr lang="en-US" sz="650" dirty="0"/>
          </a:p>
        </p:txBody>
      </p:sp>
      <p:sp>
        <p:nvSpPr>
          <p:cNvPr id="119" name="Text 117"/>
          <p:cNvSpPr/>
          <p:nvPr/>
        </p:nvSpPr>
        <p:spPr>
          <a:xfrm>
            <a:off x="5321677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Power Flow · Net Metering</a:t>
            </a:r>
            <a:endParaRPr lang="en-US" sz="550" dirty="0"/>
          </a:p>
        </p:txBody>
      </p:sp>
      <p:sp>
        <p:nvSpPr>
          <p:cNvPr id="120" name="Shape 118"/>
          <p:cNvSpPr/>
          <p:nvPr/>
        </p:nvSpPr>
        <p:spPr>
          <a:xfrm>
            <a:off x="7550462" y="5657850"/>
            <a:ext cx="260604" cy="260604"/>
          </a:xfrm>
          <a:prstGeom prst="flowChartOfflineStorage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6906594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Reserve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6906594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Reserve · Backup Fuel</a:t>
            </a:r>
            <a:endParaRPr lang="en-US" sz="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Professional Services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unique icons — every one is a distinct native PowerPoint shape, none repeated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184736" y="1535278"/>
            <a:ext cx="312725" cy="312725"/>
          </a:xfrm>
          <a:prstGeom prst="ellipse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54230" y="1604772"/>
            <a:ext cx="173736" cy="173736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16775" y="1667317"/>
            <a:ext cx="48646" cy="4864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566928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· Focus · Goals</a:t>
            </a:r>
            <a:endParaRPr lang="en-US" sz="550" dirty="0"/>
          </a:p>
        </p:txBody>
      </p:sp>
      <p:sp>
        <p:nvSpPr>
          <p:cNvPr id="9" name="Shape 7"/>
          <p:cNvSpPr/>
          <p:nvPr/>
        </p:nvSpPr>
        <p:spPr>
          <a:xfrm>
            <a:off x="2778339" y="1630832"/>
            <a:ext cx="295351" cy="182423"/>
          </a:xfrm>
          <a:prstGeom prst="roundRect">
            <a:avLst>
              <a:gd name="adj" fmla="val 50125"/>
            </a:avLst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56520" y="1526591"/>
            <a:ext cx="138989" cy="138989"/>
          </a:xfrm>
          <a:prstGeom prst="arc">
            <a:avLst>
              <a:gd name="adj1" fmla="val 10800000"/>
              <a:gd name="adj2" fmla="val 21600000"/>
            </a:avLst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51844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2151844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 · Consulting · Professional Services</a:t>
            </a:r>
            <a:endParaRPr lang="en-US" sz="550" dirty="0"/>
          </a:p>
        </p:txBody>
      </p:sp>
      <p:sp>
        <p:nvSpPr>
          <p:cNvPr id="13" name="Shape 11"/>
          <p:cNvSpPr/>
          <p:nvPr/>
        </p:nvSpPr>
        <p:spPr>
          <a:xfrm>
            <a:off x="4363256" y="1543964"/>
            <a:ext cx="295351" cy="295351"/>
          </a:xfrm>
          <a:prstGeom prst="pie">
            <a:avLst>
              <a:gd name="adj1" fmla="val 16200000"/>
              <a:gd name="adj2" fmla="val 5400000"/>
            </a:avLst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36761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3736761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 · Analytics · Reporting</a:t>
            </a:r>
            <a:endParaRPr lang="en-US" sz="550" dirty="0"/>
          </a:p>
        </p:txBody>
      </p:sp>
      <p:sp>
        <p:nvSpPr>
          <p:cNvPr id="16" name="Shape 14"/>
          <p:cNvSpPr/>
          <p:nvPr/>
        </p:nvSpPr>
        <p:spPr>
          <a:xfrm>
            <a:off x="5939485" y="1590873"/>
            <a:ext cx="201534" cy="201534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50676" y="1590873"/>
            <a:ext cx="201534" cy="201534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21677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5321677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 · Collaboration · Alliance</a:t>
            </a:r>
            <a:endParaRPr lang="en-US" sz="550" dirty="0"/>
          </a:p>
        </p:txBody>
      </p:sp>
      <p:sp>
        <p:nvSpPr>
          <p:cNvPr id="20" name="Shape 18"/>
          <p:cNvSpPr/>
          <p:nvPr/>
        </p:nvSpPr>
        <p:spPr>
          <a:xfrm>
            <a:off x="7576522" y="1535278"/>
            <a:ext cx="208483" cy="312725"/>
          </a:xfrm>
          <a:prstGeom prst="roundRect">
            <a:avLst>
              <a:gd name="adj" fmla="val 26316"/>
            </a:avLst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19956" y="1630832"/>
            <a:ext cx="121615" cy="914"/>
          </a:xfrm>
          <a:prstGeom prst="line">
            <a:avLst/>
          </a:prstGeom>
          <a:noFill/>
          <a:ln w="13970">
            <a:solidFill>
              <a:srgbClr val="C89B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19956" y="1691640"/>
            <a:ext cx="121615" cy="914"/>
          </a:xfrm>
          <a:prstGeom prst="line">
            <a:avLst/>
          </a:prstGeom>
          <a:noFill/>
          <a:ln w="13970">
            <a:solidFill>
              <a:srgbClr val="C89B3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19956" y="1752448"/>
            <a:ext cx="121615" cy="914"/>
          </a:xfrm>
          <a:prstGeom prst="line">
            <a:avLst/>
          </a:prstGeom>
          <a:noFill/>
          <a:ln w="13970">
            <a:solidFill>
              <a:srgbClr val="C89B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06594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6906594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· Statement of Work</a:t>
            </a:r>
            <a:endParaRPr lang="en-US" sz="550" dirty="0"/>
          </a:p>
        </p:txBody>
      </p:sp>
      <p:sp>
        <p:nvSpPr>
          <p:cNvPr id="26" name="Shape 24"/>
          <p:cNvSpPr/>
          <p:nvPr/>
        </p:nvSpPr>
        <p:spPr>
          <a:xfrm>
            <a:off x="9144065" y="1535278"/>
            <a:ext cx="243230" cy="312725"/>
          </a:xfrm>
          <a:prstGeom prst="roundRect">
            <a:avLst>
              <a:gd name="adj" fmla="val 22556"/>
            </a:avLst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96186" y="1622146"/>
            <a:ext cx="31272" cy="24323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9227459" y="1587398"/>
            <a:ext cx="46909" cy="59070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96186" y="1700327"/>
            <a:ext cx="31272" cy="24323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9227459" y="1665580"/>
            <a:ext cx="46909" cy="59070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196186" y="1778508"/>
            <a:ext cx="31272" cy="24323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9227459" y="1743761"/>
            <a:ext cx="46909" cy="59070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491510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Plan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8491510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Plan · Milestones · Checklist</a:t>
            </a:r>
            <a:endParaRPr lang="en-US" sz="550" dirty="0"/>
          </a:p>
        </p:txBody>
      </p:sp>
      <p:sp>
        <p:nvSpPr>
          <p:cNvPr id="35" name="Shape 33"/>
          <p:cNvSpPr/>
          <p:nvPr/>
        </p:nvSpPr>
        <p:spPr>
          <a:xfrm>
            <a:off x="10711608" y="1570025"/>
            <a:ext cx="277978" cy="260604"/>
          </a:xfrm>
          <a:prstGeom prst="roundRect">
            <a:avLst>
              <a:gd name="adj" fmla="val 21053"/>
            </a:avLst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711608" y="1648206"/>
            <a:ext cx="277978" cy="914"/>
          </a:xfrm>
          <a:prstGeom prst="line">
            <a:avLst/>
          </a:prstGeom>
          <a:noFill/>
          <a:ln w="17780">
            <a:solidFill>
              <a:srgbClr val="C89B3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781103" y="1535278"/>
            <a:ext cx="17374" cy="52121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38" name="Shape 36"/>
          <p:cNvSpPr/>
          <p:nvPr/>
        </p:nvSpPr>
        <p:spPr>
          <a:xfrm>
            <a:off x="10902718" y="1535278"/>
            <a:ext cx="17374" cy="52121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39" name="Text 37"/>
          <p:cNvSpPr/>
          <p:nvPr/>
        </p:nvSpPr>
        <p:spPr>
          <a:xfrm>
            <a:off x="10076427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10076427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Timeline · Scheduling</a:t>
            </a:r>
            <a:endParaRPr lang="en-US" sz="550" dirty="0"/>
          </a:p>
        </p:txBody>
      </p:sp>
      <p:sp>
        <p:nvSpPr>
          <p:cNvPr id="41" name="Shape 39"/>
          <p:cNvSpPr/>
          <p:nvPr/>
        </p:nvSpPr>
        <p:spPr>
          <a:xfrm>
            <a:off x="1236857" y="2606314"/>
            <a:ext cx="97292" cy="97292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216008" y="2707081"/>
            <a:ext cx="138989" cy="130302"/>
          </a:xfrm>
          <a:prstGeom prst="arc">
            <a:avLst>
              <a:gd name="adj1" fmla="val 10800000"/>
              <a:gd name="adj2" fmla="val 21600000"/>
            </a:avLst>
          </a:prstGeom>
          <a:ln w="17780">
            <a:solidFill>
              <a:srgbClr val="C89B3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348048" y="2606314"/>
            <a:ext cx="97292" cy="97292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327199" y="2707081"/>
            <a:ext cx="138989" cy="130302"/>
          </a:xfrm>
          <a:prstGeom prst="arc">
            <a:avLst>
              <a:gd name="adj1" fmla="val 10800000"/>
              <a:gd name="adj2" fmla="val 21600000"/>
            </a:avLst>
          </a:prstGeom>
          <a:ln w="17780">
            <a:solidFill>
              <a:srgbClr val="C89B3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66928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650" dirty="0"/>
          </a:p>
        </p:txBody>
      </p:sp>
      <p:sp>
        <p:nvSpPr>
          <p:cNvPr id="46" name="Text 44"/>
          <p:cNvSpPr/>
          <p:nvPr/>
        </p:nvSpPr>
        <p:spPr>
          <a:xfrm>
            <a:off x="566928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Team · Stakeholders</a:t>
            </a:r>
            <a:endParaRPr lang="en-US" sz="550" dirty="0"/>
          </a:p>
        </p:txBody>
      </p:sp>
      <p:sp>
        <p:nvSpPr>
          <p:cNvPr id="47" name="Shape 45"/>
          <p:cNvSpPr/>
          <p:nvPr/>
        </p:nvSpPr>
        <p:spPr>
          <a:xfrm>
            <a:off x="2760965" y="2585466"/>
            <a:ext cx="330098" cy="260604"/>
          </a:xfrm>
          <a:prstGeom prst="roundRect">
            <a:avLst>
              <a:gd name="adj" fmla="val 28070"/>
            </a:avLst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821773" y="2654960"/>
            <a:ext cx="138989" cy="138989"/>
          </a:xfrm>
          <a:prstGeom prst="pie">
            <a:avLst>
              <a:gd name="adj1" fmla="val 16200000"/>
              <a:gd name="adj2" fmla="val 5400000"/>
            </a:avLst>
          </a:prstGeom>
          <a:ln w="15875">
            <a:solidFill>
              <a:srgbClr val="C89B3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151844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Dashboard</a:t>
            </a:r>
            <a:endParaRPr lang="en-US" sz="650" dirty="0"/>
          </a:p>
        </p:txBody>
      </p:sp>
      <p:sp>
        <p:nvSpPr>
          <p:cNvPr id="50" name="Text 48"/>
          <p:cNvSpPr/>
          <p:nvPr/>
        </p:nvSpPr>
        <p:spPr>
          <a:xfrm>
            <a:off x="2151844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Reporting · Dashboard</a:t>
            </a:r>
            <a:endParaRPr lang="en-US" sz="550" dirty="0"/>
          </a:p>
        </p:txBody>
      </p:sp>
      <p:sp>
        <p:nvSpPr>
          <p:cNvPr id="51" name="Shape 49"/>
          <p:cNvSpPr/>
          <p:nvPr/>
        </p:nvSpPr>
        <p:spPr>
          <a:xfrm>
            <a:off x="4354569" y="2602840"/>
            <a:ext cx="312725" cy="225857"/>
          </a:xfrm>
          <a:prstGeom prst="wedgeRoundRectCallout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6761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</a:t>
            </a:r>
            <a:endParaRPr lang="en-US" sz="650" dirty="0"/>
          </a:p>
        </p:txBody>
      </p:sp>
      <p:sp>
        <p:nvSpPr>
          <p:cNvPr id="53" name="Text 51"/>
          <p:cNvSpPr/>
          <p:nvPr/>
        </p:nvSpPr>
        <p:spPr>
          <a:xfrm>
            <a:off x="3736761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 · Advisory Discussion</a:t>
            </a:r>
            <a:endParaRPr lang="en-US" sz="550" dirty="0"/>
          </a:p>
        </p:txBody>
      </p:sp>
      <p:sp>
        <p:nvSpPr>
          <p:cNvPr id="54" name="Shape 52"/>
          <p:cNvSpPr/>
          <p:nvPr/>
        </p:nvSpPr>
        <p:spPr>
          <a:xfrm>
            <a:off x="5948172" y="2568092"/>
            <a:ext cx="295351" cy="295351"/>
          </a:xfrm>
          <a:prstGeom prst="irregularSeal1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321677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</a:t>
            </a:r>
            <a:endParaRPr lang="en-US" sz="650" dirty="0"/>
          </a:p>
        </p:txBody>
      </p:sp>
      <p:sp>
        <p:nvSpPr>
          <p:cNvPr id="56" name="Text 54"/>
          <p:cNvSpPr/>
          <p:nvPr/>
        </p:nvSpPr>
        <p:spPr>
          <a:xfrm>
            <a:off x="5321677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· Accreditation</a:t>
            </a:r>
            <a:endParaRPr lang="en-US" sz="550" dirty="0"/>
          </a:p>
        </p:txBody>
      </p:sp>
      <p:sp>
        <p:nvSpPr>
          <p:cNvPr id="57" name="Shape 55"/>
          <p:cNvSpPr/>
          <p:nvPr/>
        </p:nvSpPr>
        <p:spPr>
          <a:xfrm>
            <a:off x="7533088" y="2568092"/>
            <a:ext cx="295351" cy="295351"/>
          </a:xfrm>
          <a:prstGeom prst="star5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906594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Satisfaction</a:t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6906594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Satisfaction · NPS · Rating</a:t>
            </a:r>
            <a:endParaRPr lang="en-US" sz="550" dirty="0"/>
          </a:p>
        </p:txBody>
      </p:sp>
      <p:sp>
        <p:nvSpPr>
          <p:cNvPr id="60" name="Shape 58"/>
          <p:cNvSpPr/>
          <p:nvPr/>
        </p:nvSpPr>
        <p:spPr>
          <a:xfrm>
            <a:off x="9109318" y="2611526"/>
            <a:ext cx="312725" cy="208483"/>
          </a:xfrm>
          <a:prstGeom prst="chevron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491510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650" dirty="0"/>
          </a:p>
        </p:txBody>
      </p:sp>
      <p:sp>
        <p:nvSpPr>
          <p:cNvPr id="62" name="Text 60"/>
          <p:cNvSpPr/>
          <p:nvPr/>
        </p:nvSpPr>
        <p:spPr>
          <a:xfrm>
            <a:off x="8491510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· Next Steps · Direction</a:t>
            </a:r>
            <a:endParaRPr lang="en-US" sz="550" dirty="0"/>
          </a:p>
        </p:txBody>
      </p:sp>
      <p:sp>
        <p:nvSpPr>
          <p:cNvPr id="63" name="Shape 61"/>
          <p:cNvSpPr/>
          <p:nvPr/>
        </p:nvSpPr>
        <p:spPr>
          <a:xfrm>
            <a:off x="10711608" y="2576779"/>
            <a:ext cx="277978" cy="277978"/>
          </a:xfrm>
          <a:prstGeom prst="diamond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076427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10076427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 · Focus Areas</a:t>
            </a:r>
            <a:endParaRPr lang="en-US" sz="550" dirty="0"/>
          </a:p>
        </p:txBody>
      </p:sp>
      <p:sp>
        <p:nvSpPr>
          <p:cNvPr id="66" name="Shape 64"/>
          <p:cNvSpPr/>
          <p:nvPr/>
        </p:nvSpPr>
        <p:spPr>
          <a:xfrm>
            <a:off x="1176049" y="3626968"/>
            <a:ext cx="330098" cy="225857"/>
          </a:xfrm>
          <a:prstGeom prst="ribbon2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66928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</a:t>
            </a:r>
            <a:endParaRPr lang="en-US" sz="650" dirty="0"/>
          </a:p>
        </p:txBody>
      </p:sp>
      <p:sp>
        <p:nvSpPr>
          <p:cNvPr id="68" name="Text 66"/>
          <p:cNvSpPr/>
          <p:nvPr/>
        </p:nvSpPr>
        <p:spPr>
          <a:xfrm>
            <a:off x="566928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 · Awards · Distinction</a:t>
            </a:r>
            <a:endParaRPr lang="en-US" sz="550" dirty="0"/>
          </a:p>
        </p:txBody>
      </p:sp>
      <p:sp>
        <p:nvSpPr>
          <p:cNvPr id="69" name="Shape 67"/>
          <p:cNvSpPr/>
          <p:nvPr/>
        </p:nvSpPr>
        <p:spPr>
          <a:xfrm>
            <a:off x="2856520" y="3574847"/>
            <a:ext cx="138989" cy="330098"/>
          </a:xfrm>
          <a:prstGeom prst="roundRect">
            <a:avLst>
              <a:gd name="adj" fmla="val 131579"/>
            </a:avLst>
          </a:prstGeom>
          <a:ln w="21590">
            <a:solidFill>
              <a:srgbClr val="C89B3C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910378" y="3837188"/>
            <a:ext cx="31272" cy="312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71" name="Text 69"/>
          <p:cNvSpPr/>
          <p:nvPr/>
        </p:nvSpPr>
        <p:spPr>
          <a:xfrm>
            <a:off x="2151844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Line</a:t>
            </a:r>
            <a:endParaRPr lang="en-US" sz="650" dirty="0"/>
          </a:p>
        </p:txBody>
      </p:sp>
      <p:sp>
        <p:nvSpPr>
          <p:cNvPr id="72" name="Text 70"/>
          <p:cNvSpPr/>
          <p:nvPr/>
        </p:nvSpPr>
        <p:spPr>
          <a:xfrm>
            <a:off x="2151844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Relationship · Contact</a:t>
            </a:r>
            <a:endParaRPr lang="en-US" sz="550" dirty="0"/>
          </a:p>
        </p:txBody>
      </p:sp>
      <p:sp>
        <p:nvSpPr>
          <p:cNvPr id="73" name="Shape 71"/>
          <p:cNvSpPr/>
          <p:nvPr/>
        </p:nvSpPr>
        <p:spPr>
          <a:xfrm>
            <a:off x="4424063" y="3583534"/>
            <a:ext cx="173736" cy="312725"/>
          </a:xfrm>
          <a:prstGeom prst="bracePair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736761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</a:t>
            </a:r>
            <a:endParaRPr lang="en-US" sz="650" dirty="0"/>
          </a:p>
        </p:txBody>
      </p:sp>
      <p:sp>
        <p:nvSpPr>
          <p:cNvPr id="75" name="Text 73"/>
          <p:cNvSpPr/>
          <p:nvPr/>
        </p:nvSpPr>
        <p:spPr>
          <a:xfrm>
            <a:off x="3736761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 Alignment · Grouping</a:t>
            </a:r>
            <a:endParaRPr lang="en-US" sz="550" dirty="0"/>
          </a:p>
        </p:txBody>
      </p:sp>
      <p:sp>
        <p:nvSpPr>
          <p:cNvPr id="76" name="Shape 74"/>
          <p:cNvSpPr/>
          <p:nvPr/>
        </p:nvSpPr>
        <p:spPr>
          <a:xfrm>
            <a:off x="5948172" y="3644341"/>
            <a:ext cx="295351" cy="191110"/>
          </a:xfrm>
          <a:prstGeom prst="rect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5948172" y="3644341"/>
            <a:ext cx="147676" cy="112928"/>
          </a:xfrm>
          <a:prstGeom prst="line">
            <a:avLst/>
          </a:prstGeom>
          <a:noFill/>
          <a:ln w="17780">
            <a:solidFill>
              <a:srgbClr val="C89B3C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6095848" y="3644341"/>
            <a:ext cx="147676" cy="112928"/>
          </a:xfrm>
          <a:prstGeom prst="line">
            <a:avLst/>
          </a:prstGeom>
          <a:noFill/>
          <a:ln w="17780">
            <a:solidFill>
              <a:srgbClr val="C89B3C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5321677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Correspondence</a:t>
            </a:r>
            <a:endParaRPr lang="en-US" sz="650" dirty="0"/>
          </a:p>
        </p:txBody>
      </p:sp>
      <p:sp>
        <p:nvSpPr>
          <p:cNvPr id="80" name="Text 78"/>
          <p:cNvSpPr/>
          <p:nvPr/>
        </p:nvSpPr>
        <p:spPr>
          <a:xfrm>
            <a:off x="5321677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Correspondence · Updates</a:t>
            </a:r>
            <a:endParaRPr lang="en-US" sz="550" dirty="0"/>
          </a:p>
        </p:txBody>
      </p:sp>
      <p:sp>
        <p:nvSpPr>
          <p:cNvPr id="81" name="Shape 79"/>
          <p:cNvSpPr/>
          <p:nvPr/>
        </p:nvSpPr>
        <p:spPr>
          <a:xfrm>
            <a:off x="7524402" y="3618281"/>
            <a:ext cx="312725" cy="243230"/>
          </a:xfrm>
          <a:prstGeom prst="flowChartDecision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906594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Decision</a:t>
            </a:r>
            <a:endParaRPr lang="en-US" sz="650" dirty="0"/>
          </a:p>
        </p:txBody>
      </p:sp>
      <p:sp>
        <p:nvSpPr>
          <p:cNvPr id="83" name="Text 81"/>
          <p:cNvSpPr/>
          <p:nvPr/>
        </p:nvSpPr>
        <p:spPr>
          <a:xfrm>
            <a:off x="6906594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Go/No-Go</a:t>
            </a:r>
            <a:endParaRPr lang="en-US" sz="550" dirty="0"/>
          </a:p>
        </p:txBody>
      </p:sp>
      <p:sp>
        <p:nvSpPr>
          <p:cNvPr id="84" name="Shape 82"/>
          <p:cNvSpPr/>
          <p:nvPr/>
        </p:nvSpPr>
        <p:spPr>
          <a:xfrm>
            <a:off x="9109318" y="3626968"/>
            <a:ext cx="312725" cy="225857"/>
          </a:xfrm>
          <a:prstGeom prst="flowChartProcess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8491510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Step</a:t>
            </a:r>
            <a:endParaRPr lang="en-US" sz="650" dirty="0"/>
          </a:p>
        </p:txBody>
      </p:sp>
      <p:sp>
        <p:nvSpPr>
          <p:cNvPr id="86" name="Text 84"/>
          <p:cNvSpPr/>
          <p:nvPr/>
        </p:nvSpPr>
        <p:spPr>
          <a:xfrm>
            <a:off x="8491510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Step · Delivery Process</a:t>
            </a:r>
            <a:endParaRPr lang="en-US" sz="550" dirty="0"/>
          </a:p>
        </p:txBody>
      </p:sp>
      <p:sp>
        <p:nvSpPr>
          <p:cNvPr id="87" name="Shape 85"/>
          <p:cNvSpPr/>
          <p:nvPr/>
        </p:nvSpPr>
        <p:spPr>
          <a:xfrm>
            <a:off x="10694235" y="3644341"/>
            <a:ext cx="312725" cy="191110"/>
          </a:xfrm>
          <a:prstGeom prst="flowChartTerminator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10076427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Boundary</a:t>
            </a:r>
            <a:endParaRPr lang="en-US" sz="650" dirty="0"/>
          </a:p>
        </p:txBody>
      </p:sp>
      <p:sp>
        <p:nvSpPr>
          <p:cNvPr id="89" name="Text 87"/>
          <p:cNvSpPr/>
          <p:nvPr/>
        </p:nvSpPr>
        <p:spPr>
          <a:xfrm>
            <a:off x="10076427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Kickoff/Close</a:t>
            </a:r>
            <a:endParaRPr lang="en-US" sz="550" dirty="0"/>
          </a:p>
        </p:txBody>
      </p:sp>
      <p:sp>
        <p:nvSpPr>
          <p:cNvPr id="90" name="Shape 88"/>
          <p:cNvSpPr/>
          <p:nvPr/>
        </p:nvSpPr>
        <p:spPr>
          <a:xfrm>
            <a:off x="1184736" y="4642409"/>
            <a:ext cx="312725" cy="243230"/>
          </a:xfrm>
          <a:prstGeom prst="flowChartMultidocument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66928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 Package</a:t>
            </a:r>
            <a:endParaRPr lang="en-US" sz="650" dirty="0"/>
          </a:p>
        </p:txBody>
      </p:sp>
      <p:sp>
        <p:nvSpPr>
          <p:cNvPr id="92" name="Text 90"/>
          <p:cNvSpPr/>
          <p:nvPr/>
        </p:nvSpPr>
        <p:spPr>
          <a:xfrm>
            <a:off x="566928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 Package · Reports</a:t>
            </a:r>
            <a:endParaRPr lang="en-US" sz="550" dirty="0"/>
          </a:p>
        </p:txBody>
      </p:sp>
      <p:sp>
        <p:nvSpPr>
          <p:cNvPr id="93" name="Shape 91"/>
          <p:cNvSpPr/>
          <p:nvPr/>
        </p:nvSpPr>
        <p:spPr>
          <a:xfrm>
            <a:off x="2778339" y="4651096"/>
            <a:ext cx="295351" cy="225857"/>
          </a:xfrm>
          <a:prstGeom prst="flowChartManualInput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2151844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Interview</a:t>
            </a:r>
            <a:endParaRPr lang="en-US" sz="650" dirty="0"/>
          </a:p>
        </p:txBody>
      </p:sp>
      <p:sp>
        <p:nvSpPr>
          <p:cNvPr id="95" name="Text 93"/>
          <p:cNvSpPr/>
          <p:nvPr/>
        </p:nvSpPr>
        <p:spPr>
          <a:xfrm>
            <a:off x="2151844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Interview · Data Gathering</a:t>
            </a:r>
            <a:endParaRPr lang="en-US" sz="550" dirty="0"/>
          </a:p>
        </p:txBody>
      </p:sp>
      <p:sp>
        <p:nvSpPr>
          <p:cNvPr id="96" name="Shape 94"/>
          <p:cNvSpPr/>
          <p:nvPr/>
        </p:nvSpPr>
        <p:spPr>
          <a:xfrm>
            <a:off x="4363256" y="4659782"/>
            <a:ext cx="295351" cy="208483"/>
          </a:xfrm>
          <a:prstGeom prst="rightArrow">
            <a:avLst/>
          </a:prstGeom>
          <a:solidFill>
            <a:srgbClr val="C89B3C"/>
          </a:solidFill>
          <a:ln/>
        </p:spPr>
      </p:sp>
      <p:sp>
        <p:nvSpPr>
          <p:cNvPr id="97" name="Text 95"/>
          <p:cNvSpPr/>
          <p:nvPr/>
        </p:nvSpPr>
        <p:spPr>
          <a:xfrm>
            <a:off x="3736761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</a:t>
            </a:r>
            <a:endParaRPr lang="en-US" sz="650" dirty="0"/>
          </a:p>
        </p:txBody>
      </p:sp>
      <p:sp>
        <p:nvSpPr>
          <p:cNvPr id="98" name="Text 96"/>
          <p:cNvSpPr/>
          <p:nvPr/>
        </p:nvSpPr>
        <p:spPr>
          <a:xfrm>
            <a:off x="3736761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Progress · Milestone</a:t>
            </a:r>
            <a:endParaRPr lang="en-US" sz="550" dirty="0"/>
          </a:p>
        </p:txBody>
      </p:sp>
      <p:sp>
        <p:nvSpPr>
          <p:cNvPr id="99" name="Shape 97"/>
          <p:cNvSpPr/>
          <p:nvPr/>
        </p:nvSpPr>
        <p:spPr>
          <a:xfrm>
            <a:off x="5939485" y="4659782"/>
            <a:ext cx="312725" cy="208483"/>
          </a:xfrm>
          <a:prstGeom prst="notchedRightArrow">
            <a:avLst/>
          </a:prstGeom>
          <a:solidFill>
            <a:srgbClr val="C89B3C"/>
          </a:solidFill>
          <a:ln/>
        </p:spPr>
      </p:sp>
      <p:sp>
        <p:nvSpPr>
          <p:cNvPr id="100" name="Text 98"/>
          <p:cNvSpPr/>
          <p:nvPr/>
        </p:nvSpPr>
        <p:spPr>
          <a:xfrm>
            <a:off x="5321677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Accelerated Delivery</a:t>
            </a:r>
            <a:endParaRPr lang="en-US" sz="650" dirty="0"/>
          </a:p>
        </p:txBody>
      </p:sp>
      <p:sp>
        <p:nvSpPr>
          <p:cNvPr id="101" name="Text 99"/>
          <p:cNvSpPr/>
          <p:nvPr/>
        </p:nvSpPr>
        <p:spPr>
          <a:xfrm>
            <a:off x="5321677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Accelerated Delivery · Fast Track</a:t>
            </a:r>
            <a:endParaRPr lang="en-US" sz="550" dirty="0"/>
          </a:p>
        </p:txBody>
      </p:sp>
      <p:sp>
        <p:nvSpPr>
          <p:cNvPr id="102" name="Shape 100"/>
          <p:cNvSpPr/>
          <p:nvPr/>
        </p:nvSpPr>
        <p:spPr>
          <a:xfrm>
            <a:off x="7533088" y="4616348"/>
            <a:ext cx="295351" cy="295351"/>
          </a:xfrm>
          <a:prstGeom prst="smileyFace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6906594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Feedback</a:t>
            </a:r>
            <a:endParaRPr lang="en-US" sz="650" dirty="0"/>
          </a:p>
        </p:txBody>
      </p:sp>
      <p:sp>
        <p:nvSpPr>
          <p:cNvPr id="104" name="Text 102"/>
          <p:cNvSpPr/>
          <p:nvPr/>
        </p:nvSpPr>
        <p:spPr>
          <a:xfrm>
            <a:off x="6906594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Feedback · Satisfaction Survey</a:t>
            </a:r>
            <a:endParaRPr lang="en-US" sz="550" dirty="0"/>
          </a:p>
        </p:txBody>
      </p:sp>
      <p:sp>
        <p:nvSpPr>
          <p:cNvPr id="105" name="Shape 103"/>
          <p:cNvSpPr/>
          <p:nvPr/>
        </p:nvSpPr>
        <p:spPr>
          <a:xfrm>
            <a:off x="9126692" y="4625035"/>
            <a:ext cx="277978" cy="277978"/>
          </a:xfrm>
          <a:prstGeom prst="star4">
            <a:avLst/>
          </a:prstGeom>
          <a:solidFill>
            <a:srgbClr val="C89B3C"/>
          </a:solidFill>
          <a:ln/>
        </p:spPr>
      </p:sp>
      <p:sp>
        <p:nvSpPr>
          <p:cNvPr id="106" name="Text 104"/>
          <p:cNvSpPr/>
          <p:nvPr/>
        </p:nvSpPr>
        <p:spPr>
          <a:xfrm>
            <a:off x="8491510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Add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8491510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Value-Add · Differentiator</a:t>
            </a:r>
            <a:endParaRPr lang="en-US" sz="550" dirty="0"/>
          </a:p>
        </p:txBody>
      </p:sp>
      <p:sp>
        <p:nvSpPr>
          <p:cNvPr id="108" name="Shape 106"/>
          <p:cNvSpPr/>
          <p:nvPr/>
        </p:nvSpPr>
        <p:spPr>
          <a:xfrm>
            <a:off x="10720295" y="4633722"/>
            <a:ext cx="260604" cy="260604"/>
          </a:xfrm>
          <a:prstGeom prst="flowChartSummingJunction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0076427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Synthesis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10076427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Synthesis · Aggregation</a:t>
            </a:r>
            <a:endParaRPr lang="en-US" sz="550" dirty="0"/>
          </a:p>
        </p:txBody>
      </p:sp>
      <p:sp>
        <p:nvSpPr>
          <p:cNvPr id="111" name="Shape 109"/>
          <p:cNvSpPr/>
          <p:nvPr/>
        </p:nvSpPr>
        <p:spPr>
          <a:xfrm>
            <a:off x="1176049" y="5692597"/>
            <a:ext cx="330098" cy="191110"/>
          </a:xfrm>
          <a:prstGeom prst="leftRightArrow">
            <a:avLst/>
          </a:prstGeom>
          <a:solidFill>
            <a:srgbClr val="C89B3C"/>
          </a:solidFill>
          <a:ln/>
        </p:spPr>
      </p:sp>
      <p:sp>
        <p:nvSpPr>
          <p:cNvPr id="112" name="Text 110"/>
          <p:cNvSpPr/>
          <p:nvPr/>
        </p:nvSpPr>
        <p:spPr>
          <a:xfrm>
            <a:off x="566928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Two-Way Feedback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66928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Two-Way Feedback Loop</a:t>
            </a:r>
            <a:endParaRPr lang="en-US" sz="550" dirty="0"/>
          </a:p>
        </p:txBody>
      </p:sp>
      <p:sp>
        <p:nvSpPr>
          <p:cNvPr id="114" name="Shape 112"/>
          <p:cNvSpPr/>
          <p:nvPr/>
        </p:nvSpPr>
        <p:spPr>
          <a:xfrm>
            <a:off x="2769652" y="5666537"/>
            <a:ext cx="312725" cy="243230"/>
          </a:xfrm>
          <a:prstGeom prst="borderCallout1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2151844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650" dirty="0"/>
          </a:p>
        </p:txBody>
      </p:sp>
      <p:sp>
        <p:nvSpPr>
          <p:cNvPr id="116" name="Text 114"/>
          <p:cNvSpPr/>
          <p:nvPr/>
        </p:nvSpPr>
        <p:spPr>
          <a:xfrm>
            <a:off x="2151844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· Advisory Note</a:t>
            </a:r>
            <a:endParaRPr lang="en-US" sz="550" dirty="0"/>
          </a:p>
        </p:txBody>
      </p:sp>
      <p:sp>
        <p:nvSpPr>
          <p:cNvPr id="117" name="Shape 115"/>
          <p:cNvSpPr/>
          <p:nvPr/>
        </p:nvSpPr>
        <p:spPr>
          <a:xfrm>
            <a:off x="4337195" y="5701284"/>
            <a:ext cx="347472" cy="173736"/>
          </a:xfrm>
          <a:prstGeom prst="ribbon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3736761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Advisor</a:t>
            </a:r>
            <a:endParaRPr lang="en-US" sz="650" dirty="0"/>
          </a:p>
        </p:txBody>
      </p:sp>
      <p:sp>
        <p:nvSpPr>
          <p:cNvPr id="119" name="Text 117"/>
          <p:cNvSpPr/>
          <p:nvPr/>
        </p:nvSpPr>
        <p:spPr>
          <a:xfrm>
            <a:off x="3736761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Advisor Status</a:t>
            </a:r>
            <a:endParaRPr lang="en-US" sz="550" dirty="0"/>
          </a:p>
        </p:txBody>
      </p:sp>
      <p:sp>
        <p:nvSpPr>
          <p:cNvPr id="120" name="Shape 118"/>
          <p:cNvSpPr/>
          <p:nvPr/>
        </p:nvSpPr>
        <p:spPr>
          <a:xfrm>
            <a:off x="5948172" y="5640476"/>
            <a:ext cx="295351" cy="295351"/>
          </a:xfrm>
          <a:prstGeom prst="leftCircularArrow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5321677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Correction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5321677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Correction · Iteration</a:t>
            </a:r>
            <a:endParaRPr lang="en-US" sz="550" dirty="0"/>
          </a:p>
        </p:txBody>
      </p:sp>
      <p:sp>
        <p:nvSpPr>
          <p:cNvPr id="123" name="Shape 121"/>
          <p:cNvSpPr/>
          <p:nvPr/>
        </p:nvSpPr>
        <p:spPr>
          <a:xfrm>
            <a:off x="7541775" y="5649163"/>
            <a:ext cx="277978" cy="277978"/>
          </a:xfrm>
          <a:prstGeom prst="star12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906594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Preferred Partner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6906594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Preferred Partner · Elite Status</a:t>
            </a:r>
            <a:endParaRPr lang="en-US" sz="550" dirty="0"/>
          </a:p>
        </p:txBody>
      </p:sp>
      <p:sp>
        <p:nvSpPr>
          <p:cNvPr id="126" name="Shape 124"/>
          <p:cNvSpPr/>
          <p:nvPr/>
        </p:nvSpPr>
        <p:spPr>
          <a:xfrm>
            <a:off x="9135379" y="5649163"/>
            <a:ext cx="260604" cy="277978"/>
          </a:xfrm>
          <a:prstGeom prst="flowChartOffpageConnector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8491510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Network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8491510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· Partner Network</a:t>
            </a:r>
            <a:endParaRPr lang="en-US" sz="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Artificial Intelligence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unique icons — every one is a distinct native PowerPoint shape, none repeated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219483" y="1561338"/>
            <a:ext cx="243230" cy="130302"/>
          </a:xfrm>
          <a:prstGeom prst="line">
            <a:avLst/>
          </a:prstGeom>
          <a:noFill/>
          <a:ln w="15875">
            <a:solidFill>
              <a:srgbClr val="C89B3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96897" y="1538752"/>
            <a:ext cx="45171" cy="45171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Shape 4"/>
          <p:cNvSpPr/>
          <p:nvPr/>
        </p:nvSpPr>
        <p:spPr>
          <a:xfrm>
            <a:off x="1219483" y="1691640"/>
            <a:ext cx="243230" cy="914"/>
          </a:xfrm>
          <a:prstGeom prst="line">
            <a:avLst/>
          </a:prstGeom>
          <a:noFill/>
          <a:ln w="15875">
            <a:solidFill>
              <a:srgbClr val="C89B3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96897" y="1669054"/>
            <a:ext cx="45171" cy="45171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8" name="Shape 6"/>
          <p:cNvSpPr/>
          <p:nvPr/>
        </p:nvSpPr>
        <p:spPr>
          <a:xfrm flipV="1">
            <a:off x="1219483" y="1691640"/>
            <a:ext cx="243230" cy="130302"/>
          </a:xfrm>
          <a:prstGeom prst="line">
            <a:avLst/>
          </a:prstGeom>
          <a:noFill/>
          <a:ln w="15875">
            <a:solidFill>
              <a:srgbClr val="C89B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96897" y="1799356"/>
            <a:ext cx="45171" cy="45171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0" name="Shape 8"/>
          <p:cNvSpPr/>
          <p:nvPr/>
        </p:nvSpPr>
        <p:spPr>
          <a:xfrm>
            <a:off x="1431441" y="1660368"/>
            <a:ext cx="62545" cy="62545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Network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566928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· Machine Learning · Neural Network</a:t>
            </a:r>
            <a:endParaRPr lang="en-US" sz="550" dirty="0"/>
          </a:p>
        </p:txBody>
      </p:sp>
      <p:sp>
        <p:nvSpPr>
          <p:cNvPr id="13" name="Shape 11"/>
          <p:cNvSpPr/>
          <p:nvPr/>
        </p:nvSpPr>
        <p:spPr>
          <a:xfrm>
            <a:off x="2778339" y="1543964"/>
            <a:ext cx="295351" cy="295351"/>
          </a:xfrm>
          <a:prstGeom prst="gear6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51844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2151844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· AI · Intelligent Process</a:t>
            </a:r>
            <a:endParaRPr lang="en-US" sz="550" dirty="0"/>
          </a:p>
        </p:txBody>
      </p:sp>
      <p:sp>
        <p:nvSpPr>
          <p:cNvPr id="16" name="Shape 14"/>
          <p:cNvSpPr/>
          <p:nvPr/>
        </p:nvSpPr>
        <p:spPr>
          <a:xfrm>
            <a:off x="4354569" y="1561338"/>
            <a:ext cx="312725" cy="225857"/>
          </a:xfrm>
          <a:prstGeom prst="wedgeRoundRectCallout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36761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3736761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AI · Copilot · Chatbot</a:t>
            </a:r>
            <a:endParaRPr lang="en-US" sz="550" dirty="0"/>
          </a:p>
        </p:txBody>
      </p:sp>
      <p:sp>
        <p:nvSpPr>
          <p:cNvPr id="19" name="Shape 17"/>
          <p:cNvSpPr/>
          <p:nvPr/>
        </p:nvSpPr>
        <p:spPr>
          <a:xfrm>
            <a:off x="5930798" y="1604772"/>
            <a:ext cx="330098" cy="173736"/>
          </a:xfrm>
          <a:prstGeom prst="ellipse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7626" y="1653418"/>
            <a:ext cx="76444" cy="76444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1" name="Text 19"/>
          <p:cNvSpPr/>
          <p:nvPr/>
        </p:nvSpPr>
        <p:spPr>
          <a:xfrm>
            <a:off x="5321677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5321677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· Insight · Recognition</a:t>
            </a:r>
            <a:endParaRPr lang="en-US" sz="550" dirty="0"/>
          </a:p>
        </p:txBody>
      </p:sp>
      <p:sp>
        <p:nvSpPr>
          <p:cNvPr id="23" name="Shape 21"/>
          <p:cNvSpPr/>
          <p:nvPr/>
        </p:nvSpPr>
        <p:spPr>
          <a:xfrm>
            <a:off x="7534826" y="1743761"/>
            <a:ext cx="52121" cy="95555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24" name="Shape 22"/>
          <p:cNvSpPr/>
          <p:nvPr/>
        </p:nvSpPr>
        <p:spPr>
          <a:xfrm>
            <a:off x="7614744" y="1674266"/>
            <a:ext cx="52121" cy="165049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25" name="Shape 23"/>
          <p:cNvSpPr/>
          <p:nvPr/>
        </p:nvSpPr>
        <p:spPr>
          <a:xfrm>
            <a:off x="7694663" y="1717700"/>
            <a:ext cx="52121" cy="121615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26" name="Shape 24"/>
          <p:cNvSpPr/>
          <p:nvPr/>
        </p:nvSpPr>
        <p:spPr>
          <a:xfrm>
            <a:off x="7774581" y="1613459"/>
            <a:ext cx="52121" cy="225857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27" name="Shape 25"/>
          <p:cNvSpPr/>
          <p:nvPr/>
        </p:nvSpPr>
        <p:spPr>
          <a:xfrm flipV="1">
            <a:off x="7560886" y="1656893"/>
            <a:ext cx="79919" cy="69494"/>
          </a:xfrm>
          <a:prstGeom prst="line">
            <a:avLst/>
          </a:prstGeom>
          <a:noFill/>
          <a:ln w="15875">
            <a:solidFill>
              <a:srgbClr val="C89B3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40805" y="1656893"/>
            <a:ext cx="79919" cy="43434"/>
          </a:xfrm>
          <a:prstGeom prst="line">
            <a:avLst/>
          </a:prstGeom>
          <a:noFill/>
          <a:ln w="15875">
            <a:solidFill>
              <a:srgbClr val="C89B3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7720723" y="1596085"/>
            <a:ext cx="79919" cy="104242"/>
          </a:xfrm>
          <a:prstGeom prst="line">
            <a:avLst/>
          </a:prstGeom>
          <a:noFill/>
          <a:ln w="15875">
            <a:solidFill>
              <a:srgbClr val="C89B3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06594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Model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6906594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Modeling · Forecasting</a:t>
            </a:r>
            <a:endParaRPr lang="en-US" sz="550" dirty="0"/>
          </a:p>
        </p:txBody>
      </p:sp>
      <p:sp>
        <p:nvSpPr>
          <p:cNvPr id="32" name="Shape 30"/>
          <p:cNvSpPr/>
          <p:nvPr/>
        </p:nvSpPr>
        <p:spPr>
          <a:xfrm>
            <a:off x="9196186" y="1622146"/>
            <a:ext cx="86868" cy="86868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33" name="Shape 31"/>
          <p:cNvSpPr/>
          <p:nvPr/>
        </p:nvSpPr>
        <p:spPr>
          <a:xfrm>
            <a:off x="9196186" y="1717700"/>
            <a:ext cx="86868" cy="86868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34" name="Shape 32"/>
          <p:cNvSpPr/>
          <p:nvPr/>
        </p:nvSpPr>
        <p:spPr>
          <a:xfrm>
            <a:off x="9291741" y="1622146"/>
            <a:ext cx="86868" cy="86868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35" name="Shape 33"/>
          <p:cNvSpPr/>
          <p:nvPr/>
        </p:nvSpPr>
        <p:spPr>
          <a:xfrm>
            <a:off x="9291741" y="1717700"/>
            <a:ext cx="86868" cy="86868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36" name="Text 34"/>
          <p:cNvSpPr/>
          <p:nvPr/>
        </p:nvSpPr>
        <p:spPr>
          <a:xfrm>
            <a:off x="8491510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Pipeline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8491510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Pipeline · Model Deployment</a:t>
            </a:r>
            <a:endParaRPr lang="en-US" sz="550" dirty="0"/>
          </a:p>
        </p:txBody>
      </p:sp>
      <p:sp>
        <p:nvSpPr>
          <p:cNvPr id="38" name="Shape 36"/>
          <p:cNvSpPr/>
          <p:nvPr/>
        </p:nvSpPr>
        <p:spPr>
          <a:xfrm>
            <a:off x="10728982" y="1535278"/>
            <a:ext cx="243230" cy="312725"/>
          </a:xfrm>
          <a:prstGeom prst="can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076427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Data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10076427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Data · Data Lake</a:t>
            </a:r>
            <a:endParaRPr lang="en-US" sz="550" dirty="0"/>
          </a:p>
        </p:txBody>
      </p:sp>
      <p:sp>
        <p:nvSpPr>
          <p:cNvPr id="41" name="Shape 39"/>
          <p:cNvSpPr/>
          <p:nvPr/>
        </p:nvSpPr>
        <p:spPr>
          <a:xfrm>
            <a:off x="1219483" y="2559406"/>
            <a:ext cx="243230" cy="312725"/>
          </a:xfrm>
          <a:prstGeom prst="roundRect">
            <a:avLst>
              <a:gd name="adj" fmla="val 22556"/>
            </a:avLst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271604" y="2646274"/>
            <a:ext cx="31272" cy="24323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1302876" y="2611526"/>
            <a:ext cx="46909" cy="59070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271604" y="2724455"/>
            <a:ext cx="31272" cy="24323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1302876" y="2689708"/>
            <a:ext cx="46909" cy="59070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271604" y="2802636"/>
            <a:ext cx="31272" cy="24323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1302876" y="2767889"/>
            <a:ext cx="46909" cy="59070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66928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Validation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566928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Validation · Testing Checklist</a:t>
            </a:r>
            <a:endParaRPr lang="en-US" sz="550" dirty="0"/>
          </a:p>
        </p:txBody>
      </p:sp>
      <p:sp>
        <p:nvSpPr>
          <p:cNvPr id="50" name="Shape 48"/>
          <p:cNvSpPr/>
          <p:nvPr/>
        </p:nvSpPr>
        <p:spPr>
          <a:xfrm>
            <a:off x="2778339" y="2576779"/>
            <a:ext cx="295351" cy="277978"/>
          </a:xfrm>
          <a:prstGeom prst="hexagon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151844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Node</a:t>
            </a:r>
            <a:endParaRPr lang="en-US" sz="650" dirty="0"/>
          </a:p>
        </p:txBody>
      </p:sp>
      <p:sp>
        <p:nvSpPr>
          <p:cNvPr id="52" name="Text 50"/>
          <p:cNvSpPr/>
          <p:nvPr/>
        </p:nvSpPr>
        <p:spPr>
          <a:xfrm>
            <a:off x="2151844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Compute Node · Inference</a:t>
            </a:r>
            <a:endParaRPr lang="en-US" sz="550" dirty="0"/>
          </a:p>
        </p:txBody>
      </p:sp>
      <p:sp>
        <p:nvSpPr>
          <p:cNvPr id="53" name="Shape 51"/>
          <p:cNvSpPr/>
          <p:nvPr/>
        </p:nvSpPr>
        <p:spPr>
          <a:xfrm>
            <a:off x="4363256" y="2568092"/>
            <a:ext cx="295351" cy="295351"/>
          </a:xfrm>
          <a:prstGeom prst="arc">
            <a:avLst>
              <a:gd name="adj1" fmla="val 12000000"/>
              <a:gd name="adj2" fmla="val 20400000"/>
            </a:avLst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736761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Processing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3736761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Processing · Pattern Detection</a:t>
            </a:r>
            <a:endParaRPr lang="en-US" sz="550" dirty="0"/>
          </a:p>
        </p:txBody>
      </p:sp>
      <p:sp>
        <p:nvSpPr>
          <p:cNvPr id="56" name="Shape 54"/>
          <p:cNvSpPr/>
          <p:nvPr/>
        </p:nvSpPr>
        <p:spPr>
          <a:xfrm>
            <a:off x="5939485" y="2611526"/>
            <a:ext cx="312725" cy="208483"/>
          </a:xfrm>
          <a:prstGeom prst="chevron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321677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Flow</a:t>
            </a:r>
            <a:endParaRPr lang="en-US" sz="650" dirty="0"/>
          </a:p>
        </p:txBody>
      </p:sp>
      <p:sp>
        <p:nvSpPr>
          <p:cNvPr id="58" name="Text 56"/>
          <p:cNvSpPr/>
          <p:nvPr/>
        </p:nvSpPr>
        <p:spPr>
          <a:xfrm>
            <a:off x="5321677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Flow · Logic Path</a:t>
            </a:r>
            <a:endParaRPr lang="en-US" sz="550" dirty="0"/>
          </a:p>
        </p:txBody>
      </p:sp>
      <p:sp>
        <p:nvSpPr>
          <p:cNvPr id="59" name="Shape 57"/>
          <p:cNvSpPr/>
          <p:nvPr/>
        </p:nvSpPr>
        <p:spPr>
          <a:xfrm>
            <a:off x="7541775" y="2576779"/>
            <a:ext cx="277978" cy="277978"/>
          </a:xfrm>
          <a:prstGeom prst="diamond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906594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6906594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· Accuracy · Confidence</a:t>
            </a:r>
            <a:endParaRPr lang="en-US" sz="550" dirty="0"/>
          </a:p>
        </p:txBody>
      </p:sp>
      <p:sp>
        <p:nvSpPr>
          <p:cNvPr id="62" name="Shape 60"/>
          <p:cNvSpPr/>
          <p:nvPr/>
        </p:nvSpPr>
        <p:spPr>
          <a:xfrm>
            <a:off x="9126692" y="2576779"/>
            <a:ext cx="277978" cy="277978"/>
          </a:xfrm>
          <a:prstGeom prst="sun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491510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</a:t>
            </a:r>
            <a:endParaRPr lang="en-US" sz="650" dirty="0"/>
          </a:p>
        </p:txBody>
      </p:sp>
      <p:sp>
        <p:nvSpPr>
          <p:cNvPr id="64" name="Text 62"/>
          <p:cNvSpPr/>
          <p:nvPr/>
        </p:nvSpPr>
        <p:spPr>
          <a:xfrm>
            <a:off x="8491510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· Innovation</a:t>
            </a:r>
            <a:endParaRPr lang="en-US" sz="550" dirty="0"/>
          </a:p>
        </p:txBody>
      </p:sp>
      <p:sp>
        <p:nvSpPr>
          <p:cNvPr id="65" name="Shape 63"/>
          <p:cNvSpPr/>
          <p:nvPr/>
        </p:nvSpPr>
        <p:spPr>
          <a:xfrm>
            <a:off x="10706396" y="2649748"/>
            <a:ext cx="132039" cy="132039"/>
          </a:xfrm>
          <a:prstGeom prst="ellipse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0833223" y="2715768"/>
            <a:ext cx="147676" cy="914"/>
          </a:xfrm>
          <a:prstGeom prst="line">
            <a:avLst/>
          </a:prstGeom>
          <a:noFill/>
          <a:ln w="20320">
            <a:solidFill>
              <a:srgbClr val="C89B3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0937465" y="2715768"/>
            <a:ext cx="914" cy="43434"/>
          </a:xfrm>
          <a:prstGeom prst="line">
            <a:avLst/>
          </a:prstGeom>
          <a:noFill/>
          <a:ln w="17780">
            <a:solidFill>
              <a:srgbClr val="C89B3C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0975687" y="2715768"/>
            <a:ext cx="914" cy="43434"/>
          </a:xfrm>
          <a:prstGeom prst="line">
            <a:avLst/>
          </a:prstGeom>
          <a:noFill/>
          <a:ln w="17780">
            <a:solidFill>
              <a:srgbClr val="C89B3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076427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Access</a:t>
            </a:r>
            <a:endParaRPr lang="en-US" sz="650" dirty="0"/>
          </a:p>
        </p:txBody>
      </p:sp>
      <p:sp>
        <p:nvSpPr>
          <p:cNvPr id="70" name="Text 68"/>
          <p:cNvSpPr/>
          <p:nvPr/>
        </p:nvSpPr>
        <p:spPr>
          <a:xfrm>
            <a:off x="10076427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Access · API Key</a:t>
            </a:r>
            <a:endParaRPr lang="en-US" sz="550" dirty="0"/>
          </a:p>
        </p:txBody>
      </p:sp>
      <p:sp>
        <p:nvSpPr>
          <p:cNvPr id="71" name="Shape 69"/>
          <p:cNvSpPr/>
          <p:nvPr/>
        </p:nvSpPr>
        <p:spPr>
          <a:xfrm>
            <a:off x="1236857" y="3630442"/>
            <a:ext cx="97292" cy="97292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216008" y="3731209"/>
            <a:ext cx="138989" cy="130302"/>
          </a:xfrm>
          <a:prstGeom prst="arc">
            <a:avLst>
              <a:gd name="adj1" fmla="val 10800000"/>
              <a:gd name="adj2" fmla="val 21600000"/>
            </a:avLst>
          </a:prstGeom>
          <a:ln w="17780">
            <a:solidFill>
              <a:srgbClr val="C89B3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348048" y="3630442"/>
            <a:ext cx="97292" cy="97292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327199" y="3731209"/>
            <a:ext cx="138989" cy="130302"/>
          </a:xfrm>
          <a:prstGeom prst="arc">
            <a:avLst>
              <a:gd name="adj1" fmla="val 10800000"/>
              <a:gd name="adj2" fmla="val 21600000"/>
            </a:avLst>
          </a:prstGeom>
          <a:ln w="17780">
            <a:solidFill>
              <a:srgbClr val="C89B3C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66928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650" dirty="0"/>
          </a:p>
        </p:txBody>
      </p:sp>
      <p:sp>
        <p:nvSpPr>
          <p:cNvPr id="76" name="Text 74"/>
          <p:cNvSpPr/>
          <p:nvPr/>
        </p:nvSpPr>
        <p:spPr>
          <a:xfrm>
            <a:off x="566928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· Oversight</a:t>
            </a:r>
            <a:endParaRPr lang="en-US" sz="550" dirty="0"/>
          </a:p>
        </p:txBody>
      </p:sp>
      <p:sp>
        <p:nvSpPr>
          <p:cNvPr id="77" name="Shape 75"/>
          <p:cNvSpPr/>
          <p:nvPr/>
        </p:nvSpPr>
        <p:spPr>
          <a:xfrm>
            <a:off x="2778339" y="3592220"/>
            <a:ext cx="295351" cy="295351"/>
          </a:xfrm>
          <a:prstGeom prst="irregularSeal1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2151844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AI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2151844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AI · Governance · Ethics</a:t>
            </a:r>
            <a:endParaRPr lang="en-US" sz="550" dirty="0"/>
          </a:p>
        </p:txBody>
      </p:sp>
      <p:sp>
        <p:nvSpPr>
          <p:cNvPr id="80" name="Shape 78"/>
          <p:cNvSpPr/>
          <p:nvPr/>
        </p:nvSpPr>
        <p:spPr>
          <a:xfrm>
            <a:off x="4398003" y="3626968"/>
            <a:ext cx="225857" cy="225857"/>
          </a:xfrm>
          <a:prstGeom prst="mathPlus">
            <a:avLst/>
          </a:prstGeom>
          <a:solidFill>
            <a:srgbClr val="C89B3C"/>
          </a:solidFill>
          <a:ln/>
        </p:spPr>
      </p:sp>
      <p:sp>
        <p:nvSpPr>
          <p:cNvPr id="81" name="Text 79"/>
          <p:cNvSpPr/>
          <p:nvPr/>
        </p:nvSpPr>
        <p:spPr>
          <a:xfrm>
            <a:off x="3736761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Augmentation</a:t>
            </a:r>
            <a:endParaRPr lang="en-US" sz="650" dirty="0"/>
          </a:p>
        </p:txBody>
      </p:sp>
      <p:sp>
        <p:nvSpPr>
          <p:cNvPr id="82" name="Text 80"/>
          <p:cNvSpPr/>
          <p:nvPr/>
        </p:nvSpPr>
        <p:spPr>
          <a:xfrm>
            <a:off x="3736761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Augmentation · Enhancement</a:t>
            </a:r>
            <a:endParaRPr lang="en-US" sz="550" dirty="0"/>
          </a:p>
        </p:txBody>
      </p:sp>
      <p:sp>
        <p:nvSpPr>
          <p:cNvPr id="83" name="Shape 81"/>
          <p:cNvSpPr/>
          <p:nvPr/>
        </p:nvSpPr>
        <p:spPr>
          <a:xfrm>
            <a:off x="5939485" y="3618281"/>
            <a:ext cx="312725" cy="243230"/>
          </a:xfrm>
          <a:prstGeom prst="flowChartDecision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321677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Boundary</a:t>
            </a:r>
            <a:endParaRPr lang="en-US" sz="650" dirty="0"/>
          </a:p>
        </p:txBody>
      </p:sp>
      <p:sp>
        <p:nvSpPr>
          <p:cNvPr id="85" name="Text 83"/>
          <p:cNvSpPr/>
          <p:nvPr/>
        </p:nvSpPr>
        <p:spPr>
          <a:xfrm>
            <a:off x="5321677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Boundary · Classification</a:t>
            </a:r>
            <a:endParaRPr lang="en-US" sz="550" dirty="0"/>
          </a:p>
        </p:txBody>
      </p:sp>
      <p:sp>
        <p:nvSpPr>
          <p:cNvPr id="86" name="Shape 84"/>
          <p:cNvSpPr/>
          <p:nvPr/>
        </p:nvSpPr>
        <p:spPr>
          <a:xfrm>
            <a:off x="7524402" y="3626968"/>
            <a:ext cx="312725" cy="225857"/>
          </a:xfrm>
          <a:prstGeom prst="flowChartProcess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906594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Step</a:t>
            </a:r>
            <a:endParaRPr lang="en-US" sz="650" dirty="0"/>
          </a:p>
        </p:txBody>
      </p:sp>
      <p:sp>
        <p:nvSpPr>
          <p:cNvPr id="88" name="Text 86"/>
          <p:cNvSpPr/>
          <p:nvPr/>
        </p:nvSpPr>
        <p:spPr>
          <a:xfrm>
            <a:off x="6906594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Pipeline Step</a:t>
            </a:r>
            <a:endParaRPr lang="en-US" sz="550" dirty="0"/>
          </a:p>
        </p:txBody>
      </p:sp>
      <p:sp>
        <p:nvSpPr>
          <p:cNvPr id="89" name="Shape 87"/>
          <p:cNvSpPr/>
          <p:nvPr/>
        </p:nvSpPr>
        <p:spPr>
          <a:xfrm>
            <a:off x="9109318" y="3644341"/>
            <a:ext cx="312725" cy="191110"/>
          </a:xfrm>
          <a:prstGeom prst="flowChartTerminator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491510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Boundary</a:t>
            </a:r>
            <a:endParaRPr lang="en-US" sz="650" dirty="0"/>
          </a:p>
        </p:txBody>
      </p:sp>
      <p:sp>
        <p:nvSpPr>
          <p:cNvPr id="91" name="Text 89"/>
          <p:cNvSpPr/>
          <p:nvPr/>
        </p:nvSpPr>
        <p:spPr>
          <a:xfrm>
            <a:off x="8491510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Start/End · Epoch Boundary</a:t>
            </a:r>
            <a:endParaRPr lang="en-US" sz="550" dirty="0"/>
          </a:p>
        </p:txBody>
      </p:sp>
      <p:sp>
        <p:nvSpPr>
          <p:cNvPr id="92" name="Shape 90"/>
          <p:cNvSpPr/>
          <p:nvPr/>
        </p:nvSpPr>
        <p:spPr>
          <a:xfrm>
            <a:off x="10711608" y="3618281"/>
            <a:ext cx="277978" cy="243230"/>
          </a:xfrm>
          <a:prstGeom prst="flowChartInternalStorage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0076427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Store</a:t>
            </a:r>
            <a:endParaRPr lang="en-US" sz="650" dirty="0"/>
          </a:p>
        </p:txBody>
      </p:sp>
      <p:sp>
        <p:nvSpPr>
          <p:cNvPr id="94" name="Text 92"/>
          <p:cNvSpPr/>
          <p:nvPr/>
        </p:nvSpPr>
        <p:spPr>
          <a:xfrm>
            <a:off x="10076427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Store · Model Inputs</a:t>
            </a:r>
            <a:endParaRPr lang="en-US" sz="550" dirty="0"/>
          </a:p>
        </p:txBody>
      </p:sp>
      <p:sp>
        <p:nvSpPr>
          <p:cNvPr id="95" name="Shape 93"/>
          <p:cNvSpPr/>
          <p:nvPr/>
        </p:nvSpPr>
        <p:spPr>
          <a:xfrm>
            <a:off x="1210796" y="4642409"/>
            <a:ext cx="260604" cy="243230"/>
          </a:xfrm>
          <a:prstGeom prst="flowChartOnlineStorage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66928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Database</a:t>
            </a:r>
            <a:endParaRPr lang="en-US" sz="650" dirty="0"/>
          </a:p>
        </p:txBody>
      </p:sp>
      <p:sp>
        <p:nvSpPr>
          <p:cNvPr id="97" name="Text 95"/>
          <p:cNvSpPr/>
          <p:nvPr/>
        </p:nvSpPr>
        <p:spPr>
          <a:xfrm>
            <a:off x="566928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Database · Embeddings Store</a:t>
            </a:r>
            <a:endParaRPr lang="en-US" sz="550" dirty="0"/>
          </a:p>
        </p:txBody>
      </p:sp>
      <p:sp>
        <p:nvSpPr>
          <p:cNvPr id="98" name="Shape 96"/>
          <p:cNvSpPr/>
          <p:nvPr/>
        </p:nvSpPr>
        <p:spPr>
          <a:xfrm>
            <a:off x="2778339" y="4651096"/>
            <a:ext cx="295351" cy="225857"/>
          </a:xfrm>
          <a:prstGeom prst="flowChartManualInput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151844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Input</a:t>
            </a:r>
            <a:endParaRPr lang="en-US" sz="650" dirty="0"/>
          </a:p>
        </p:txBody>
      </p:sp>
      <p:sp>
        <p:nvSpPr>
          <p:cNvPr id="100" name="Text 98"/>
          <p:cNvSpPr/>
          <p:nvPr/>
        </p:nvSpPr>
        <p:spPr>
          <a:xfrm>
            <a:off x="2151844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· Manual Input</a:t>
            </a:r>
            <a:endParaRPr lang="en-US" sz="550" dirty="0"/>
          </a:p>
        </p:txBody>
      </p:sp>
      <p:sp>
        <p:nvSpPr>
          <p:cNvPr id="101" name="Shape 99"/>
          <p:cNvSpPr/>
          <p:nvPr/>
        </p:nvSpPr>
        <p:spPr>
          <a:xfrm>
            <a:off x="4354569" y="4607662"/>
            <a:ext cx="312725" cy="312725"/>
          </a:xfrm>
          <a:prstGeom prst="quadArrow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3736761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Flow</a:t>
            </a:r>
            <a:endParaRPr lang="en-US" sz="650" dirty="0"/>
          </a:p>
        </p:txBody>
      </p:sp>
      <p:sp>
        <p:nvSpPr>
          <p:cNvPr id="103" name="Text 101"/>
          <p:cNvSpPr/>
          <p:nvPr/>
        </p:nvSpPr>
        <p:spPr>
          <a:xfrm>
            <a:off x="3736761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· Orchestration</a:t>
            </a:r>
            <a:endParaRPr lang="en-US" sz="550" dirty="0"/>
          </a:p>
        </p:txBody>
      </p:sp>
      <p:sp>
        <p:nvSpPr>
          <p:cNvPr id="104" name="Shape 102"/>
          <p:cNvSpPr/>
          <p:nvPr/>
        </p:nvSpPr>
        <p:spPr>
          <a:xfrm>
            <a:off x="5948172" y="4616348"/>
            <a:ext cx="295351" cy="295351"/>
          </a:xfrm>
          <a:prstGeom prst="leftCircularArrow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321677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Retraining Loop</a:t>
            </a:r>
            <a:endParaRPr lang="en-US" sz="650" dirty="0"/>
          </a:p>
        </p:txBody>
      </p:sp>
      <p:sp>
        <p:nvSpPr>
          <p:cNvPr id="106" name="Text 104"/>
          <p:cNvSpPr/>
          <p:nvPr/>
        </p:nvSpPr>
        <p:spPr>
          <a:xfrm>
            <a:off x="5321677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Retraining Loop · Feedback Cycle</a:t>
            </a:r>
            <a:endParaRPr lang="en-US" sz="550" dirty="0"/>
          </a:p>
        </p:txBody>
      </p:sp>
      <p:sp>
        <p:nvSpPr>
          <p:cNvPr id="107" name="Shape 105"/>
          <p:cNvSpPr/>
          <p:nvPr/>
        </p:nvSpPr>
        <p:spPr>
          <a:xfrm>
            <a:off x="7533088" y="4659782"/>
            <a:ext cx="295351" cy="208483"/>
          </a:xfrm>
          <a:prstGeom prst="rightArrow">
            <a:avLst/>
          </a:prstGeom>
          <a:solidFill>
            <a:srgbClr val="C89B3C"/>
          </a:solidFill>
          <a:ln/>
        </p:spPr>
      </p:sp>
      <p:sp>
        <p:nvSpPr>
          <p:cNvPr id="108" name="Text 106"/>
          <p:cNvSpPr/>
          <p:nvPr/>
        </p:nvSpPr>
        <p:spPr>
          <a:xfrm>
            <a:off x="6906594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</a:t>
            </a:r>
            <a:endParaRPr lang="en-US" sz="650" dirty="0"/>
          </a:p>
        </p:txBody>
      </p:sp>
      <p:sp>
        <p:nvSpPr>
          <p:cNvPr id="109" name="Text 107"/>
          <p:cNvSpPr/>
          <p:nvPr/>
        </p:nvSpPr>
        <p:spPr>
          <a:xfrm>
            <a:off x="6906594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 · Forward Pass</a:t>
            </a:r>
            <a:endParaRPr lang="en-US" sz="550" dirty="0"/>
          </a:p>
        </p:txBody>
      </p:sp>
      <p:sp>
        <p:nvSpPr>
          <p:cNvPr id="110" name="Shape 108"/>
          <p:cNvSpPr/>
          <p:nvPr/>
        </p:nvSpPr>
        <p:spPr>
          <a:xfrm>
            <a:off x="9118005" y="4616348"/>
            <a:ext cx="295351" cy="295351"/>
          </a:xfrm>
          <a:prstGeom prst="noSmoking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8491510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650" dirty="0"/>
          </a:p>
        </p:txBody>
      </p:sp>
      <p:sp>
        <p:nvSpPr>
          <p:cNvPr id="112" name="Text 110"/>
          <p:cNvSpPr/>
          <p:nvPr/>
        </p:nvSpPr>
        <p:spPr>
          <a:xfrm>
            <a:off x="8491510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Guardrails · Content Restriction</a:t>
            </a:r>
            <a:endParaRPr lang="en-US" sz="550" dirty="0"/>
          </a:p>
        </p:txBody>
      </p:sp>
      <p:sp>
        <p:nvSpPr>
          <p:cNvPr id="113" name="Shape 111"/>
          <p:cNvSpPr/>
          <p:nvPr/>
        </p:nvSpPr>
        <p:spPr>
          <a:xfrm>
            <a:off x="10711608" y="4625035"/>
            <a:ext cx="277978" cy="277978"/>
          </a:xfrm>
          <a:prstGeom prst="star4">
            <a:avLst/>
          </a:prstGeom>
          <a:solidFill>
            <a:srgbClr val="C89B3C"/>
          </a:solidFill>
          <a:ln/>
        </p:spPr>
      </p:sp>
      <p:sp>
        <p:nvSpPr>
          <p:cNvPr id="114" name="Text 112"/>
          <p:cNvSpPr/>
          <p:nvPr/>
        </p:nvSpPr>
        <p:spPr>
          <a:xfrm>
            <a:off x="10076427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Emerging Capability</a:t>
            </a:r>
            <a:endParaRPr lang="en-US" sz="650" dirty="0"/>
          </a:p>
        </p:txBody>
      </p:sp>
      <p:sp>
        <p:nvSpPr>
          <p:cNvPr id="115" name="Text 113"/>
          <p:cNvSpPr/>
          <p:nvPr/>
        </p:nvSpPr>
        <p:spPr>
          <a:xfrm>
            <a:off x="10076427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Emerging Capability · New Model</a:t>
            </a:r>
            <a:endParaRPr lang="en-US" sz="550" dirty="0"/>
          </a:p>
        </p:txBody>
      </p:sp>
      <p:sp>
        <p:nvSpPr>
          <p:cNvPr id="116" name="Shape 114"/>
          <p:cNvSpPr/>
          <p:nvPr/>
        </p:nvSpPr>
        <p:spPr>
          <a:xfrm>
            <a:off x="1228170" y="5675224"/>
            <a:ext cx="225857" cy="225857"/>
          </a:xfrm>
          <a:prstGeom prst="mathMultiply">
            <a:avLst/>
          </a:prstGeom>
          <a:solidFill>
            <a:srgbClr val="C89B3C"/>
          </a:solidFill>
          <a:ln/>
        </p:spPr>
      </p:sp>
      <p:sp>
        <p:nvSpPr>
          <p:cNvPr id="117" name="Text 115"/>
          <p:cNvSpPr/>
          <p:nvPr/>
        </p:nvSpPr>
        <p:spPr>
          <a:xfrm>
            <a:off x="566928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Scaling</a:t>
            </a:r>
            <a:endParaRPr lang="en-US" sz="650" dirty="0"/>
          </a:p>
        </p:txBody>
      </p:sp>
      <p:sp>
        <p:nvSpPr>
          <p:cNvPr id="118" name="Text 116"/>
          <p:cNvSpPr/>
          <p:nvPr/>
        </p:nvSpPr>
        <p:spPr>
          <a:xfrm>
            <a:off x="566928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Scaling · GPU Multiplier</a:t>
            </a:r>
            <a:endParaRPr lang="en-US" sz="550" dirty="0"/>
          </a:p>
        </p:txBody>
      </p:sp>
      <p:sp>
        <p:nvSpPr>
          <p:cNvPr id="119" name="Shape 117"/>
          <p:cNvSpPr/>
          <p:nvPr/>
        </p:nvSpPr>
        <p:spPr>
          <a:xfrm>
            <a:off x="2795713" y="5657850"/>
            <a:ext cx="260604" cy="260604"/>
          </a:xfrm>
          <a:prstGeom prst="flowChartSummingJunction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2151844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Model</a:t>
            </a:r>
            <a:endParaRPr lang="en-US" sz="650" dirty="0"/>
          </a:p>
        </p:txBody>
      </p:sp>
      <p:sp>
        <p:nvSpPr>
          <p:cNvPr id="121" name="Text 119"/>
          <p:cNvSpPr/>
          <p:nvPr/>
        </p:nvSpPr>
        <p:spPr>
          <a:xfrm>
            <a:off x="2151844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Model · Aggregation</a:t>
            </a:r>
            <a:endParaRPr lang="en-US" sz="550" dirty="0"/>
          </a:p>
        </p:txBody>
      </p:sp>
      <p:sp>
        <p:nvSpPr>
          <p:cNvPr id="122" name="Shape 120"/>
          <p:cNvSpPr/>
          <p:nvPr/>
        </p:nvSpPr>
        <p:spPr>
          <a:xfrm>
            <a:off x="4354569" y="5666537"/>
            <a:ext cx="312725" cy="243230"/>
          </a:xfrm>
          <a:prstGeom prst="borderCallout1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3736761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Card</a:t>
            </a:r>
            <a:endParaRPr lang="en-US" sz="650" dirty="0"/>
          </a:p>
        </p:txBody>
      </p:sp>
      <p:sp>
        <p:nvSpPr>
          <p:cNvPr id="124" name="Text 122"/>
          <p:cNvSpPr/>
          <p:nvPr/>
        </p:nvSpPr>
        <p:spPr>
          <a:xfrm>
            <a:off x="3736761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Card · Documentation</a:t>
            </a:r>
            <a:endParaRPr lang="en-US" sz="550" dirty="0"/>
          </a:p>
        </p:txBody>
      </p:sp>
      <p:sp>
        <p:nvSpPr>
          <p:cNvPr id="125" name="Shape 123"/>
          <p:cNvSpPr/>
          <p:nvPr/>
        </p:nvSpPr>
        <p:spPr>
          <a:xfrm>
            <a:off x="5930798" y="5692597"/>
            <a:ext cx="330098" cy="191110"/>
          </a:xfrm>
          <a:prstGeom prst="leftRightArrow">
            <a:avLst/>
          </a:prstGeom>
          <a:solidFill>
            <a:srgbClr val="C89B3C"/>
          </a:solidFill>
          <a:ln/>
        </p:spPr>
      </p:sp>
      <p:sp>
        <p:nvSpPr>
          <p:cNvPr id="126" name="Text 124"/>
          <p:cNvSpPr/>
          <p:nvPr/>
        </p:nvSpPr>
        <p:spPr>
          <a:xfrm>
            <a:off x="5321677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Feedback Loop</a:t>
            </a:r>
            <a:endParaRPr lang="en-US" sz="650" dirty="0"/>
          </a:p>
        </p:txBody>
      </p:sp>
      <p:sp>
        <p:nvSpPr>
          <p:cNvPr id="127" name="Text 125"/>
          <p:cNvSpPr/>
          <p:nvPr/>
        </p:nvSpPr>
        <p:spPr>
          <a:xfrm>
            <a:off x="5321677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RLHF · Human Feedback Loop</a:t>
            </a:r>
            <a:endParaRPr lang="en-US" sz="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&amp; Analytics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unique icons — every one is a distinct native PowerPoint shape, none repeated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195160" y="1743761"/>
            <a:ext cx="52121" cy="95555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5" name="Shape 3"/>
          <p:cNvSpPr/>
          <p:nvPr/>
        </p:nvSpPr>
        <p:spPr>
          <a:xfrm>
            <a:off x="1275079" y="1674266"/>
            <a:ext cx="52121" cy="165049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6" name="Shape 4"/>
          <p:cNvSpPr/>
          <p:nvPr/>
        </p:nvSpPr>
        <p:spPr>
          <a:xfrm>
            <a:off x="1354997" y="1717700"/>
            <a:ext cx="52121" cy="121615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7" name="Shape 5"/>
          <p:cNvSpPr/>
          <p:nvPr/>
        </p:nvSpPr>
        <p:spPr>
          <a:xfrm>
            <a:off x="1434916" y="1613459"/>
            <a:ext cx="52121" cy="225857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8" name="Shape 6"/>
          <p:cNvSpPr/>
          <p:nvPr/>
        </p:nvSpPr>
        <p:spPr>
          <a:xfrm flipV="1">
            <a:off x="1221220" y="1656893"/>
            <a:ext cx="79919" cy="69494"/>
          </a:xfrm>
          <a:prstGeom prst="line">
            <a:avLst/>
          </a:prstGeom>
          <a:noFill/>
          <a:ln w="15875">
            <a:solidFill>
              <a:srgbClr val="C89B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01139" y="1656893"/>
            <a:ext cx="79919" cy="43434"/>
          </a:xfrm>
          <a:prstGeom prst="line">
            <a:avLst/>
          </a:prstGeom>
          <a:noFill/>
          <a:ln w="15875">
            <a:solidFill>
              <a:srgbClr val="C89B3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381058" y="1596085"/>
            <a:ext cx="79919" cy="104242"/>
          </a:xfrm>
          <a:prstGeom prst="line">
            <a:avLst/>
          </a:prstGeom>
          <a:noFill/>
          <a:ln w="15875">
            <a:solidFill>
              <a:srgbClr val="C89B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566928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· Analytics · Trends · Reporting</a:t>
            </a:r>
            <a:endParaRPr lang="en-US" sz="550" dirty="0"/>
          </a:p>
        </p:txBody>
      </p:sp>
      <p:sp>
        <p:nvSpPr>
          <p:cNvPr id="13" name="Shape 11"/>
          <p:cNvSpPr/>
          <p:nvPr/>
        </p:nvSpPr>
        <p:spPr>
          <a:xfrm>
            <a:off x="2804399" y="1535278"/>
            <a:ext cx="243230" cy="312725"/>
          </a:xfrm>
          <a:prstGeom prst="can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51844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2151844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· Storage · Records</a:t>
            </a:r>
            <a:endParaRPr lang="en-US" sz="550" dirty="0"/>
          </a:p>
        </p:txBody>
      </p:sp>
      <p:sp>
        <p:nvSpPr>
          <p:cNvPr id="16" name="Shape 14"/>
          <p:cNvSpPr/>
          <p:nvPr/>
        </p:nvSpPr>
        <p:spPr>
          <a:xfrm>
            <a:off x="4345882" y="1561338"/>
            <a:ext cx="330098" cy="260604"/>
          </a:xfrm>
          <a:prstGeom prst="roundRect">
            <a:avLst>
              <a:gd name="adj" fmla="val 28070"/>
            </a:avLst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406690" y="1630832"/>
            <a:ext cx="138989" cy="138989"/>
          </a:xfrm>
          <a:prstGeom prst="pie">
            <a:avLst>
              <a:gd name="adj1" fmla="val 16200000"/>
              <a:gd name="adj2" fmla="val 5400000"/>
            </a:avLst>
          </a:prstGeom>
          <a:ln w="15875">
            <a:solidFill>
              <a:srgbClr val="C89B3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36761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3736761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· KPI · Visualization</a:t>
            </a:r>
            <a:endParaRPr lang="en-US" sz="550" dirty="0"/>
          </a:p>
        </p:txBody>
      </p:sp>
      <p:sp>
        <p:nvSpPr>
          <p:cNvPr id="20" name="Shape 18"/>
          <p:cNvSpPr/>
          <p:nvPr/>
        </p:nvSpPr>
        <p:spPr>
          <a:xfrm>
            <a:off x="5948172" y="1568287"/>
            <a:ext cx="295351" cy="55596"/>
          </a:xfrm>
          <a:prstGeom prst="roundRect">
            <a:avLst>
              <a:gd name="adj" fmla="val 493417"/>
            </a:avLst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8172" y="1663842"/>
            <a:ext cx="295351" cy="55596"/>
          </a:xfrm>
          <a:prstGeom prst="roundRect">
            <a:avLst>
              <a:gd name="adj" fmla="val 493417"/>
            </a:avLst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8172" y="1759397"/>
            <a:ext cx="295351" cy="55596"/>
          </a:xfrm>
          <a:prstGeom prst="roundRect">
            <a:avLst>
              <a:gd name="adj" fmla="val 493417"/>
            </a:avLst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21677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5321677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Governance · Layers · Records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7533088" y="1543964"/>
            <a:ext cx="295351" cy="295351"/>
          </a:xfrm>
          <a:prstGeom prst="pie">
            <a:avLst>
              <a:gd name="adj1" fmla="val 16200000"/>
              <a:gd name="adj2" fmla="val 5400000"/>
            </a:avLst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06594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6906594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Segmentation · Breakdown</a:t>
            </a:r>
            <a:endParaRPr lang="en-US" sz="550" dirty="0"/>
          </a:p>
        </p:txBody>
      </p:sp>
      <p:sp>
        <p:nvSpPr>
          <p:cNvPr id="28" name="Shape 26"/>
          <p:cNvSpPr/>
          <p:nvPr/>
        </p:nvSpPr>
        <p:spPr>
          <a:xfrm>
            <a:off x="9144065" y="1543964"/>
            <a:ext cx="243230" cy="295351"/>
          </a:xfrm>
          <a:prstGeom prst="funnel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91510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Filtering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8491510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Filtering · Query · Refine</a:t>
            </a:r>
            <a:endParaRPr lang="en-US" sz="550" dirty="0"/>
          </a:p>
        </p:txBody>
      </p:sp>
      <p:sp>
        <p:nvSpPr>
          <p:cNvPr id="31" name="Shape 29"/>
          <p:cNvSpPr/>
          <p:nvPr/>
        </p:nvSpPr>
        <p:spPr>
          <a:xfrm>
            <a:off x="10781103" y="1622146"/>
            <a:ext cx="86868" cy="86868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32" name="Shape 30"/>
          <p:cNvSpPr/>
          <p:nvPr/>
        </p:nvSpPr>
        <p:spPr>
          <a:xfrm>
            <a:off x="10781103" y="1717700"/>
            <a:ext cx="86868" cy="86868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33" name="Shape 31"/>
          <p:cNvSpPr/>
          <p:nvPr/>
        </p:nvSpPr>
        <p:spPr>
          <a:xfrm>
            <a:off x="10876657" y="1622146"/>
            <a:ext cx="86868" cy="86868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34" name="Shape 32"/>
          <p:cNvSpPr/>
          <p:nvPr/>
        </p:nvSpPr>
        <p:spPr>
          <a:xfrm>
            <a:off x="10876657" y="1717700"/>
            <a:ext cx="86868" cy="86868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35" name="Text 33"/>
          <p:cNvSpPr/>
          <p:nvPr/>
        </p:nvSpPr>
        <p:spPr>
          <a:xfrm>
            <a:off x="10076427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10076427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 · Integration Points</a:t>
            </a:r>
            <a:endParaRPr lang="en-US" sz="550" dirty="0"/>
          </a:p>
        </p:txBody>
      </p:sp>
      <p:sp>
        <p:nvSpPr>
          <p:cNvPr id="37" name="Shape 35"/>
          <p:cNvSpPr/>
          <p:nvPr/>
        </p:nvSpPr>
        <p:spPr>
          <a:xfrm>
            <a:off x="1219483" y="2559406"/>
            <a:ext cx="243230" cy="312725"/>
          </a:xfrm>
          <a:prstGeom prst="can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Lake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566928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Lake · Warehouse · Storage</a:t>
            </a:r>
            <a:endParaRPr lang="en-US" sz="550" dirty="0"/>
          </a:p>
        </p:txBody>
      </p:sp>
      <p:sp>
        <p:nvSpPr>
          <p:cNvPr id="40" name="Shape 38"/>
          <p:cNvSpPr/>
          <p:nvPr/>
        </p:nvSpPr>
        <p:spPr>
          <a:xfrm>
            <a:off x="2813086" y="2698394"/>
            <a:ext cx="225857" cy="165049"/>
          </a:xfrm>
          <a:prstGeom prst="roundRect">
            <a:avLst>
              <a:gd name="adj" fmla="val 55402"/>
            </a:avLst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853046" y="2550719"/>
            <a:ext cx="145938" cy="147676"/>
          </a:xfrm>
          <a:prstGeom prst="arc">
            <a:avLst>
              <a:gd name="adj1" fmla="val 10800000"/>
              <a:gd name="adj2" fmla="val 21600000"/>
            </a:avLst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08641" y="2759202"/>
            <a:ext cx="34747" cy="34747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43" name="Text 41"/>
          <p:cNvSpPr/>
          <p:nvPr/>
        </p:nvSpPr>
        <p:spPr>
          <a:xfrm>
            <a:off x="2151844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</a:t>
            </a:r>
            <a:endParaRPr lang="en-US" sz="650" dirty="0"/>
          </a:p>
        </p:txBody>
      </p:sp>
      <p:sp>
        <p:nvSpPr>
          <p:cNvPr id="44" name="Text 42"/>
          <p:cNvSpPr/>
          <p:nvPr/>
        </p:nvSpPr>
        <p:spPr>
          <a:xfrm>
            <a:off x="2151844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 · Governance · Compliance</a:t>
            </a:r>
            <a:endParaRPr lang="en-US" sz="550" dirty="0"/>
          </a:p>
        </p:txBody>
      </p:sp>
      <p:sp>
        <p:nvSpPr>
          <p:cNvPr id="45" name="Shape 43"/>
          <p:cNvSpPr/>
          <p:nvPr/>
        </p:nvSpPr>
        <p:spPr>
          <a:xfrm>
            <a:off x="4389316" y="2559406"/>
            <a:ext cx="243230" cy="312725"/>
          </a:xfrm>
          <a:prstGeom prst="roundRect">
            <a:avLst>
              <a:gd name="adj" fmla="val 22556"/>
            </a:avLst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41437" y="2646274"/>
            <a:ext cx="31272" cy="24323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4472709" y="2611526"/>
            <a:ext cx="46909" cy="59070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441437" y="2724455"/>
            <a:ext cx="31272" cy="24323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V="1">
            <a:off x="4472709" y="2689708"/>
            <a:ext cx="46909" cy="59070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41437" y="2802636"/>
            <a:ext cx="31272" cy="24323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4472709" y="2767889"/>
            <a:ext cx="46909" cy="59070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6761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</a:t>
            </a:r>
            <a:endParaRPr lang="en-US" sz="650" dirty="0"/>
          </a:p>
        </p:txBody>
      </p:sp>
      <p:sp>
        <p:nvSpPr>
          <p:cNvPr id="53" name="Text 51"/>
          <p:cNvSpPr/>
          <p:nvPr/>
        </p:nvSpPr>
        <p:spPr>
          <a:xfrm>
            <a:off x="3736761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· Validation Checklist</a:t>
            </a:r>
            <a:endParaRPr lang="en-US" sz="550" dirty="0"/>
          </a:p>
        </p:txBody>
      </p:sp>
      <p:sp>
        <p:nvSpPr>
          <p:cNvPr id="54" name="Shape 52"/>
          <p:cNvSpPr/>
          <p:nvPr/>
        </p:nvSpPr>
        <p:spPr>
          <a:xfrm>
            <a:off x="5939485" y="2585466"/>
            <a:ext cx="312725" cy="260604"/>
          </a:xfrm>
          <a:prstGeom prst="leftRightCircularArrow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321677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</a:t>
            </a:r>
            <a:endParaRPr lang="en-US" sz="650" dirty="0"/>
          </a:p>
        </p:txBody>
      </p:sp>
      <p:sp>
        <p:nvSpPr>
          <p:cNvPr id="56" name="Text 54"/>
          <p:cNvSpPr/>
          <p:nvPr/>
        </p:nvSpPr>
        <p:spPr>
          <a:xfrm>
            <a:off x="5321677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· Data Pipeline · Transformation</a:t>
            </a:r>
            <a:endParaRPr lang="en-US" sz="550" dirty="0"/>
          </a:p>
        </p:txBody>
      </p:sp>
      <p:sp>
        <p:nvSpPr>
          <p:cNvPr id="57" name="Shape 55"/>
          <p:cNvSpPr/>
          <p:nvPr/>
        </p:nvSpPr>
        <p:spPr>
          <a:xfrm>
            <a:off x="7533088" y="2568092"/>
            <a:ext cx="295351" cy="295351"/>
          </a:xfrm>
          <a:prstGeom prst="arc">
            <a:avLst>
              <a:gd name="adj1" fmla="val 12000000"/>
              <a:gd name="adj2" fmla="val 20400000"/>
            </a:avLst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906594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Feed</a:t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6906594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Feed · Streaming Data</a:t>
            </a:r>
            <a:endParaRPr lang="en-US" sz="550" dirty="0"/>
          </a:p>
        </p:txBody>
      </p:sp>
      <p:sp>
        <p:nvSpPr>
          <p:cNvPr id="60" name="Shape 58"/>
          <p:cNvSpPr/>
          <p:nvPr/>
        </p:nvSpPr>
        <p:spPr>
          <a:xfrm>
            <a:off x="9109318" y="2611526"/>
            <a:ext cx="312725" cy="208483"/>
          </a:xfrm>
          <a:prstGeom prst="chevron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491510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</a:t>
            </a:r>
            <a:endParaRPr lang="en-US" sz="650" dirty="0"/>
          </a:p>
        </p:txBody>
      </p:sp>
      <p:sp>
        <p:nvSpPr>
          <p:cNvPr id="62" name="Text 60"/>
          <p:cNvSpPr/>
          <p:nvPr/>
        </p:nvSpPr>
        <p:spPr>
          <a:xfrm>
            <a:off x="8491510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 · Pipeline Sequence</a:t>
            </a:r>
            <a:endParaRPr lang="en-US" sz="550" dirty="0"/>
          </a:p>
        </p:txBody>
      </p:sp>
      <p:sp>
        <p:nvSpPr>
          <p:cNvPr id="63" name="Shape 61"/>
          <p:cNvSpPr/>
          <p:nvPr/>
        </p:nvSpPr>
        <p:spPr>
          <a:xfrm>
            <a:off x="10702921" y="2568092"/>
            <a:ext cx="295351" cy="295351"/>
          </a:xfrm>
          <a:prstGeom prst="star5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076427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Confidence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10076427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Confidence · Quality Score</a:t>
            </a:r>
            <a:endParaRPr lang="en-US" sz="550" dirty="0"/>
          </a:p>
        </p:txBody>
      </p:sp>
      <p:sp>
        <p:nvSpPr>
          <p:cNvPr id="66" name="Shape 64"/>
          <p:cNvSpPr/>
          <p:nvPr/>
        </p:nvSpPr>
        <p:spPr>
          <a:xfrm>
            <a:off x="1236857" y="3583534"/>
            <a:ext cx="208483" cy="312725"/>
          </a:xfrm>
          <a:prstGeom prst="roundRect">
            <a:avLst>
              <a:gd name="adj" fmla="val 26316"/>
            </a:avLst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280291" y="3679088"/>
            <a:ext cx="121615" cy="914"/>
          </a:xfrm>
          <a:prstGeom prst="line">
            <a:avLst/>
          </a:prstGeom>
          <a:noFill/>
          <a:ln w="13970">
            <a:solidFill>
              <a:srgbClr val="C89B3C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0291" y="3739896"/>
            <a:ext cx="121615" cy="914"/>
          </a:xfrm>
          <a:prstGeom prst="line">
            <a:avLst/>
          </a:prstGeom>
          <a:noFill/>
          <a:ln w="13970">
            <a:solidFill>
              <a:srgbClr val="C89B3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280291" y="3800704"/>
            <a:ext cx="121615" cy="914"/>
          </a:xfrm>
          <a:prstGeom prst="line">
            <a:avLst/>
          </a:prstGeom>
          <a:noFill/>
          <a:ln w="13970">
            <a:solidFill>
              <a:srgbClr val="C89B3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66928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650" dirty="0"/>
          </a:p>
        </p:txBody>
      </p:sp>
      <p:sp>
        <p:nvSpPr>
          <p:cNvPr id="71" name="Text 69"/>
          <p:cNvSpPr/>
          <p:nvPr/>
        </p:nvSpPr>
        <p:spPr>
          <a:xfrm>
            <a:off x="566928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· Data Documentation</a:t>
            </a:r>
            <a:endParaRPr lang="en-US" sz="550" dirty="0"/>
          </a:p>
        </p:txBody>
      </p:sp>
      <p:sp>
        <p:nvSpPr>
          <p:cNvPr id="72" name="Shape 70"/>
          <p:cNvSpPr/>
          <p:nvPr/>
        </p:nvSpPr>
        <p:spPr>
          <a:xfrm>
            <a:off x="2821773" y="3583534"/>
            <a:ext cx="208483" cy="312725"/>
          </a:xfrm>
          <a:prstGeom prst="verticalScroll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151844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650" dirty="0"/>
          </a:p>
        </p:txBody>
      </p:sp>
      <p:sp>
        <p:nvSpPr>
          <p:cNvPr id="74" name="Text 72"/>
          <p:cNvSpPr/>
          <p:nvPr/>
        </p:nvSpPr>
        <p:spPr>
          <a:xfrm>
            <a:off x="2151844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· Data Lineage</a:t>
            </a:r>
            <a:endParaRPr lang="en-US" sz="550" dirty="0"/>
          </a:p>
        </p:txBody>
      </p:sp>
      <p:sp>
        <p:nvSpPr>
          <p:cNvPr id="75" name="Shape 73"/>
          <p:cNvSpPr/>
          <p:nvPr/>
        </p:nvSpPr>
        <p:spPr>
          <a:xfrm>
            <a:off x="4354569" y="3618281"/>
            <a:ext cx="312725" cy="243230"/>
          </a:xfrm>
          <a:prstGeom prst="flowChartDecision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736761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Routing Decision</a:t>
            </a:r>
            <a:endParaRPr lang="en-US" sz="650" dirty="0"/>
          </a:p>
        </p:txBody>
      </p:sp>
      <p:sp>
        <p:nvSpPr>
          <p:cNvPr id="77" name="Text 75"/>
          <p:cNvSpPr/>
          <p:nvPr/>
        </p:nvSpPr>
        <p:spPr>
          <a:xfrm>
            <a:off x="3736761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Routing · Conditional Logic</a:t>
            </a:r>
            <a:endParaRPr lang="en-US" sz="550" dirty="0"/>
          </a:p>
        </p:txBody>
      </p:sp>
      <p:sp>
        <p:nvSpPr>
          <p:cNvPr id="78" name="Shape 76"/>
          <p:cNvSpPr/>
          <p:nvPr/>
        </p:nvSpPr>
        <p:spPr>
          <a:xfrm>
            <a:off x="5939485" y="3626968"/>
            <a:ext cx="312725" cy="225857"/>
          </a:xfrm>
          <a:prstGeom prst="flowChartProcess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5321677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 Step</a:t>
            </a:r>
            <a:endParaRPr lang="en-US" sz="650" dirty="0"/>
          </a:p>
        </p:txBody>
      </p:sp>
      <p:sp>
        <p:nvSpPr>
          <p:cNvPr id="80" name="Text 78"/>
          <p:cNvSpPr/>
          <p:nvPr/>
        </p:nvSpPr>
        <p:spPr>
          <a:xfrm>
            <a:off x="5321677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Transformation Step</a:t>
            </a:r>
            <a:endParaRPr lang="en-US" sz="550" dirty="0"/>
          </a:p>
        </p:txBody>
      </p:sp>
      <p:sp>
        <p:nvSpPr>
          <p:cNvPr id="81" name="Shape 79"/>
          <p:cNvSpPr/>
          <p:nvPr/>
        </p:nvSpPr>
        <p:spPr>
          <a:xfrm>
            <a:off x="7524402" y="3644341"/>
            <a:ext cx="312725" cy="191110"/>
          </a:xfrm>
          <a:prstGeom prst="flowChartTerminator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906594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Boundary</a:t>
            </a:r>
            <a:endParaRPr lang="en-US" sz="650" dirty="0"/>
          </a:p>
        </p:txBody>
      </p:sp>
      <p:sp>
        <p:nvSpPr>
          <p:cNvPr id="83" name="Text 81"/>
          <p:cNvSpPr/>
          <p:nvPr/>
        </p:nvSpPr>
        <p:spPr>
          <a:xfrm>
            <a:off x="6906594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Start/End</a:t>
            </a:r>
            <a:endParaRPr lang="en-US" sz="550" dirty="0"/>
          </a:p>
        </p:txBody>
      </p:sp>
      <p:sp>
        <p:nvSpPr>
          <p:cNvPr id="84" name="Shape 82"/>
          <p:cNvSpPr/>
          <p:nvPr/>
        </p:nvSpPr>
        <p:spPr>
          <a:xfrm>
            <a:off x="9126692" y="3618281"/>
            <a:ext cx="277978" cy="243230"/>
          </a:xfrm>
          <a:prstGeom prst="flowChartInternalStorage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8491510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Area</a:t>
            </a:r>
            <a:endParaRPr lang="en-US" sz="650" dirty="0"/>
          </a:p>
        </p:txBody>
      </p:sp>
      <p:sp>
        <p:nvSpPr>
          <p:cNvPr id="86" name="Text 84"/>
          <p:cNvSpPr/>
          <p:nvPr/>
        </p:nvSpPr>
        <p:spPr>
          <a:xfrm>
            <a:off x="8491510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Area · Internal Store</a:t>
            </a:r>
            <a:endParaRPr lang="en-US" sz="550" dirty="0"/>
          </a:p>
        </p:txBody>
      </p:sp>
      <p:sp>
        <p:nvSpPr>
          <p:cNvPr id="87" name="Shape 85"/>
          <p:cNvSpPr/>
          <p:nvPr/>
        </p:nvSpPr>
        <p:spPr>
          <a:xfrm>
            <a:off x="10720295" y="3618281"/>
            <a:ext cx="260604" cy="243230"/>
          </a:xfrm>
          <a:prstGeom prst="flowChartOnlineStorage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10076427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Warehouse</a:t>
            </a:r>
            <a:endParaRPr lang="en-US" sz="650" dirty="0"/>
          </a:p>
        </p:txBody>
      </p:sp>
      <p:sp>
        <p:nvSpPr>
          <p:cNvPr id="89" name="Text 87"/>
          <p:cNvSpPr/>
          <p:nvPr/>
        </p:nvSpPr>
        <p:spPr>
          <a:xfrm>
            <a:off x="10076427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Warehouse · Cloud Store</a:t>
            </a:r>
            <a:endParaRPr lang="en-US" sz="550" dirty="0"/>
          </a:p>
        </p:txBody>
      </p:sp>
      <p:sp>
        <p:nvSpPr>
          <p:cNvPr id="90" name="Shape 88"/>
          <p:cNvSpPr/>
          <p:nvPr/>
        </p:nvSpPr>
        <p:spPr>
          <a:xfrm>
            <a:off x="1210796" y="4633722"/>
            <a:ext cx="260604" cy="260604"/>
          </a:xfrm>
          <a:prstGeom prst="flowChartOfflineStorage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66928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Archive</a:t>
            </a:r>
            <a:endParaRPr lang="en-US" sz="650" dirty="0"/>
          </a:p>
        </p:txBody>
      </p:sp>
      <p:sp>
        <p:nvSpPr>
          <p:cNvPr id="92" name="Text 90"/>
          <p:cNvSpPr/>
          <p:nvPr/>
        </p:nvSpPr>
        <p:spPr>
          <a:xfrm>
            <a:off x="566928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Archive · Historical Data</a:t>
            </a:r>
            <a:endParaRPr lang="en-US" sz="550" dirty="0"/>
          </a:p>
        </p:txBody>
      </p:sp>
      <p:sp>
        <p:nvSpPr>
          <p:cNvPr id="93" name="Shape 91"/>
          <p:cNvSpPr/>
          <p:nvPr/>
        </p:nvSpPr>
        <p:spPr>
          <a:xfrm>
            <a:off x="2778339" y="4651096"/>
            <a:ext cx="295351" cy="225857"/>
          </a:xfrm>
          <a:prstGeom prst="flowChartManualInput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2151844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Entry</a:t>
            </a:r>
            <a:endParaRPr lang="en-US" sz="650" dirty="0"/>
          </a:p>
        </p:txBody>
      </p:sp>
      <p:sp>
        <p:nvSpPr>
          <p:cNvPr id="95" name="Text 93"/>
          <p:cNvSpPr/>
          <p:nvPr/>
        </p:nvSpPr>
        <p:spPr>
          <a:xfrm>
            <a:off x="2151844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Data Entry</a:t>
            </a:r>
            <a:endParaRPr lang="en-US" sz="550" dirty="0"/>
          </a:p>
        </p:txBody>
      </p:sp>
      <p:sp>
        <p:nvSpPr>
          <p:cNvPr id="96" name="Shape 94"/>
          <p:cNvSpPr/>
          <p:nvPr/>
        </p:nvSpPr>
        <p:spPr>
          <a:xfrm>
            <a:off x="4380629" y="4633722"/>
            <a:ext cx="260604" cy="260604"/>
          </a:xfrm>
          <a:prstGeom prst="flowChartSummingJunction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3736761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Rollup</a:t>
            </a:r>
            <a:endParaRPr lang="en-US" sz="650" dirty="0"/>
          </a:p>
        </p:txBody>
      </p:sp>
      <p:sp>
        <p:nvSpPr>
          <p:cNvPr id="98" name="Text 96"/>
          <p:cNvSpPr/>
          <p:nvPr/>
        </p:nvSpPr>
        <p:spPr>
          <a:xfrm>
            <a:off x="3736761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Rollup · Aggregation</a:t>
            </a:r>
            <a:endParaRPr lang="en-US" sz="550" dirty="0"/>
          </a:p>
        </p:txBody>
      </p:sp>
      <p:sp>
        <p:nvSpPr>
          <p:cNvPr id="99" name="Shape 97"/>
          <p:cNvSpPr/>
          <p:nvPr/>
        </p:nvSpPr>
        <p:spPr>
          <a:xfrm>
            <a:off x="5956859" y="4625035"/>
            <a:ext cx="277978" cy="277978"/>
          </a:xfrm>
          <a:prstGeom prst="flowChartSort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5321677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&amp; Rank</a:t>
            </a:r>
            <a:endParaRPr lang="en-US" sz="650" dirty="0"/>
          </a:p>
        </p:txBody>
      </p:sp>
      <p:sp>
        <p:nvSpPr>
          <p:cNvPr id="101" name="Text 99"/>
          <p:cNvSpPr/>
          <p:nvPr/>
        </p:nvSpPr>
        <p:spPr>
          <a:xfrm>
            <a:off x="5321677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&amp; Rank · Ordering</a:t>
            </a:r>
            <a:endParaRPr lang="en-US" sz="550" dirty="0"/>
          </a:p>
        </p:txBody>
      </p:sp>
      <p:sp>
        <p:nvSpPr>
          <p:cNvPr id="102" name="Shape 100"/>
          <p:cNvSpPr/>
          <p:nvPr/>
        </p:nvSpPr>
        <p:spPr>
          <a:xfrm>
            <a:off x="7550462" y="4642409"/>
            <a:ext cx="260604" cy="243230"/>
          </a:xfrm>
          <a:prstGeom prst="flowChartMerge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6906594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Merge</a:t>
            </a:r>
            <a:endParaRPr lang="en-US" sz="650" dirty="0"/>
          </a:p>
        </p:txBody>
      </p:sp>
      <p:sp>
        <p:nvSpPr>
          <p:cNvPr id="104" name="Text 102"/>
          <p:cNvSpPr/>
          <p:nvPr/>
        </p:nvSpPr>
        <p:spPr>
          <a:xfrm>
            <a:off x="6906594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Merge · Join</a:t>
            </a:r>
            <a:endParaRPr lang="en-US" sz="550" dirty="0"/>
          </a:p>
        </p:txBody>
      </p:sp>
      <p:sp>
        <p:nvSpPr>
          <p:cNvPr id="105" name="Shape 103"/>
          <p:cNvSpPr/>
          <p:nvPr/>
        </p:nvSpPr>
        <p:spPr>
          <a:xfrm>
            <a:off x="9144065" y="4616348"/>
            <a:ext cx="243230" cy="295351"/>
          </a:xfrm>
          <a:prstGeom prst="flowChartCollate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491510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Collation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8491510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Collation · Compilation</a:t>
            </a:r>
            <a:endParaRPr lang="en-US" sz="550" dirty="0"/>
          </a:p>
        </p:txBody>
      </p:sp>
      <p:sp>
        <p:nvSpPr>
          <p:cNvPr id="108" name="Shape 106"/>
          <p:cNvSpPr/>
          <p:nvPr/>
        </p:nvSpPr>
        <p:spPr>
          <a:xfrm>
            <a:off x="10694235" y="4642409"/>
            <a:ext cx="312725" cy="243230"/>
          </a:xfrm>
          <a:prstGeom prst="flowChartMultidocument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0076427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Catalog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10076427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Catalog · Metadata Docs</a:t>
            </a:r>
            <a:endParaRPr lang="en-US" sz="550" dirty="0"/>
          </a:p>
        </p:txBody>
      </p:sp>
      <p:sp>
        <p:nvSpPr>
          <p:cNvPr id="111" name="Shape 109"/>
          <p:cNvSpPr/>
          <p:nvPr/>
        </p:nvSpPr>
        <p:spPr>
          <a:xfrm>
            <a:off x="1193423" y="5640476"/>
            <a:ext cx="295351" cy="295351"/>
          </a:xfrm>
          <a:prstGeom prst="noSmoking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66928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Restriction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66928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Row-Level Security · Restriction</a:t>
            </a:r>
            <a:endParaRPr lang="en-US" sz="550" dirty="0"/>
          </a:p>
        </p:txBody>
      </p:sp>
      <p:sp>
        <p:nvSpPr>
          <p:cNvPr id="114" name="Shape 112"/>
          <p:cNvSpPr/>
          <p:nvPr/>
        </p:nvSpPr>
        <p:spPr>
          <a:xfrm>
            <a:off x="2778339" y="5683910"/>
            <a:ext cx="295351" cy="208483"/>
          </a:xfrm>
          <a:prstGeom prst="rightArrow">
            <a:avLst/>
          </a:prstGeom>
          <a:solidFill>
            <a:srgbClr val="C89B3C"/>
          </a:solidFill>
          <a:ln/>
        </p:spPr>
      </p:sp>
      <p:sp>
        <p:nvSpPr>
          <p:cNvPr id="115" name="Text 113"/>
          <p:cNvSpPr/>
          <p:nvPr/>
        </p:nvSpPr>
        <p:spPr>
          <a:xfrm>
            <a:off x="2151844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 Flow</a:t>
            </a:r>
            <a:endParaRPr lang="en-US" sz="650" dirty="0"/>
          </a:p>
        </p:txBody>
      </p:sp>
      <p:sp>
        <p:nvSpPr>
          <p:cNvPr id="116" name="Text 114"/>
          <p:cNvSpPr/>
          <p:nvPr/>
        </p:nvSpPr>
        <p:spPr>
          <a:xfrm>
            <a:off x="2151844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 Data Flow</a:t>
            </a:r>
            <a:endParaRPr lang="en-US" sz="550" dirty="0"/>
          </a:p>
        </p:txBody>
      </p:sp>
      <p:sp>
        <p:nvSpPr>
          <p:cNvPr id="117" name="Shape 115"/>
          <p:cNvSpPr/>
          <p:nvPr/>
        </p:nvSpPr>
        <p:spPr>
          <a:xfrm>
            <a:off x="4363256" y="5640476"/>
            <a:ext cx="295351" cy="295351"/>
          </a:xfrm>
          <a:prstGeom prst="leftCircularArrow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3736761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Refresh</a:t>
            </a:r>
            <a:endParaRPr lang="en-US" sz="650" dirty="0"/>
          </a:p>
        </p:txBody>
      </p:sp>
      <p:sp>
        <p:nvSpPr>
          <p:cNvPr id="119" name="Text 117"/>
          <p:cNvSpPr/>
          <p:nvPr/>
        </p:nvSpPr>
        <p:spPr>
          <a:xfrm>
            <a:off x="3736761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Refresh Cycle</a:t>
            </a:r>
            <a:endParaRPr lang="en-US" sz="550" dirty="0"/>
          </a:p>
        </p:txBody>
      </p:sp>
      <p:sp>
        <p:nvSpPr>
          <p:cNvPr id="120" name="Shape 118"/>
          <p:cNvSpPr/>
          <p:nvPr/>
        </p:nvSpPr>
        <p:spPr>
          <a:xfrm>
            <a:off x="5956859" y="5649163"/>
            <a:ext cx="277978" cy="277978"/>
          </a:xfrm>
          <a:prstGeom prst="star4">
            <a:avLst/>
          </a:prstGeom>
          <a:solidFill>
            <a:srgbClr val="C89B3C"/>
          </a:solidFill>
          <a:ln/>
        </p:spPr>
      </p:sp>
      <p:sp>
        <p:nvSpPr>
          <p:cNvPr id="121" name="Text 119"/>
          <p:cNvSpPr/>
          <p:nvPr/>
        </p:nvSpPr>
        <p:spPr>
          <a:xfrm>
            <a:off x="5321677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Insight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5321677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Insight · Anomaly Detected</a:t>
            </a:r>
            <a:endParaRPr lang="en-US" sz="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Transformation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unique icons — every one is a distinct native PowerPoint shape, none repeated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 flipV="1">
            <a:off x="1193423" y="1543964"/>
            <a:ext cx="147676" cy="234544"/>
          </a:xfrm>
          <a:prstGeom prst="line">
            <a:avLst/>
          </a:prstGeom>
          <a:noFill/>
          <a:ln w="15875">
            <a:solidFill>
              <a:srgbClr val="C89B3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93423" y="1778508"/>
            <a:ext cx="295351" cy="914"/>
          </a:xfrm>
          <a:prstGeom prst="line">
            <a:avLst/>
          </a:prstGeom>
          <a:noFill/>
          <a:ln w="15875">
            <a:solidFill>
              <a:srgbClr val="C89B3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41098" y="1543964"/>
            <a:ext cx="147676" cy="234544"/>
          </a:xfrm>
          <a:prstGeom prst="line">
            <a:avLst/>
          </a:prstGeom>
          <a:noFill/>
          <a:ln w="15875">
            <a:solidFill>
              <a:srgbClr val="C89B3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09826" y="1512692"/>
            <a:ext cx="62545" cy="62545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62150" y="1747236"/>
            <a:ext cx="62545" cy="62545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57501" y="1747236"/>
            <a:ext cx="62545" cy="62545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566928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Thread · Connectivity · IoT</a:t>
            </a:r>
            <a:endParaRPr lang="en-US" sz="550" dirty="0"/>
          </a:p>
        </p:txBody>
      </p:sp>
      <p:sp>
        <p:nvSpPr>
          <p:cNvPr id="12" name="Shape 10"/>
          <p:cNvSpPr/>
          <p:nvPr/>
        </p:nvSpPr>
        <p:spPr>
          <a:xfrm>
            <a:off x="2778339" y="1543964"/>
            <a:ext cx="295351" cy="295351"/>
          </a:xfrm>
          <a:prstGeom prst="circularArrow">
            <a:avLst/>
          </a:prstGeom>
          <a:solidFill>
            <a:srgbClr val="C89B3C"/>
          </a:solidFill>
          <a:ln/>
        </p:spPr>
      </p:sp>
      <p:sp>
        <p:nvSpPr>
          <p:cNvPr id="13" name="Text 11"/>
          <p:cNvSpPr/>
          <p:nvPr/>
        </p:nvSpPr>
        <p:spPr>
          <a:xfrm>
            <a:off x="2151844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2151844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Transformation · Change · Modernization</a:t>
            </a:r>
            <a:endParaRPr lang="en-US" sz="550" dirty="0"/>
          </a:p>
        </p:txBody>
      </p:sp>
      <p:sp>
        <p:nvSpPr>
          <p:cNvPr id="15" name="Shape 13"/>
          <p:cNvSpPr/>
          <p:nvPr/>
        </p:nvSpPr>
        <p:spPr>
          <a:xfrm>
            <a:off x="4354569" y="1596085"/>
            <a:ext cx="312725" cy="191110"/>
          </a:xfrm>
          <a:prstGeom prst="cloud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83133" y="1665580"/>
            <a:ext cx="55596" cy="112928"/>
          </a:xfrm>
          <a:prstGeom prst="upArrow">
            <a:avLst/>
          </a:prstGeom>
          <a:solidFill>
            <a:srgbClr val="C89B3C"/>
          </a:solidFill>
          <a:ln/>
        </p:spPr>
      </p:sp>
      <p:sp>
        <p:nvSpPr>
          <p:cNvPr id="17" name="Text 15"/>
          <p:cNvSpPr/>
          <p:nvPr/>
        </p:nvSpPr>
        <p:spPr>
          <a:xfrm>
            <a:off x="3736761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Migration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3736761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Migration · Infrastructure · Scale</a:t>
            </a:r>
            <a:endParaRPr lang="en-US" sz="550" dirty="0"/>
          </a:p>
        </p:txBody>
      </p:sp>
      <p:sp>
        <p:nvSpPr>
          <p:cNvPr id="19" name="Shape 17"/>
          <p:cNvSpPr/>
          <p:nvPr/>
        </p:nvSpPr>
        <p:spPr>
          <a:xfrm>
            <a:off x="5939485" y="1543964"/>
            <a:ext cx="312725" cy="295351"/>
          </a:xfrm>
          <a:prstGeom prst="hexagon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21677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5321677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· Integration · Unified System</a:t>
            </a:r>
            <a:endParaRPr lang="en-US" sz="550" dirty="0"/>
          </a:p>
        </p:txBody>
      </p:sp>
      <p:sp>
        <p:nvSpPr>
          <p:cNvPr id="22" name="Shape 20"/>
          <p:cNvSpPr/>
          <p:nvPr/>
        </p:nvSpPr>
        <p:spPr>
          <a:xfrm>
            <a:off x="7611270" y="1622146"/>
            <a:ext cx="86868" cy="86868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23" name="Shape 21"/>
          <p:cNvSpPr/>
          <p:nvPr/>
        </p:nvSpPr>
        <p:spPr>
          <a:xfrm>
            <a:off x="7611270" y="1717700"/>
            <a:ext cx="86868" cy="86868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24" name="Shape 22"/>
          <p:cNvSpPr/>
          <p:nvPr/>
        </p:nvSpPr>
        <p:spPr>
          <a:xfrm>
            <a:off x="7706824" y="1622146"/>
            <a:ext cx="86868" cy="86868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25" name="Shape 23"/>
          <p:cNvSpPr/>
          <p:nvPr/>
        </p:nvSpPr>
        <p:spPr>
          <a:xfrm>
            <a:off x="7706824" y="1717700"/>
            <a:ext cx="86868" cy="86868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26" name="Text 24"/>
          <p:cNvSpPr/>
          <p:nvPr/>
        </p:nvSpPr>
        <p:spPr>
          <a:xfrm>
            <a:off x="6906594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Modernization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6906594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Modernization · Legacy Replacement</a:t>
            </a:r>
            <a:endParaRPr lang="en-US" sz="550" dirty="0"/>
          </a:p>
        </p:txBody>
      </p:sp>
      <p:sp>
        <p:nvSpPr>
          <p:cNvPr id="28" name="Shape 26"/>
          <p:cNvSpPr/>
          <p:nvPr/>
        </p:nvSpPr>
        <p:spPr>
          <a:xfrm>
            <a:off x="9118005" y="1552651"/>
            <a:ext cx="295351" cy="277978"/>
          </a:xfrm>
          <a:prstGeom prst="hexagon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91510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Hub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8491510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Hub · Middleware</a:t>
            </a:r>
            <a:endParaRPr lang="en-US" sz="550" dirty="0"/>
          </a:p>
        </p:txBody>
      </p:sp>
      <p:sp>
        <p:nvSpPr>
          <p:cNvPr id="31" name="Shape 29"/>
          <p:cNvSpPr/>
          <p:nvPr/>
        </p:nvSpPr>
        <p:spPr>
          <a:xfrm>
            <a:off x="10694235" y="1587398"/>
            <a:ext cx="312725" cy="208483"/>
          </a:xfrm>
          <a:prstGeom prst="chevron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076427" y="1874520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Roadmap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10076427" y="2029968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Roadmap · Transformation Path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1219483" y="2559406"/>
            <a:ext cx="243230" cy="312725"/>
          </a:xfrm>
          <a:prstGeom prst="roundRect">
            <a:avLst>
              <a:gd name="adj" fmla="val 22556"/>
            </a:avLst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271604" y="2646274"/>
            <a:ext cx="31272" cy="24323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1302876" y="2611526"/>
            <a:ext cx="46909" cy="59070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271604" y="2724455"/>
            <a:ext cx="31272" cy="24323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1302876" y="2689708"/>
            <a:ext cx="46909" cy="59070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271604" y="2802636"/>
            <a:ext cx="31272" cy="24323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302876" y="2767889"/>
            <a:ext cx="46909" cy="59070"/>
          </a:xfrm>
          <a:prstGeom prst="line">
            <a:avLst/>
          </a:prstGeom>
          <a:noFill/>
          <a:ln w="15240">
            <a:solidFill>
              <a:srgbClr val="C89B3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66928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Checklist</a:t>
            </a:r>
            <a:endParaRPr lang="en-US" sz="650" dirty="0"/>
          </a:p>
        </p:txBody>
      </p:sp>
      <p:sp>
        <p:nvSpPr>
          <p:cNvPr id="42" name="Text 40"/>
          <p:cNvSpPr/>
          <p:nvPr/>
        </p:nvSpPr>
        <p:spPr>
          <a:xfrm>
            <a:off x="566928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Management · Adoption Checklist</a:t>
            </a:r>
            <a:endParaRPr lang="en-US" sz="550" dirty="0"/>
          </a:p>
        </p:txBody>
      </p:sp>
      <p:sp>
        <p:nvSpPr>
          <p:cNvPr id="43" name="Shape 41"/>
          <p:cNvSpPr/>
          <p:nvPr/>
        </p:nvSpPr>
        <p:spPr>
          <a:xfrm>
            <a:off x="2821773" y="2606314"/>
            <a:ext cx="97292" cy="97292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800925" y="2707081"/>
            <a:ext cx="138989" cy="130302"/>
          </a:xfrm>
          <a:prstGeom prst="arc">
            <a:avLst>
              <a:gd name="adj1" fmla="val 10800000"/>
              <a:gd name="adj2" fmla="val 21600000"/>
            </a:avLst>
          </a:prstGeom>
          <a:ln w="17780">
            <a:solidFill>
              <a:srgbClr val="C89B3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932964" y="2606314"/>
            <a:ext cx="97292" cy="97292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912116" y="2707081"/>
            <a:ext cx="138989" cy="130302"/>
          </a:xfrm>
          <a:prstGeom prst="arc">
            <a:avLst>
              <a:gd name="adj1" fmla="val 10800000"/>
              <a:gd name="adj2" fmla="val 21600000"/>
            </a:avLst>
          </a:prstGeom>
          <a:ln w="17780">
            <a:solidFill>
              <a:srgbClr val="C89B3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151844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Workforce</a:t>
            </a:r>
            <a:endParaRPr lang="en-US" sz="650" dirty="0"/>
          </a:p>
        </p:txBody>
      </p:sp>
      <p:sp>
        <p:nvSpPr>
          <p:cNvPr id="48" name="Text 46"/>
          <p:cNvSpPr/>
          <p:nvPr/>
        </p:nvSpPr>
        <p:spPr>
          <a:xfrm>
            <a:off x="2151844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Workforce · Enablement</a:t>
            </a:r>
            <a:endParaRPr lang="en-US" sz="550" dirty="0"/>
          </a:p>
        </p:txBody>
      </p:sp>
      <p:sp>
        <p:nvSpPr>
          <p:cNvPr id="49" name="Shape 47"/>
          <p:cNvSpPr/>
          <p:nvPr/>
        </p:nvSpPr>
        <p:spPr>
          <a:xfrm>
            <a:off x="4345882" y="2585466"/>
            <a:ext cx="330098" cy="260604"/>
          </a:xfrm>
          <a:prstGeom prst="roundRect">
            <a:avLst>
              <a:gd name="adj" fmla="val 28070"/>
            </a:avLst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06690" y="2654960"/>
            <a:ext cx="138989" cy="138989"/>
          </a:xfrm>
          <a:prstGeom prst="pie">
            <a:avLst>
              <a:gd name="adj1" fmla="val 16200000"/>
              <a:gd name="adj2" fmla="val 5400000"/>
            </a:avLst>
          </a:prstGeom>
          <a:ln w="15875">
            <a:solidFill>
              <a:srgbClr val="C89B3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736761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Dashboard</a:t>
            </a:r>
            <a:endParaRPr lang="en-US" sz="650" dirty="0"/>
          </a:p>
        </p:txBody>
      </p:sp>
      <p:sp>
        <p:nvSpPr>
          <p:cNvPr id="52" name="Text 50"/>
          <p:cNvSpPr/>
          <p:nvPr/>
        </p:nvSpPr>
        <p:spPr>
          <a:xfrm>
            <a:off x="3736761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Maturity Dashboard</a:t>
            </a:r>
            <a:endParaRPr lang="en-US" sz="550" dirty="0"/>
          </a:p>
        </p:txBody>
      </p:sp>
      <p:sp>
        <p:nvSpPr>
          <p:cNvPr id="53" name="Shape 51"/>
          <p:cNvSpPr/>
          <p:nvPr/>
        </p:nvSpPr>
        <p:spPr>
          <a:xfrm>
            <a:off x="5939485" y="2585466"/>
            <a:ext cx="312725" cy="260604"/>
          </a:xfrm>
          <a:prstGeom prst="leftRightCircularArrow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321677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Automation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5321677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Automation · Workflow Exchange</a:t>
            </a:r>
            <a:endParaRPr lang="en-US" sz="550" dirty="0"/>
          </a:p>
        </p:txBody>
      </p:sp>
      <p:sp>
        <p:nvSpPr>
          <p:cNvPr id="56" name="Shape 54"/>
          <p:cNvSpPr/>
          <p:nvPr/>
        </p:nvSpPr>
        <p:spPr>
          <a:xfrm>
            <a:off x="7541775" y="2576779"/>
            <a:ext cx="277978" cy="277978"/>
          </a:xfrm>
          <a:prstGeom prst="sun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906594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Culture</a:t>
            </a:r>
            <a:endParaRPr lang="en-US" sz="650" dirty="0"/>
          </a:p>
        </p:txBody>
      </p:sp>
      <p:sp>
        <p:nvSpPr>
          <p:cNvPr id="58" name="Text 56"/>
          <p:cNvSpPr/>
          <p:nvPr/>
        </p:nvSpPr>
        <p:spPr>
          <a:xfrm>
            <a:off x="6906594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Culture · Digital Mindset</a:t>
            </a:r>
            <a:endParaRPr lang="en-US" sz="550" dirty="0"/>
          </a:p>
        </p:txBody>
      </p:sp>
      <p:sp>
        <p:nvSpPr>
          <p:cNvPr id="59" name="Shape 57"/>
          <p:cNvSpPr/>
          <p:nvPr/>
        </p:nvSpPr>
        <p:spPr>
          <a:xfrm>
            <a:off x="9118005" y="2568092"/>
            <a:ext cx="295351" cy="295351"/>
          </a:xfrm>
          <a:prstGeom prst="arc">
            <a:avLst>
              <a:gd name="adj1" fmla="val 12000000"/>
              <a:gd name="adj2" fmla="val 20400000"/>
            </a:avLst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491510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8491510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Connectivity · Sensors</a:t>
            </a:r>
            <a:endParaRPr lang="en-US" sz="550" dirty="0"/>
          </a:p>
        </p:txBody>
      </p:sp>
      <p:sp>
        <p:nvSpPr>
          <p:cNvPr id="62" name="Shape 60"/>
          <p:cNvSpPr/>
          <p:nvPr/>
        </p:nvSpPr>
        <p:spPr>
          <a:xfrm>
            <a:off x="10706396" y="2649748"/>
            <a:ext cx="132039" cy="132039"/>
          </a:xfrm>
          <a:prstGeom prst="ellipse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0833223" y="2715768"/>
            <a:ext cx="147676" cy="914"/>
          </a:xfrm>
          <a:prstGeom prst="line">
            <a:avLst/>
          </a:prstGeom>
          <a:noFill/>
          <a:ln w="20320">
            <a:solidFill>
              <a:srgbClr val="C89B3C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0937465" y="2715768"/>
            <a:ext cx="914" cy="43434"/>
          </a:xfrm>
          <a:prstGeom prst="line">
            <a:avLst/>
          </a:prstGeom>
          <a:noFill/>
          <a:ln w="17780">
            <a:solidFill>
              <a:srgbClr val="C89B3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0975687" y="2715768"/>
            <a:ext cx="914" cy="43434"/>
          </a:xfrm>
          <a:prstGeom prst="line">
            <a:avLst/>
          </a:prstGeom>
          <a:noFill/>
          <a:ln w="17780">
            <a:solidFill>
              <a:srgbClr val="C89B3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076427" y="2898648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Access</a:t>
            </a:r>
            <a:endParaRPr lang="en-US" sz="650" dirty="0"/>
          </a:p>
        </p:txBody>
      </p:sp>
      <p:sp>
        <p:nvSpPr>
          <p:cNvPr id="67" name="Text 65"/>
          <p:cNvSpPr/>
          <p:nvPr/>
        </p:nvSpPr>
        <p:spPr>
          <a:xfrm>
            <a:off x="10076427" y="3054096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Access · Identity Management</a:t>
            </a:r>
            <a:endParaRPr lang="en-US" sz="550" dirty="0"/>
          </a:p>
        </p:txBody>
      </p:sp>
      <p:sp>
        <p:nvSpPr>
          <p:cNvPr id="68" name="Shape 66"/>
          <p:cNvSpPr/>
          <p:nvPr/>
        </p:nvSpPr>
        <p:spPr>
          <a:xfrm>
            <a:off x="1193423" y="3592220"/>
            <a:ext cx="295351" cy="295351"/>
          </a:xfrm>
          <a:prstGeom prst="irregularSeal1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66928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Maturity Certification</a:t>
            </a:r>
            <a:endParaRPr lang="en-US" sz="650" dirty="0"/>
          </a:p>
        </p:txBody>
      </p:sp>
      <p:sp>
        <p:nvSpPr>
          <p:cNvPr id="70" name="Text 68"/>
          <p:cNvSpPr/>
          <p:nvPr/>
        </p:nvSpPr>
        <p:spPr>
          <a:xfrm>
            <a:off x="566928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Maturity · Certification</a:t>
            </a:r>
            <a:endParaRPr lang="en-US" sz="550" dirty="0"/>
          </a:p>
        </p:txBody>
      </p:sp>
      <p:sp>
        <p:nvSpPr>
          <p:cNvPr id="71" name="Shape 69"/>
          <p:cNvSpPr/>
          <p:nvPr/>
        </p:nvSpPr>
        <p:spPr>
          <a:xfrm>
            <a:off x="2769652" y="3635654"/>
            <a:ext cx="312725" cy="208483"/>
          </a:xfrm>
          <a:prstGeom prst="cloud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151844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Cloud-Native</a:t>
            </a:r>
            <a:endParaRPr lang="en-US" sz="650" dirty="0"/>
          </a:p>
        </p:txBody>
      </p:sp>
      <p:sp>
        <p:nvSpPr>
          <p:cNvPr id="73" name="Text 71"/>
          <p:cNvSpPr/>
          <p:nvPr/>
        </p:nvSpPr>
        <p:spPr>
          <a:xfrm>
            <a:off x="2151844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Cloud-Native · Sync · Scalability</a:t>
            </a:r>
            <a:endParaRPr lang="en-US" sz="550" dirty="0"/>
          </a:p>
        </p:txBody>
      </p:sp>
      <p:sp>
        <p:nvSpPr>
          <p:cNvPr id="74" name="Shape 72"/>
          <p:cNvSpPr/>
          <p:nvPr/>
        </p:nvSpPr>
        <p:spPr>
          <a:xfrm>
            <a:off x="4354569" y="3618281"/>
            <a:ext cx="312725" cy="243230"/>
          </a:xfrm>
          <a:prstGeom prst="flowChartDecision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736761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vs Buy</a:t>
            </a:r>
            <a:endParaRPr lang="en-US" sz="650" dirty="0"/>
          </a:p>
        </p:txBody>
      </p:sp>
      <p:sp>
        <p:nvSpPr>
          <p:cNvPr id="76" name="Text 74"/>
          <p:cNvSpPr/>
          <p:nvPr/>
        </p:nvSpPr>
        <p:spPr>
          <a:xfrm>
            <a:off x="3736761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vs. Buy Decision</a:t>
            </a:r>
            <a:endParaRPr lang="en-US" sz="550" dirty="0"/>
          </a:p>
        </p:txBody>
      </p:sp>
      <p:sp>
        <p:nvSpPr>
          <p:cNvPr id="77" name="Shape 75"/>
          <p:cNvSpPr/>
          <p:nvPr/>
        </p:nvSpPr>
        <p:spPr>
          <a:xfrm>
            <a:off x="5939485" y="3626968"/>
            <a:ext cx="312725" cy="225857"/>
          </a:xfrm>
          <a:prstGeom prst="flowChartProcess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5321677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 Step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5321677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 Roadmap Step</a:t>
            </a:r>
            <a:endParaRPr lang="en-US" sz="550" dirty="0"/>
          </a:p>
        </p:txBody>
      </p:sp>
      <p:sp>
        <p:nvSpPr>
          <p:cNvPr id="80" name="Shape 78"/>
          <p:cNvSpPr/>
          <p:nvPr/>
        </p:nvSpPr>
        <p:spPr>
          <a:xfrm>
            <a:off x="7524402" y="3644341"/>
            <a:ext cx="312725" cy="191110"/>
          </a:xfrm>
          <a:prstGeom prst="flowChartTerminator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906594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Milestone</a:t>
            </a:r>
            <a:endParaRPr lang="en-US" sz="650" dirty="0"/>
          </a:p>
        </p:txBody>
      </p:sp>
      <p:sp>
        <p:nvSpPr>
          <p:cNvPr id="82" name="Text 80"/>
          <p:cNvSpPr/>
          <p:nvPr/>
        </p:nvSpPr>
        <p:spPr>
          <a:xfrm>
            <a:off x="6906594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Start/End · Milestone</a:t>
            </a:r>
            <a:endParaRPr lang="en-US" sz="550" dirty="0"/>
          </a:p>
        </p:txBody>
      </p:sp>
      <p:sp>
        <p:nvSpPr>
          <p:cNvPr id="83" name="Shape 81"/>
          <p:cNvSpPr/>
          <p:nvPr/>
        </p:nvSpPr>
        <p:spPr>
          <a:xfrm>
            <a:off x="9109318" y="3626968"/>
            <a:ext cx="312725" cy="225857"/>
          </a:xfrm>
          <a:prstGeom prst="flowChartAlternateProcess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8491510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Alternate Path</a:t>
            </a:r>
            <a:endParaRPr lang="en-US" sz="650" dirty="0"/>
          </a:p>
        </p:txBody>
      </p:sp>
      <p:sp>
        <p:nvSpPr>
          <p:cNvPr id="85" name="Text 83"/>
          <p:cNvSpPr/>
          <p:nvPr/>
        </p:nvSpPr>
        <p:spPr>
          <a:xfrm>
            <a:off x="8491510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Alternate Delivery Path</a:t>
            </a:r>
            <a:endParaRPr lang="en-US" sz="550" dirty="0"/>
          </a:p>
        </p:txBody>
      </p:sp>
      <p:sp>
        <p:nvSpPr>
          <p:cNvPr id="86" name="Shape 84"/>
          <p:cNvSpPr/>
          <p:nvPr/>
        </p:nvSpPr>
        <p:spPr>
          <a:xfrm>
            <a:off x="10694235" y="3626968"/>
            <a:ext cx="312725" cy="225857"/>
          </a:xfrm>
          <a:prstGeom prst="flowChartPredefinedProcess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0076427" y="3922776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Module</a:t>
            </a:r>
            <a:endParaRPr lang="en-US" sz="650" dirty="0"/>
          </a:p>
        </p:txBody>
      </p:sp>
      <p:sp>
        <p:nvSpPr>
          <p:cNvPr id="88" name="Text 86"/>
          <p:cNvSpPr/>
          <p:nvPr/>
        </p:nvSpPr>
        <p:spPr>
          <a:xfrm>
            <a:off x="10076427" y="4078224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Module · Predefined Process</a:t>
            </a:r>
            <a:endParaRPr lang="en-US" sz="550" dirty="0"/>
          </a:p>
        </p:txBody>
      </p:sp>
      <p:sp>
        <p:nvSpPr>
          <p:cNvPr id="89" name="Shape 87"/>
          <p:cNvSpPr/>
          <p:nvPr/>
        </p:nvSpPr>
        <p:spPr>
          <a:xfrm>
            <a:off x="1184736" y="4651096"/>
            <a:ext cx="312725" cy="225857"/>
          </a:xfrm>
          <a:prstGeom prst="flowChartPreparation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66928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Readiness Assessment</a:t>
            </a:r>
            <a:endParaRPr lang="en-US" sz="650" dirty="0"/>
          </a:p>
        </p:txBody>
      </p:sp>
      <p:sp>
        <p:nvSpPr>
          <p:cNvPr id="91" name="Text 89"/>
          <p:cNvSpPr/>
          <p:nvPr/>
        </p:nvSpPr>
        <p:spPr>
          <a:xfrm>
            <a:off x="566928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Readiness Assessment · Preparation</a:t>
            </a:r>
            <a:endParaRPr lang="en-US" sz="550" dirty="0"/>
          </a:p>
        </p:txBody>
      </p:sp>
      <p:sp>
        <p:nvSpPr>
          <p:cNvPr id="92" name="Shape 90"/>
          <p:cNvSpPr/>
          <p:nvPr/>
        </p:nvSpPr>
        <p:spPr>
          <a:xfrm>
            <a:off x="2769652" y="4642409"/>
            <a:ext cx="312725" cy="243230"/>
          </a:xfrm>
          <a:prstGeom prst="flowChartMultidocument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2151844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Playbook</a:t>
            </a:r>
            <a:endParaRPr lang="en-US" sz="650" dirty="0"/>
          </a:p>
        </p:txBody>
      </p:sp>
      <p:sp>
        <p:nvSpPr>
          <p:cNvPr id="94" name="Text 92"/>
          <p:cNvSpPr/>
          <p:nvPr/>
        </p:nvSpPr>
        <p:spPr>
          <a:xfrm>
            <a:off x="2151844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Management Playbook</a:t>
            </a:r>
            <a:endParaRPr lang="en-US" sz="550" dirty="0"/>
          </a:p>
        </p:txBody>
      </p:sp>
      <p:sp>
        <p:nvSpPr>
          <p:cNvPr id="95" name="Shape 93"/>
          <p:cNvSpPr/>
          <p:nvPr/>
        </p:nvSpPr>
        <p:spPr>
          <a:xfrm>
            <a:off x="4354569" y="4607662"/>
            <a:ext cx="312725" cy="312725"/>
          </a:xfrm>
          <a:prstGeom prst="quadArrow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3736761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Omnichannel</a:t>
            </a:r>
            <a:endParaRPr lang="en-US" sz="650" dirty="0"/>
          </a:p>
        </p:txBody>
      </p:sp>
      <p:sp>
        <p:nvSpPr>
          <p:cNvPr id="97" name="Text 95"/>
          <p:cNvSpPr/>
          <p:nvPr/>
        </p:nvSpPr>
        <p:spPr>
          <a:xfrm>
            <a:off x="3736761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Omnichannel · Multi-Channel Flow</a:t>
            </a:r>
            <a:endParaRPr lang="en-US" sz="550" dirty="0"/>
          </a:p>
        </p:txBody>
      </p:sp>
      <p:sp>
        <p:nvSpPr>
          <p:cNvPr id="98" name="Shape 96"/>
          <p:cNvSpPr/>
          <p:nvPr/>
        </p:nvSpPr>
        <p:spPr>
          <a:xfrm>
            <a:off x="5948172" y="4616348"/>
            <a:ext cx="295351" cy="295351"/>
          </a:xfrm>
          <a:prstGeom prst="leftCircularArrow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5321677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Rollout</a:t>
            </a:r>
            <a:endParaRPr lang="en-US" sz="650" dirty="0"/>
          </a:p>
        </p:txBody>
      </p:sp>
      <p:sp>
        <p:nvSpPr>
          <p:cNvPr id="100" name="Text 98"/>
          <p:cNvSpPr/>
          <p:nvPr/>
        </p:nvSpPr>
        <p:spPr>
          <a:xfrm>
            <a:off x="5321677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Rollout · Agile Cycle</a:t>
            </a:r>
            <a:endParaRPr lang="en-US" sz="550" dirty="0"/>
          </a:p>
        </p:txBody>
      </p:sp>
      <p:sp>
        <p:nvSpPr>
          <p:cNvPr id="101" name="Shape 99"/>
          <p:cNvSpPr/>
          <p:nvPr/>
        </p:nvSpPr>
        <p:spPr>
          <a:xfrm>
            <a:off x="7533088" y="4659782"/>
            <a:ext cx="295351" cy="208483"/>
          </a:xfrm>
          <a:prstGeom prst="rightArrow">
            <a:avLst/>
          </a:prstGeom>
          <a:solidFill>
            <a:srgbClr val="C89B3C"/>
          </a:solidFill>
          <a:ln/>
        </p:spPr>
      </p:sp>
      <p:sp>
        <p:nvSpPr>
          <p:cNvPr id="102" name="Text 100"/>
          <p:cNvSpPr/>
          <p:nvPr/>
        </p:nvSpPr>
        <p:spPr>
          <a:xfrm>
            <a:off x="6906594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Modernization Path</a:t>
            </a:r>
            <a:endParaRPr lang="en-US" sz="650" dirty="0"/>
          </a:p>
        </p:txBody>
      </p:sp>
      <p:sp>
        <p:nvSpPr>
          <p:cNvPr id="103" name="Text 101"/>
          <p:cNvSpPr/>
          <p:nvPr/>
        </p:nvSpPr>
        <p:spPr>
          <a:xfrm>
            <a:off x="6906594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Modernization Path · Forward Migration</a:t>
            </a:r>
            <a:endParaRPr lang="en-US" sz="550" dirty="0"/>
          </a:p>
        </p:txBody>
      </p:sp>
      <p:sp>
        <p:nvSpPr>
          <p:cNvPr id="104" name="Shape 102"/>
          <p:cNvSpPr/>
          <p:nvPr/>
        </p:nvSpPr>
        <p:spPr>
          <a:xfrm>
            <a:off x="9126692" y="4625035"/>
            <a:ext cx="277978" cy="277978"/>
          </a:xfrm>
          <a:prstGeom prst="star4">
            <a:avLst/>
          </a:prstGeom>
          <a:solidFill>
            <a:srgbClr val="C89B3C"/>
          </a:solidFill>
          <a:ln/>
        </p:spPr>
      </p:sp>
      <p:sp>
        <p:nvSpPr>
          <p:cNvPr id="105" name="Text 103"/>
          <p:cNvSpPr/>
          <p:nvPr/>
        </p:nvSpPr>
        <p:spPr>
          <a:xfrm>
            <a:off x="8491510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Spark</a:t>
            </a:r>
            <a:endParaRPr lang="en-US" sz="650" dirty="0"/>
          </a:p>
        </p:txBody>
      </p:sp>
      <p:sp>
        <p:nvSpPr>
          <p:cNvPr id="106" name="Text 104"/>
          <p:cNvSpPr/>
          <p:nvPr/>
        </p:nvSpPr>
        <p:spPr>
          <a:xfrm>
            <a:off x="8491510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Spark · New Capability</a:t>
            </a:r>
            <a:endParaRPr lang="en-US" sz="550" dirty="0"/>
          </a:p>
        </p:txBody>
      </p:sp>
      <p:sp>
        <p:nvSpPr>
          <p:cNvPr id="107" name="Shape 105"/>
          <p:cNvSpPr/>
          <p:nvPr/>
        </p:nvSpPr>
        <p:spPr>
          <a:xfrm>
            <a:off x="10737669" y="4651096"/>
            <a:ext cx="225857" cy="225857"/>
          </a:xfrm>
          <a:prstGeom prst="mathMultiply">
            <a:avLst/>
          </a:prstGeom>
          <a:solidFill>
            <a:srgbClr val="C89B3C"/>
          </a:solidFill>
          <a:ln/>
        </p:spPr>
      </p:sp>
      <p:sp>
        <p:nvSpPr>
          <p:cNvPr id="108" name="Text 106"/>
          <p:cNvSpPr/>
          <p:nvPr/>
        </p:nvSpPr>
        <p:spPr>
          <a:xfrm>
            <a:off x="10076427" y="4946904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Effect</a:t>
            </a:r>
            <a:endParaRPr lang="en-US" sz="650" dirty="0"/>
          </a:p>
        </p:txBody>
      </p:sp>
      <p:sp>
        <p:nvSpPr>
          <p:cNvPr id="109" name="Text 107"/>
          <p:cNvSpPr/>
          <p:nvPr/>
        </p:nvSpPr>
        <p:spPr>
          <a:xfrm>
            <a:off x="10076427" y="5102352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Effect · Network Effect</a:t>
            </a:r>
            <a:endParaRPr lang="en-US" sz="550" dirty="0"/>
          </a:p>
        </p:txBody>
      </p:sp>
      <p:sp>
        <p:nvSpPr>
          <p:cNvPr id="110" name="Shape 108"/>
          <p:cNvSpPr/>
          <p:nvPr/>
        </p:nvSpPr>
        <p:spPr>
          <a:xfrm>
            <a:off x="1167362" y="5701284"/>
            <a:ext cx="347472" cy="173736"/>
          </a:xfrm>
          <a:prstGeom prst="ribbon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66928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Leader</a:t>
            </a:r>
            <a:endParaRPr lang="en-US" sz="650" dirty="0"/>
          </a:p>
        </p:txBody>
      </p:sp>
      <p:sp>
        <p:nvSpPr>
          <p:cNvPr id="112" name="Text 110"/>
          <p:cNvSpPr/>
          <p:nvPr/>
        </p:nvSpPr>
        <p:spPr>
          <a:xfrm>
            <a:off x="566928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Leader Status · Recognition</a:t>
            </a:r>
            <a:endParaRPr lang="en-US" sz="550" dirty="0"/>
          </a:p>
        </p:txBody>
      </p:sp>
      <p:sp>
        <p:nvSpPr>
          <p:cNvPr id="113" name="Shape 111"/>
          <p:cNvSpPr/>
          <p:nvPr/>
        </p:nvSpPr>
        <p:spPr>
          <a:xfrm>
            <a:off x="2778339" y="5640476"/>
            <a:ext cx="295351" cy="295351"/>
          </a:xfrm>
          <a:prstGeom prst="noSmoking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2151844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Constraint</a:t>
            </a:r>
            <a:endParaRPr lang="en-US" sz="650" dirty="0"/>
          </a:p>
        </p:txBody>
      </p:sp>
      <p:sp>
        <p:nvSpPr>
          <p:cNvPr id="115" name="Text 113"/>
          <p:cNvSpPr/>
          <p:nvPr/>
        </p:nvSpPr>
        <p:spPr>
          <a:xfrm>
            <a:off x="2151844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Constraint · Technical Debt</a:t>
            </a:r>
            <a:endParaRPr lang="en-US" sz="550" dirty="0"/>
          </a:p>
        </p:txBody>
      </p:sp>
      <p:sp>
        <p:nvSpPr>
          <p:cNvPr id="116" name="Shape 114"/>
          <p:cNvSpPr/>
          <p:nvPr/>
        </p:nvSpPr>
        <p:spPr>
          <a:xfrm>
            <a:off x="4354569" y="5666537"/>
            <a:ext cx="312725" cy="243230"/>
          </a:xfrm>
          <a:prstGeom prst="borderCallout1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3736761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</a:t>
            </a:r>
            <a:endParaRPr lang="en-US" sz="650" dirty="0"/>
          </a:p>
        </p:txBody>
      </p:sp>
      <p:sp>
        <p:nvSpPr>
          <p:cNvPr id="118" name="Text 116"/>
          <p:cNvSpPr/>
          <p:nvPr/>
        </p:nvSpPr>
        <p:spPr>
          <a:xfrm>
            <a:off x="3736761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 · Retrospective Note</a:t>
            </a:r>
            <a:endParaRPr lang="en-US" sz="550" dirty="0"/>
          </a:p>
        </p:txBody>
      </p:sp>
      <p:sp>
        <p:nvSpPr>
          <p:cNvPr id="119" name="Shape 117"/>
          <p:cNvSpPr/>
          <p:nvPr/>
        </p:nvSpPr>
        <p:spPr>
          <a:xfrm>
            <a:off x="5965546" y="5649163"/>
            <a:ext cx="260604" cy="277978"/>
          </a:xfrm>
          <a:prstGeom prst="flowChartOffpageConnector">
            <a:avLst/>
          </a:prstGeom>
          <a:ln w="20320">
            <a:solidFill>
              <a:srgbClr val="C89B3C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5321677" y="5971032"/>
            <a:ext cx="15483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Cross-Functional Link</a:t>
            </a:r>
            <a:endParaRPr lang="en-US" sz="650" dirty="0"/>
          </a:p>
        </p:txBody>
      </p:sp>
      <p:sp>
        <p:nvSpPr>
          <p:cNvPr id="121" name="Text 119"/>
          <p:cNvSpPr/>
          <p:nvPr/>
        </p:nvSpPr>
        <p:spPr>
          <a:xfrm>
            <a:off x="5321677" y="6126480"/>
            <a:ext cx="1548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Cross-Functional Reference</a:t>
            </a:r>
            <a:endParaRPr lang="en-US" sz="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Icon Library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Icon Library — Light</dc:title>
  <dc:subject>PptxGenJS Presentation</dc:subject>
  <dc:creator>Business Development</dc:creator>
  <cp:lastModifiedBy>Business Development</cp:lastModifiedBy>
  <cp:revision>1</cp:revision>
  <dcterms:created xsi:type="dcterms:W3CDTF">2026-07-27T15:19:57Z</dcterms:created>
  <dcterms:modified xsi:type="dcterms:W3CDTF">2026-07-27T15:19:57Z</dcterms:modified>
</cp:coreProperties>
</file>