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Cambria"/>
              </a:rPr>
              <a:t>Illustrative Metric by Quarter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Metric</c:v>
                </c:pt>
              </c:strCache>
            </c:strRef>
          </c:tx>
          <c:spPr>
            <a:solidFill>
              <a:srgbClr val="C89B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6708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55</c:v>
                </c:pt>
                <c:pt idx="2">
                  <c:v>61</c:v>
                </c:pt>
                <c:pt idx="3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6708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0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5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0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NAME  ·  CONFIDENTIAL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[Engagement / Presentation Title]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48920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concise one-line description of the engagement or presentation purpose]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[Prepared for Client Name]      [Month Year]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 Standards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style guide for this deck — colors, type, and icon usage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16233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 / Primary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#16233F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5176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4F607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/ Secondary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#4F6079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C89B3C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Gold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#C89B3C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667085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Muted Text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#667085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6112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#FFFFFF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82880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— Cambria Bold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36–44pt slide titles · 20–24pt section headers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29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781812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Captions — Calibri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14–16pt body text · 10–12pt captions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1005840" cy="100584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2615" y="4825975"/>
            <a:ext cx="497891" cy="497891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3257" y="4936617"/>
            <a:ext cx="276606" cy="27660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2835" y="5036195"/>
            <a:ext cx="77450" cy="7745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/>
          <p:nvPr/>
        </p:nvSpPr>
        <p:spPr>
          <a:xfrm>
            <a:off x="1828800" y="461772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usage — line-style icons housed in an accent-outlined circle. Every icon is a native, fully editable PowerPoint shape (recolor, resize, restyle) — never a raster image. Full library on the appendix pages.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Margins: 0.6in minimum  ·  Grid gaps: 0.3–0.5in  ·  Logo placeholder: top-left on dividers, footer on content slides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12064" cy="51206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77393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34440" y="169164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12064" cy="51206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5117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246888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12064" cy="51206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2841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324612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Approach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0565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402336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Timeline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512064" cy="51206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8289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34440" y="480060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&amp; Next Steps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24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[One-line framing of what this section covers and why it matters]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" y="1755648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459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situation in one to two sentences — what prompted this engagement or presentation.]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57784" y="2670048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603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recommended approach or thesis in one to two sentences.]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" y="3584448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474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expected impact or outcome in one to two sentences.]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03720" y="1691640"/>
            <a:ext cx="4754880" cy="1005840"/>
          </a:xfrm>
          <a:prstGeom prst="roundRect">
            <a:avLst>
              <a:gd name="adj" fmla="val 5455"/>
            </a:avLst>
          </a:prstGeom>
          <a:solidFill>
            <a:srgbClr val="F4F5F8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180136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178040" y="2350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efficiency gain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2880360"/>
            <a:ext cx="4754880" cy="1005840"/>
          </a:xfrm>
          <a:prstGeom prst="roundRect">
            <a:avLst>
              <a:gd name="adj" fmla="val 5455"/>
            </a:avLst>
          </a:prstGeom>
          <a:solidFill>
            <a:srgbClr val="F4F5F8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$4.2M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178040" y="3538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savings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4069080"/>
            <a:ext cx="4754880" cy="1005840"/>
          </a:xfrm>
          <a:prstGeom prst="roundRect">
            <a:avLst>
              <a:gd name="adj" fmla="val 5455"/>
            </a:avLst>
          </a:prstGeom>
          <a:solidFill>
            <a:srgbClr val="F4F5F8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41788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mo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17804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Focus Areas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21792" y="1737360"/>
            <a:ext cx="768096" cy="76809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5736" y="1931304"/>
            <a:ext cx="380208" cy="380208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227" y="2015795"/>
            <a:ext cx="211226" cy="21122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6268" y="2091836"/>
            <a:ext cx="59143" cy="59143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171907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Strategy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06654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" y="2788920"/>
            <a:ext cx="768096" cy="76809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736" y="2982864"/>
            <a:ext cx="380208" cy="380208"/>
          </a:xfrm>
          <a:prstGeom prst="gear9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7706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 Operations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311810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" y="3840480"/>
            <a:ext cx="768096" cy="76809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5175" y="4087231"/>
            <a:ext cx="401330" cy="274594"/>
          </a:xfrm>
          <a:prstGeom prst="cloud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82219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Modernize Technology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91640" y="416966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" y="4892040"/>
            <a:ext cx="768096" cy="76809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0094" y="5307772"/>
            <a:ext cx="71817" cy="14785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9" name="Shape 17"/>
          <p:cNvSpPr/>
          <p:nvPr/>
        </p:nvSpPr>
        <p:spPr>
          <a:xfrm>
            <a:off x="969932" y="5212720"/>
            <a:ext cx="71817" cy="24291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769" y="5117668"/>
            <a:ext cx="71817" cy="33796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/>
          <p:nvPr/>
        </p:nvSpPr>
        <p:spPr>
          <a:xfrm>
            <a:off x="1691640" y="487375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 Growth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91640" y="522122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vs. Future State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12080" cy="4114800"/>
          </a:xfrm>
          <a:prstGeom prst="roundRect">
            <a:avLst>
              <a:gd name="adj" fmla="val 1111"/>
            </a:avLst>
          </a:prstGeom>
          <a:solidFill>
            <a:srgbClr val="F4F5F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73252" y="2500884"/>
            <a:ext cx="82296" cy="82296"/>
          </a:xfrm>
          <a:prstGeom prst="ellipse">
            <a:avLst/>
          </a:prstGeom>
          <a:solidFill>
            <a:srgbClr val="4F6079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[Challenge or constraint one]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3252" y="3159252"/>
            <a:ext cx="82296" cy="82296"/>
          </a:xfrm>
          <a:prstGeom prst="ellipse">
            <a:avLst/>
          </a:prstGeom>
          <a:solidFill>
            <a:srgbClr val="4F607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358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[Challenge or constraint two]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3252" y="3817620"/>
            <a:ext cx="82296" cy="82296"/>
          </a:xfrm>
          <a:prstGeom prst="ellipse">
            <a:avLst/>
          </a:prstGeom>
          <a:solidFill>
            <a:srgbClr val="4F6079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6941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[Challenge or constraint three]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1600200"/>
            <a:ext cx="5212080" cy="4114800"/>
          </a:xfrm>
          <a:prstGeom prst="roundRect">
            <a:avLst>
              <a:gd name="adj" fmla="val 1111"/>
            </a:avLst>
          </a:prstGeom>
          <a:solidFill>
            <a:srgbClr val="F4F5F8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Tomorrow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313932" y="2500884"/>
            <a:ext cx="82296" cy="82296"/>
          </a:xfrm>
          <a:prstGeom prst="ellipse">
            <a:avLst/>
          </a:prstGeom>
          <a:solidFill>
            <a:srgbClr val="4F6079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[Improved outcome one]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13932" y="3159252"/>
            <a:ext cx="82296" cy="82296"/>
          </a:xfrm>
          <a:prstGeom prst="ellipse">
            <a:avLst/>
          </a:prstGeom>
          <a:solidFill>
            <a:srgbClr val="4F6079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0358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[Improved outcome two]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13932" y="3817620"/>
            <a:ext cx="82296" cy="82296"/>
          </a:xfrm>
          <a:prstGeom prst="ellipse">
            <a:avLst/>
          </a:prstGeom>
          <a:solidFill>
            <a:srgbClr val="4F607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6941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[Improved outcome three]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Data 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live data — chart is a native, editable PowerPoint chart object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94415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3291840"/>
            <a:ext cx="9997135" cy="914"/>
          </a:xfrm>
          <a:prstGeom prst="line">
            <a:avLst/>
          </a:prstGeom>
          <a:noFill/>
          <a:ln w="19050">
            <a:solidFill>
              <a:srgbClr val="E2E5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976" y="3145536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999232"/>
            <a:ext cx="585216" cy="585216"/>
          </a:xfrm>
          <a:prstGeom prst="ellipse">
            <a:avLst/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1 note]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50260" y="3145536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Shape 8"/>
          <p:cNvSpPr/>
          <p:nvPr/>
        </p:nvSpPr>
        <p:spPr>
          <a:xfrm>
            <a:off x="3303956" y="2999232"/>
            <a:ext cx="585216" cy="585216"/>
          </a:xfrm>
          <a:prstGeom prst="ellipse">
            <a:avLst/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03956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10764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3604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2 note]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9544" y="3145536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Shape 13"/>
          <p:cNvSpPr/>
          <p:nvPr/>
        </p:nvSpPr>
        <p:spPr>
          <a:xfrm>
            <a:off x="5803240" y="2999232"/>
            <a:ext cx="585216" cy="585216"/>
          </a:xfrm>
          <a:prstGeom prst="ellipse">
            <a:avLst/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3240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10048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72888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3 note]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448827" y="3145536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0" name="Shape 18"/>
          <p:cNvSpPr/>
          <p:nvPr/>
        </p:nvSpPr>
        <p:spPr>
          <a:xfrm>
            <a:off x="8302523" y="2999232"/>
            <a:ext cx="585216" cy="585216"/>
          </a:xfrm>
          <a:prstGeom prst="ellipse">
            <a:avLst/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523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09331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171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4 note]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948111" y="3145536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Shape 23"/>
          <p:cNvSpPr/>
          <p:nvPr/>
        </p:nvSpPr>
        <p:spPr>
          <a:xfrm>
            <a:off x="10801807" y="2999232"/>
            <a:ext cx="585216" cy="585216"/>
          </a:xfrm>
          <a:prstGeom prst="ellipse">
            <a:avLst/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01807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408615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71455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5 note]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Team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86752" y="155448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71384" y="1874520"/>
            <a:ext cx="585216" cy="585216"/>
          </a:xfrm>
          <a:prstGeom prst="ellipse">
            <a:avLst/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61072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74656" y="155448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9288" y="1874520"/>
            <a:ext cx="585216" cy="585216"/>
          </a:xfrm>
          <a:prstGeom prst="ellipse">
            <a:avLst/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8976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6544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36544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2560" y="155448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47192" y="1874520"/>
            <a:ext cx="585216" cy="585216"/>
          </a:xfrm>
          <a:prstGeom prst="ellipse">
            <a:avLst/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36880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4448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24448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50463" y="155448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35095" y="1874520"/>
            <a:ext cx="585216" cy="585216"/>
          </a:xfrm>
          <a:prstGeom prst="ellipse">
            <a:avLst/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24783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4F607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12351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12351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[Insert a compelling client quote, key finding, or thesis statement here.]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[Name, Title, Organization]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tagline or one-line call to action]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[email@company.com]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0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4709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[email@company.com]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Icon Library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grouped by industry — recolor, resize, or restyle natively in PowerPoint. Each icon is captioned with searchable keywords.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9029" y="2944482"/>
            <a:ext cx="145344" cy="29923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Shape 4"/>
          <p:cNvSpPr/>
          <p:nvPr/>
        </p:nvSpPr>
        <p:spPr>
          <a:xfrm>
            <a:off x="1691320" y="2752115"/>
            <a:ext cx="145344" cy="49160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7" name="Shape 5"/>
          <p:cNvSpPr/>
          <p:nvPr/>
        </p:nvSpPr>
        <p:spPr>
          <a:xfrm>
            <a:off x="1913611" y="2559748"/>
            <a:ext cx="145344" cy="68397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Investment · Analytics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0">
            <a:off x="4331284" y="2495626"/>
            <a:ext cx="641223" cy="769468"/>
          </a:xfrm>
          <a:prstGeom prst="pentago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Security · Trust · Compliance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84989" y="2709367"/>
            <a:ext cx="470230" cy="47023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24379" y="2581123"/>
            <a:ext cx="470230" cy="47023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· Funding · Currency · Wealth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21595" y="3200972"/>
            <a:ext cx="812216" cy="6839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0221" y="2474252"/>
            <a:ext cx="854964" cy="32061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5565" y="2816238"/>
            <a:ext cx="51298" cy="38473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02054" y="2816238"/>
            <a:ext cx="51298" cy="38473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58544" y="2816238"/>
            <a:ext cx="51298" cy="38473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Institution · Financial Services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0632" y="2538374"/>
            <a:ext cx="726719" cy="683971"/>
          </a:xfrm>
          <a:prstGeom prst="hear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Wellness · Patient Care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09910" y="2538374"/>
            <a:ext cx="683971" cy="683971"/>
          </a:xfrm>
          <a:prstGeom prst="plus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Clinical · Hospital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197814" y="2517000"/>
            <a:ext cx="341986" cy="598475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97814" y="3115475"/>
            <a:ext cx="683971" cy="914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39800" y="2517000"/>
            <a:ext cx="341986" cy="598475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71402" y="2448603"/>
            <a:ext cx="136794" cy="13679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7" name="Shape 15"/>
          <p:cNvSpPr/>
          <p:nvPr/>
        </p:nvSpPr>
        <p:spPr>
          <a:xfrm>
            <a:off x="7129417" y="3047078"/>
            <a:ext cx="136794" cy="13679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3388" y="3047078"/>
            <a:ext cx="136794" cy="13679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7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· Research · Biotech · Molecule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13962" y="2474252"/>
            <a:ext cx="427482" cy="812216"/>
          </a:xfrm>
          <a:prstGeom prst="roundRect">
            <a:avLst>
              <a:gd name="adj" fmla="val 32086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13962" y="2880360"/>
            <a:ext cx="427482" cy="91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· Therapeutics · Drug Development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Industrial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gear9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Operations · Machinery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67162" y="2794864"/>
            <a:ext cx="769468" cy="384734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45788" y="2474252"/>
            <a:ext cx="812216" cy="32061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4263" y="2388756"/>
            <a:ext cx="76947" cy="23511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· Facility · Production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55066" y="2752115"/>
            <a:ext cx="641223" cy="299237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96289" y="2858986"/>
            <a:ext cx="213741" cy="192367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32012" y="3021429"/>
            <a:ext cx="188092" cy="1880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95372" y="3021429"/>
            <a:ext cx="188092" cy="1880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Supply Chain · Distribution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4344" y="2517000"/>
            <a:ext cx="726719" cy="726719"/>
          </a:xfrm>
          <a:prstGeom prst="cub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· Inventory · Product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Telecom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57884" y="2602497"/>
            <a:ext cx="812216" cy="555727"/>
          </a:xfrm>
          <a:prstGeom prst="cloud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Infrastructure · SaaS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00598" y="3064177"/>
            <a:ext cx="102596" cy="1025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Shape 8"/>
          <p:cNvSpPr/>
          <p:nvPr/>
        </p:nvSpPr>
        <p:spPr>
          <a:xfrm>
            <a:off x="4438155" y="2901734"/>
            <a:ext cx="427482" cy="427482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52115"/>
            <a:ext cx="726719" cy="726719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917" y="2602497"/>
            <a:ext cx="1025957" cy="1025957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Network · Telecom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roundRect">
            <a:avLst>
              <a:gd name="adj" fmla="val 10066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4684" y="2687993"/>
            <a:ext cx="470230" cy="4274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Shape 16"/>
          <p:cNvSpPr/>
          <p:nvPr/>
        </p:nvSpPr>
        <p:spPr>
          <a:xfrm>
            <a:off x="7304684" y="2858986"/>
            <a:ext cx="470230" cy="4274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9" name="Shape 17"/>
          <p:cNvSpPr/>
          <p:nvPr/>
        </p:nvSpPr>
        <p:spPr>
          <a:xfrm>
            <a:off x="7304684" y="3029979"/>
            <a:ext cx="470230" cy="4274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IT · Digital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1214" y="2474252"/>
            <a:ext cx="512978" cy="512978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99459" y="2965856"/>
            <a:ext cx="256489" cy="149619"/>
          </a:xfrm>
          <a:prstGeom prst="rect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Technology · R&amp;D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0632" y="2517000"/>
            <a:ext cx="726719" cy="726719"/>
          </a:xfrm>
          <a:prstGeom prst="su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· Solar · Energy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781" y="2474252"/>
            <a:ext cx="470230" cy="812216"/>
          </a:xfrm>
          <a:prstGeom prst="lightningBolt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· Utilities · Electricity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7219188" y="2517000"/>
            <a:ext cx="470230" cy="641223"/>
          </a:xfrm>
          <a:prstGeom prst="teardrop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7390181" y="2602497"/>
            <a:ext cx="470230" cy="641223"/>
          </a:xfrm>
          <a:prstGeom prst="teardrop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· Environment · ESG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07092" y="2666619"/>
            <a:ext cx="641223" cy="427482"/>
          </a:xfrm>
          <a:prstGeom prst="roundRect">
            <a:avLst>
              <a:gd name="adj" fmla="val 25668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8315" y="2803413"/>
            <a:ext cx="51298" cy="15389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Text 18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Storage · Battery · Grid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0251" y="2666619"/>
            <a:ext cx="427482" cy="42748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4144" y="2820513"/>
            <a:ext cx="119695" cy="119695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Focus · Goals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30741"/>
            <a:ext cx="726719" cy="448856"/>
          </a:xfrm>
          <a:prstGeom prst="roundRect">
            <a:avLst>
              <a:gd name="adj" fmla="val 2037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903" y="2474252"/>
            <a:ext cx="341986" cy="341986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Advisory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Consulting · Professional 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pie">
            <a:avLst>
              <a:gd name="adj1" fmla="val 16200000"/>
              <a:gd name="adj2" fmla="val 540000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Analytics · 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2970" y="2632420"/>
            <a:ext cx="495879" cy="495879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16558" y="2632420"/>
            <a:ext cx="495879" cy="495879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· Collaboration · Alliance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Template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Consulting Deck Template — Light</dc:title>
  <dc:subject>PptxGenJS Presentation</dc:subject>
  <dc:creator>Business Development</dc:creator>
  <cp:lastModifiedBy>Business Development</cp:lastModifiedBy>
  <cp:revision>1</cp:revision>
  <dcterms:created xsi:type="dcterms:W3CDTF">2026-07-27T14:23:11Z</dcterms:created>
  <dcterms:modified xsi:type="dcterms:W3CDTF">2026-07-27T14:23:11Z</dcterms:modified>
</cp:coreProperties>
</file>