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LIBRARY  ·  ORIGINAL ARTWORK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961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across 10 categories — every icon is a native PowerPoint shape (recolor, resize, restyle freely). Every icon on every page is genuinely unique — no repeats, no recolored duplicates — each captioned with searchable keywords.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/ General Business   ·   Financial Services   ·   Life Sciences   ·   Manufacturing &amp; Industrial   ·   Technology &amp; Telecom   ·   Energy &amp; Utilities   ·   Professional Services   ·   Artificial Intelligence   ·   Data &amp; Analytics   ·   Digital Transformation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Universal / General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28170" y="1673047"/>
            <a:ext cx="225857" cy="165049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3423" y="1525372"/>
            <a:ext cx="295351" cy="13030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Home · Start</a:t>
            </a:r>
            <a:endParaRPr lang="en-US" sz="550" dirty="0"/>
          </a:p>
        </p:txBody>
      </p:sp>
      <p:sp>
        <p:nvSpPr>
          <p:cNvPr id="8" name="Shape 6"/>
          <p:cNvSpPr/>
          <p:nvPr/>
        </p:nvSpPr>
        <p:spPr>
          <a:xfrm>
            <a:off x="2778339" y="1542745"/>
            <a:ext cx="295351" cy="295351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15" y="1603553"/>
            <a:ext cx="914" cy="8686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15" y="1690421"/>
            <a:ext cx="69494" cy="1737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 · Schedule · Deadline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98003" y="167304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7962" y="152537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93558" y="1733855"/>
            <a:ext cx="34747" cy="3474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6" name="Text 14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· Privacy · Protection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5991606" y="153405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1629613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690421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1751228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· Documents · Records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7559149" y="153405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1270" y="162092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7642542" y="158617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11270" y="1699108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642542" y="1664360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11270" y="1777289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7642542" y="1742542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· To-Do · Checklist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9170126" y="1690421"/>
            <a:ext cx="78181" cy="86868"/>
          </a:xfrm>
          <a:prstGeom prst="line">
            <a:avLst/>
          </a:prstGeom>
          <a:noFill/>
          <a:ln w="25400">
            <a:solidFill>
              <a:srgbClr val="D4AF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9248307" y="1594866"/>
            <a:ext cx="121615" cy="182423"/>
          </a:xfrm>
          <a:prstGeom prst="line">
            <a:avLst/>
          </a:prstGeom>
          <a:noFill/>
          <a:ln w="25400">
            <a:solidFill>
              <a:srgbClr val="D4AF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· Complete · Verified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0755042" y="1594866"/>
            <a:ext cx="191110" cy="191110"/>
          </a:xfrm>
          <a:prstGeom prst="line">
            <a:avLst/>
          </a:prstGeom>
          <a:noFill/>
          <a:ln w="25400">
            <a:solidFill>
              <a:srgbClr val="D4AF5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755042" y="1594866"/>
            <a:ext cx="191110" cy="191110"/>
          </a:xfrm>
          <a:prstGeom prst="line">
            <a:avLst/>
          </a:prstGeom>
          <a:noFill/>
          <a:ln w="25400">
            <a:solidFill>
              <a:srgbClr val="D4AF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Reject · Remove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71604" y="247436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2" name="Shape 40"/>
          <p:cNvSpPr/>
          <p:nvPr/>
        </p:nvSpPr>
        <p:spPr>
          <a:xfrm>
            <a:off x="1271604" y="2569921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3" name="Shape 41"/>
          <p:cNvSpPr/>
          <p:nvPr/>
        </p:nvSpPr>
        <p:spPr>
          <a:xfrm>
            <a:off x="1367159" y="247436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4" name="Shape 42"/>
          <p:cNvSpPr/>
          <p:nvPr/>
        </p:nvSpPr>
        <p:spPr>
          <a:xfrm>
            <a:off x="1367159" y="2569921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· Modules · Tools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778339" y="2456993"/>
            <a:ext cx="295351" cy="173736"/>
          </a:xfrm>
          <a:prstGeom prst="roundRect">
            <a:avLst>
              <a:gd name="adj" fmla="val 42105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65207" y="2483053"/>
            <a:ext cx="121615" cy="121615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52075" y="2418771"/>
            <a:ext cx="69494" cy="38222"/>
          </a:xfrm>
          <a:prstGeom prst="rect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· Media · Capture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4366730" y="2477841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93558" y="2543861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97799" y="2543861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36021" y="2543861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· Login · Credentials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5974232" y="2422246"/>
            <a:ext cx="191110" cy="191110"/>
          </a:xfrm>
          <a:prstGeom prst="ellipse">
            <a:avLst/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34070" y="2582083"/>
            <a:ext cx="74706" cy="74706"/>
          </a:xfrm>
          <a:prstGeom prst="line">
            <a:avLst/>
          </a:prstGeom>
          <a:noFill/>
          <a:ln w="25400">
            <a:solidFill>
              <a:srgbClr val="D4AF5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Find · Discover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7524402" y="2430932"/>
            <a:ext cx="312725" cy="225857"/>
          </a:xfrm>
          <a:prstGeom prst="wedgeRoundRectCallo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· Chat · Message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9161439" y="243440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40591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72630" y="243440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1782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Contacts · People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 rot="2700000">
            <a:off x="10755042" y="2519538"/>
            <a:ext cx="191110" cy="48646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716820" y="2410084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907930" y="2601194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· Maintenance · Tools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1210796" y="3371240"/>
            <a:ext cx="260604" cy="173736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341098" y="3371240"/>
            <a:ext cx="914" cy="173736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210796" y="3371240"/>
            <a:ext cx="260604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· Incentives · Recognition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 flipV="1">
            <a:off x="2830460" y="3371240"/>
            <a:ext cx="191110" cy="173736"/>
          </a:xfrm>
          <a:prstGeom prst="trapezoi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804399" y="3345180"/>
            <a:ext cx="243230" cy="2779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3" name="Text 81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Archive · Remove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4441437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95295" y="3494593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7" name="Text 85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· Contact · Call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5948172" y="3249625"/>
            <a:ext cx="295351" cy="295351"/>
          </a:xfrm>
          <a:prstGeom prst="star5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· Quality · Favorite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7524402" y="3266999"/>
            <a:ext cx="312725" cy="260604"/>
          </a:xfrm>
          <a:prstGeom prst="folderCorne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· Folders · Organization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9118005" y="3301746"/>
            <a:ext cx="295351" cy="191110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118005" y="3301746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9265681" y="3301746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Correspondence · Inbox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10711608" y="327568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11608" y="3353867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81103" y="324093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902718" y="324093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04" name="Text 102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· Planning · Schedule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1200372" y="4153449"/>
            <a:ext cx="20848" cy="2084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245543" y="4163873"/>
            <a:ext cx="225857" cy="914"/>
          </a:xfrm>
          <a:prstGeom prst="line">
            <a:avLst/>
          </a:prstGeom>
          <a:noFill/>
          <a:ln w="16510">
            <a:solidFill>
              <a:srgbClr val="D4AF5A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200372" y="4240317"/>
            <a:ext cx="20848" cy="2084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245543" y="4250741"/>
            <a:ext cx="225857" cy="914"/>
          </a:xfrm>
          <a:prstGeom prst="line">
            <a:avLst/>
          </a:prstGeom>
          <a:noFill/>
          <a:ln w="16510">
            <a:solidFill>
              <a:srgbClr val="D4AF5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200372" y="4327185"/>
            <a:ext cx="20848" cy="2084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245543" y="4337609"/>
            <a:ext cx="225857" cy="914"/>
          </a:xfrm>
          <a:prstGeom prst="line">
            <a:avLst/>
          </a:prstGeom>
          <a:noFill/>
          <a:ln w="16510">
            <a:solidFill>
              <a:srgbClr val="D4AF5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View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· Agenda · Items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 rot="10800000">
            <a:off x="2830460" y="4111752"/>
            <a:ext cx="191110" cy="277978"/>
          </a:xfrm>
          <a:prstGeom prst="teardro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· Site · Address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89316" y="4103065"/>
            <a:ext cx="243230" cy="295351"/>
          </a:xfrm>
          <a:prstGeom prst="funnel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Sort · Refine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48172" y="4103065"/>
            <a:ext cx="295351" cy="295351"/>
          </a:xfrm>
          <a:prstGeom prst="actionButtonHel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Center · FAQ · Support</a:t>
            </a:r>
            <a:endParaRPr lang="en-US" sz="550" dirty="0"/>
          </a:p>
        </p:txBody>
      </p:sp>
      <p:sp>
        <p:nvSpPr>
          <p:cNvPr id="123" name="Shape 121"/>
          <p:cNvSpPr/>
          <p:nvPr/>
        </p:nvSpPr>
        <p:spPr>
          <a:xfrm>
            <a:off x="7533088" y="4103065"/>
            <a:ext cx="295351" cy="295351"/>
          </a:xfrm>
          <a:prstGeom prst="actionButtonInforma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· Details · About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9118005" y="4103065"/>
            <a:ext cx="295351" cy="295351"/>
          </a:xfrm>
          <a:prstGeom prst="actionButtonSoun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· Sound · Voice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10702921" y="4103065"/>
            <a:ext cx="295351" cy="295351"/>
          </a:xfrm>
          <a:prstGeom prst="actionButtonMovi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· Media Playback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1193423" y="4956505"/>
            <a:ext cx="295351" cy="295351"/>
          </a:xfrm>
          <a:prstGeom prst="actionButtonRetur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· Return · Revert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2778339" y="4956505"/>
            <a:ext cx="295351" cy="295351"/>
          </a:xfrm>
          <a:prstGeom prst="actionButtonForwardNex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Forward · Continue</a:t>
            </a:r>
            <a:endParaRPr lang="en-US" sz="550" dirty="0"/>
          </a:p>
        </p:txBody>
      </p:sp>
      <p:sp>
        <p:nvSpPr>
          <p:cNvPr id="138" name="Shape 136"/>
          <p:cNvSpPr/>
          <p:nvPr/>
        </p:nvSpPr>
        <p:spPr>
          <a:xfrm>
            <a:off x="4363256" y="4956505"/>
            <a:ext cx="295351" cy="295351"/>
          </a:xfrm>
          <a:prstGeom prst="actionButtonBackPreviou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· Back · Prior</a:t>
            </a:r>
            <a:endParaRPr lang="en-US" sz="550" dirty="0"/>
          </a:p>
        </p:txBody>
      </p:sp>
      <p:sp>
        <p:nvSpPr>
          <p:cNvPr id="141" name="Shape 139"/>
          <p:cNvSpPr/>
          <p:nvPr/>
        </p:nvSpPr>
        <p:spPr>
          <a:xfrm>
            <a:off x="5930798" y="5008626"/>
            <a:ext cx="330098" cy="191110"/>
          </a:xfrm>
          <a:prstGeom prst="leftRightArrow">
            <a:avLst/>
          </a:prstGeom>
          <a:solidFill>
            <a:srgbClr val="D4AF5A"/>
          </a:solidFill>
          <a:ln/>
        </p:spPr>
      </p:sp>
      <p:sp>
        <p:nvSpPr>
          <p:cNvPr id="142" name="Text 140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· Exchange · Sync</a:t>
            </a:r>
            <a:endParaRPr lang="en-US" sz="550" dirty="0"/>
          </a:p>
        </p:txBody>
      </p:sp>
      <p:sp>
        <p:nvSpPr>
          <p:cNvPr id="144" name="Shape 142"/>
          <p:cNvSpPr/>
          <p:nvPr/>
        </p:nvSpPr>
        <p:spPr>
          <a:xfrm>
            <a:off x="7585209" y="4947818"/>
            <a:ext cx="191110" cy="312725"/>
          </a:xfrm>
          <a:prstGeom prst="upDownArrow">
            <a:avLst/>
          </a:prstGeom>
          <a:solidFill>
            <a:srgbClr val="D4AF5A"/>
          </a:solidFill>
          <a:ln/>
        </p:spPr>
      </p:sp>
      <p:sp>
        <p:nvSpPr>
          <p:cNvPr id="145" name="Text 143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650" dirty="0"/>
          </a:p>
        </p:txBody>
      </p:sp>
      <p:sp>
        <p:nvSpPr>
          <p:cNvPr id="146" name="Text 144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· Scale · Span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9109318" y="4982566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· Choice · Branch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10702921" y="4956505"/>
            <a:ext cx="295351" cy="295351"/>
          </a:xfrm>
          <a:prstGeom prst="smileyFac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650" dirty="0"/>
          </a:p>
        </p:txBody>
      </p:sp>
      <p:sp>
        <p:nvSpPr>
          <p:cNvPr id="152" name="Text 150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· Satisfaction · Survey</a:t>
            </a:r>
            <a:endParaRPr lang="en-US" sz="550" dirty="0"/>
          </a:p>
        </p:txBody>
      </p:sp>
      <p:sp>
        <p:nvSpPr>
          <p:cNvPr id="153" name="Shape 151"/>
          <p:cNvSpPr/>
          <p:nvPr/>
        </p:nvSpPr>
        <p:spPr>
          <a:xfrm>
            <a:off x="1202109" y="5818632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54" name="Text 152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· New · Featured</a:t>
            </a:r>
            <a:endParaRPr lang="en-US" sz="550" dirty="0"/>
          </a:p>
        </p:txBody>
      </p:sp>
      <p:sp>
        <p:nvSpPr>
          <p:cNvPr id="156" name="Shape 154"/>
          <p:cNvSpPr/>
          <p:nvPr/>
        </p:nvSpPr>
        <p:spPr>
          <a:xfrm>
            <a:off x="2769652" y="5836006"/>
            <a:ext cx="312725" cy="243230"/>
          </a:xfrm>
          <a:prstGeom prst="borderCallout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51844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2151844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· Annotation · Comment</a:t>
            </a:r>
            <a:endParaRPr lang="en-US" sz="550" dirty="0"/>
          </a:p>
        </p:txBody>
      </p:sp>
      <p:sp>
        <p:nvSpPr>
          <p:cNvPr id="159" name="Shape 157"/>
          <p:cNvSpPr/>
          <p:nvPr/>
        </p:nvSpPr>
        <p:spPr>
          <a:xfrm>
            <a:off x="4363256" y="5809945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3736761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3736761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· Prohibited · Blocked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21220" y="1716481"/>
            <a:ext cx="59070" cy="1216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5" name="Shape 3"/>
          <p:cNvSpPr/>
          <p:nvPr/>
        </p:nvSpPr>
        <p:spPr>
          <a:xfrm>
            <a:off x="1311563" y="1638300"/>
            <a:ext cx="59070" cy="199796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401906" y="1560119"/>
            <a:ext cx="59070" cy="27797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 rot="10800000">
            <a:off x="2795713" y="1534058"/>
            <a:ext cx="260604" cy="312725"/>
          </a:xfrm>
          <a:prstGeom prst="pentago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4366730" y="1620926"/>
            <a:ext cx="191110" cy="19111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64022" y="1568806"/>
            <a:ext cx="191110" cy="19111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5930798" y="1820723"/>
            <a:ext cx="330098" cy="2779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7" name="Shape 15"/>
          <p:cNvSpPr/>
          <p:nvPr/>
        </p:nvSpPr>
        <p:spPr>
          <a:xfrm>
            <a:off x="5922112" y="1525372"/>
            <a:ext cx="347472" cy="13030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1182" y="1664360"/>
            <a:ext cx="20848" cy="156362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5423" y="1664360"/>
            <a:ext cx="20848" cy="156362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9665" y="1664360"/>
            <a:ext cx="20848" cy="156362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1" name="Text 19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24402" y="1560119"/>
            <a:ext cx="312725" cy="260604"/>
          </a:xfrm>
          <a:prstGeom prst="leftRigh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· Transactions · Exchange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26692" y="1551432"/>
            <a:ext cx="277978" cy="277978"/>
          </a:xfrm>
          <a:prstGeom prst="oct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· Compliance · Controls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10685548" y="1577492"/>
            <a:ext cx="330098" cy="225857"/>
          </a:xfrm>
          <a:prstGeom prst="ribbon2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 · Certification · Standing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1236857" y="238749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80291" y="2483053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80291" y="2543861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80291" y="2604668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Statements · Reports · Records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2804399" y="238749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56520" y="247436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887793" y="243961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56520" y="2552548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2887793" y="2517800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56520" y="2630729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887793" y="2595982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Compliance Checklist · Controls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4366730" y="2477841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93558" y="2543861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799" y="2543861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21" y="2543861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· Authorization · Security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5930798" y="2413559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91606" y="2483053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Dashboard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KPI · Performance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396185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Allocation · Portfolio Mix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18005" y="2396185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· Accredited · Compliant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28982" y="2387498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Reserves · Capital Pool · Treasury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202109" y="327568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02109" y="3353867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71604" y="324093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9" name="Shape 67"/>
          <p:cNvSpPr/>
          <p:nvPr/>
        </p:nvSpPr>
        <p:spPr>
          <a:xfrm>
            <a:off x="1393219" y="324093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0" name="Text 68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Date · Term · Schedule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2856520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10378" y="3494593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74" name="Text 72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Line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Service · Advisory Line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4406690" y="328784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85841" y="338861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17881" y="328784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497032" y="338861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· Relationship Management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5948172" y="3301746"/>
            <a:ext cx="295351" cy="191110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948172" y="3301746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095848" y="3301746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Delivery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· Correspondence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7567836" y="337992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607795" y="323225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663390" y="3440735"/>
            <a:ext cx="34747" cy="3474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90" name="Text 88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· Privacy · Encryption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9118005" y="3249625"/>
            <a:ext cx="295351" cy="295351"/>
          </a:xfrm>
          <a:prstGeom prst="star5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· Rating · Standing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0737669" y="3284372"/>
            <a:ext cx="225857" cy="225857"/>
          </a:xfrm>
          <a:prstGeom prst="mathDivide">
            <a:avLst/>
          </a:prstGeom>
          <a:solidFill>
            <a:srgbClr val="D4AF5A"/>
          </a:solidFill>
          <a:ln/>
        </p:spPr>
      </p:sp>
      <p:sp>
        <p:nvSpPr>
          <p:cNvPr id="96" name="Text 94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Ratios · Metrics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1228170" y="4137812"/>
            <a:ext cx="225857" cy="225857"/>
          </a:xfrm>
          <a:prstGeom prst="mathEqual">
            <a:avLst/>
          </a:prstGeom>
          <a:solidFill>
            <a:srgbClr val="D4AF5A"/>
          </a:solidFill>
          <a:ln/>
        </p:spPr>
      </p:sp>
      <p:sp>
        <p:nvSpPr>
          <p:cNvPr id="99" name="Text 97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· Equilibrium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2813086" y="4137812"/>
            <a:ext cx="225857" cy="225857"/>
          </a:xfrm>
          <a:prstGeom prst="mathMultiply">
            <a:avLst/>
          </a:prstGeom>
          <a:solidFill>
            <a:srgbClr val="D4AF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· Multiplier · Growth Factor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4354569" y="4129126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Decision · Approval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5939485" y="4155186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· Settlement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7524402" y="4137812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 · Workflow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126692" y="4129126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· Internal Records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0755042" y="4094378"/>
            <a:ext cx="191110" cy="312725"/>
          </a:xfrm>
          <a:prstGeom prst="upDownArrow">
            <a:avLst/>
          </a:prstGeom>
          <a:solidFill>
            <a:srgbClr val="D4AF5A"/>
          </a:solidFill>
          <a:ln/>
        </p:spPr>
      </p:sp>
      <p:sp>
        <p:nvSpPr>
          <p:cNvPr id="117" name="Text 115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Range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 Range · Spread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1184736" y="4999939"/>
            <a:ext cx="312725" cy="208483"/>
          </a:xfrm>
          <a:prstGeom prst="notchedRightArrow">
            <a:avLst/>
          </a:prstGeom>
          <a:solidFill>
            <a:srgbClr val="D4AF5A"/>
          </a:solidFill>
          <a:ln/>
        </p:spPr>
      </p:sp>
      <p:sp>
        <p:nvSpPr>
          <p:cNvPr id="120" name="Text 118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Payments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Payments · Fast Settlement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2752279" y="5017313"/>
            <a:ext cx="347472" cy="173736"/>
          </a:xfrm>
          <a:prstGeom prst="ribb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· Preferred Status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4371942" y="4965192"/>
            <a:ext cx="277978" cy="277978"/>
          </a:xfrm>
          <a:prstGeom prst="rtTriangl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Curve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Curve · Rate Trend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5939485" y="4982566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Filings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Filings · Multi-Document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7550462" y="4973879"/>
            <a:ext cx="260604" cy="260604"/>
          </a:xfrm>
          <a:prstGeom prst="flowChartOff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Storage Assets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Storage · Reserve Assets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9135379" y="4982566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Banking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Banking · Online Access</a:t>
            </a:r>
            <a:endParaRPr lang="en-US" sz="550" dirty="0"/>
          </a:p>
        </p:txBody>
      </p:sp>
      <p:sp>
        <p:nvSpPr>
          <p:cNvPr id="137" name="Shape 135"/>
          <p:cNvSpPr/>
          <p:nvPr/>
        </p:nvSpPr>
        <p:spPr>
          <a:xfrm>
            <a:off x="10702921" y="4999939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38" name="Text 136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Trajectory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Trajectory · Forecast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1202109" y="5818632"/>
            <a:ext cx="277978" cy="277978"/>
          </a:xfrm>
          <a:prstGeom prst="star12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Client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Client · VIP Status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3423" y="1551432"/>
            <a:ext cx="295351" cy="277978"/>
          </a:xfrm>
          <a:prstGeom prst="hear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787026" y="1551432"/>
            <a:ext cx="277978" cy="277978"/>
          </a:xfrm>
          <a:prstGeom prst="plus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550" dirty="0"/>
          </a:p>
        </p:txBody>
      </p:sp>
      <p:sp>
        <p:nvSpPr>
          <p:cNvPr id="10" name="Shape 8"/>
          <p:cNvSpPr/>
          <p:nvPr/>
        </p:nvSpPr>
        <p:spPr>
          <a:xfrm flipV="1">
            <a:off x="4371942" y="1542745"/>
            <a:ext cx="138989" cy="243230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942" y="1785976"/>
            <a:ext cx="277978" cy="914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10931" y="1542745"/>
            <a:ext cx="138989" cy="243230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3133" y="1514947"/>
            <a:ext cx="55596" cy="5559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4" name="Shape 12"/>
          <p:cNvSpPr/>
          <p:nvPr/>
        </p:nvSpPr>
        <p:spPr>
          <a:xfrm>
            <a:off x="4344145" y="1758178"/>
            <a:ext cx="55596" cy="5559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5" name="Shape 13"/>
          <p:cNvSpPr/>
          <p:nvPr/>
        </p:nvSpPr>
        <p:spPr>
          <a:xfrm>
            <a:off x="4622122" y="1758178"/>
            <a:ext cx="55596" cy="5559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6" name="Text 14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6008980" y="1525372"/>
            <a:ext cx="173736" cy="330098"/>
          </a:xfrm>
          <a:prstGeom prst="roundRect">
            <a:avLst>
              <a:gd name="adj" fmla="val 78947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8980" y="1690421"/>
            <a:ext cx="173736" cy="914"/>
          </a:xfrm>
          <a:prstGeom prst="line">
            <a:avLst/>
          </a:prstGeom>
          <a:noFill/>
          <a:ln w="22225">
            <a:solidFill>
              <a:srgbClr val="D4A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7604320" y="1518422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19956" y="1534058"/>
            <a:ext cx="121615" cy="7818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25935" y="1596603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19956" y="1612240"/>
            <a:ext cx="121615" cy="7818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04320" y="1674785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7" name="Shape 25"/>
          <p:cNvSpPr/>
          <p:nvPr/>
        </p:nvSpPr>
        <p:spPr>
          <a:xfrm>
            <a:off x="7619956" y="1690421"/>
            <a:ext cx="121615" cy="7818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5935" y="1752966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7619956" y="1768602"/>
            <a:ext cx="121615" cy="7818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04320" y="1831147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1" name="Text 29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· DNA · Biotech · Precision Medicine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 flipV="1">
            <a:off x="9170126" y="1673047"/>
            <a:ext cx="191110" cy="173736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34408" y="1525372"/>
            <a:ext cx="62545" cy="60808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· Laboratory · Formulation · Discovery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0728982" y="153405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81103" y="162092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812375" y="158617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81103" y="1699108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0812375" y="1664360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81103" y="1777289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812375" y="1742542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Protocol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 · Protocol · Checklist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1236857" y="238749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80291" y="2483053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80291" y="2543861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280291" y="2604668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· Submission · Documentation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2813086" y="252648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53046" y="237881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08641" y="2587295"/>
            <a:ext cx="34747" cy="3474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55" name="Text 53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Privacy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Data · Privacy · HIPAA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4371942" y="242224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371942" y="2500427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41437" y="238749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0" name="Shape 58"/>
          <p:cNvSpPr/>
          <p:nvPr/>
        </p:nvSpPr>
        <p:spPr>
          <a:xfrm>
            <a:off x="4563052" y="238749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1" name="Text 59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Timeline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Timeline · Milestones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5930798" y="2413559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1606" y="2483053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Dashboard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Monitoring · Dashboard · KPIs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6522" y="243440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55674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687713" y="2434407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666865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· Care Teams · Cohort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9118005" y="2396185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Approval · Certification · Compliance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10728982" y="2387498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Biobank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Biobank · Sample Storage · Cold Chain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1245543" y="3266999"/>
            <a:ext cx="191110" cy="260604"/>
          </a:xfrm>
          <a:prstGeom prst="teardro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Liquid · Dosage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2787026" y="3266999"/>
            <a:ext cx="277978" cy="260604"/>
          </a:xfrm>
          <a:prstGeom prst="hear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Wellbeing · Outcomes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 rot="10800000">
            <a:off x="4415376" y="3258312"/>
            <a:ext cx="191110" cy="277978"/>
          </a:xfrm>
          <a:prstGeom prst="teardro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Site · Facility Location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5948172" y="3249625"/>
            <a:ext cx="295351" cy="295351"/>
          </a:xfrm>
          <a:prstGeom prst="star5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Grade · Standard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7576522" y="3240938"/>
            <a:ext cx="208483" cy="312725"/>
          </a:xfrm>
          <a:prstGeom prst="verticalScroll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History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History · Patient Record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9196186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250044" y="3494593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96" name="Text 94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 Line · Contact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10694235" y="3275686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Decision · Trial Gate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1184736" y="4137812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Step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Step · Trial Process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2769652" y="4155186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Endpoint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Endpoint · Study Completion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4354569" y="4129126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Dossier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Dossier · Submission Package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5956859" y="4129126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Repository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Repository · Specimen Storage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7533088" y="4137812"/>
            <a:ext cx="295351" cy="225857"/>
          </a:xfrm>
          <a:prstGeom prst="flowChartManualInp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Capture · CRF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118005" y="4103065"/>
            <a:ext cx="295351" cy="295351"/>
          </a:xfrm>
          <a:prstGeom prst="smileyFac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Patient-Reported Outcome · PRO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10702921" y="4103065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 · Restricted Use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1202109" y="4965192"/>
            <a:ext cx="277978" cy="277978"/>
          </a:xfrm>
          <a:prstGeom prst="flowChartSor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Stratification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Stratification · Patient Sorting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2795713" y="4973879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Pooling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Pooling · Meta-Analysis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4398003" y="4991252"/>
            <a:ext cx="225857" cy="225857"/>
          </a:xfrm>
          <a:prstGeom prst="mathMultiply">
            <a:avLst/>
          </a:prstGeom>
          <a:solidFill>
            <a:srgbClr val="D4AF5A"/>
          </a:solidFill>
          <a:ln/>
        </p:spPr>
      </p:sp>
      <p:sp>
        <p:nvSpPr>
          <p:cNvPr id="129" name="Text 127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Scale-Up · Titer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5965546" y="4965192"/>
            <a:ext cx="260604" cy="277978"/>
          </a:xfrm>
          <a:prstGeom prst="flowChartOffpageConnec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Referral · Site Transfer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7507028" y="5017313"/>
            <a:ext cx="347472" cy="173736"/>
          </a:xfrm>
          <a:prstGeom prst="ribb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Designation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Designation · Priority Review</a:t>
            </a:r>
            <a:endParaRPr lang="en-US" sz="550" dirty="0"/>
          </a:p>
        </p:txBody>
      </p:sp>
      <p:sp>
        <p:nvSpPr>
          <p:cNvPr id="137" name="Shape 135"/>
          <p:cNvSpPr/>
          <p:nvPr/>
        </p:nvSpPr>
        <p:spPr>
          <a:xfrm>
            <a:off x="9126692" y="4965192"/>
            <a:ext cx="277978" cy="277978"/>
          </a:xfrm>
          <a:prstGeom prst="rtTriangl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Escalation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Escalation · Titration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10702921" y="4999939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41" name="Text 139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Progression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Progression · Phase Advance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202109" y="5818632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44" name="Text 142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Therapy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Therapy · Innovation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4736" y="1535278"/>
            <a:ext cx="312725" cy="312725"/>
          </a:xfrm>
          <a:prstGeom prst="gear9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769652" y="1656893"/>
            <a:ext cx="312725" cy="156362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0965" y="1526591"/>
            <a:ext cx="330098" cy="13030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04196" y="1491844"/>
            <a:ext cx="31272" cy="9555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0" name="Text 8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4354569" y="1639519"/>
            <a:ext cx="260604" cy="121615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5173" y="1682953"/>
            <a:ext cx="86868" cy="78181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5841" y="1748973"/>
            <a:ext cx="76444" cy="7644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3517" y="1748973"/>
            <a:ext cx="76444" cy="7644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5948172" y="1543964"/>
            <a:ext cx="295351" cy="295351"/>
          </a:xfrm>
          <a:prstGeom prst="cub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550" dirty="0"/>
          </a:p>
        </p:txBody>
      </p:sp>
      <p:sp>
        <p:nvSpPr>
          <p:cNvPr id="21" name="Shape 19"/>
          <p:cNvSpPr/>
          <p:nvPr/>
        </p:nvSpPr>
        <p:spPr>
          <a:xfrm>
            <a:off x="7559149" y="153527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1270" y="162214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7642542" y="158739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11270" y="1700327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642542" y="1665580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11270" y="1778508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642542" y="1743761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· Inspection · Checklist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 rot="2700000">
            <a:off x="9170126" y="1667317"/>
            <a:ext cx="191110" cy="48646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31904" y="1557863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23013" y="1748973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· Repair · Service</a:t>
            </a:r>
            <a:endParaRPr lang="en-US" sz="550" dirty="0"/>
          </a:p>
        </p:txBody>
      </p:sp>
      <p:sp>
        <p:nvSpPr>
          <p:cNvPr id="35" name="Shape 33"/>
          <p:cNvSpPr/>
          <p:nvPr/>
        </p:nvSpPr>
        <p:spPr>
          <a:xfrm>
            <a:off x="10781103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81103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76657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8" name="Shape 36"/>
          <p:cNvSpPr/>
          <p:nvPr/>
        </p:nvSpPr>
        <p:spPr>
          <a:xfrm>
            <a:off x="10876657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 · Work Cells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19483" y="2559406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· Storage · Silo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2787026" y="2594153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87026" y="2672334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56520" y="2559406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7" name="Shape 45"/>
          <p:cNvSpPr/>
          <p:nvPr/>
        </p:nvSpPr>
        <p:spPr>
          <a:xfrm>
            <a:off x="2978135" y="2559406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48" name="Text 46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Schedule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Schedule · Planning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Dashboard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Performance · OEE Dashboard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56859" y="2576779"/>
            <a:ext cx="277978" cy="277978"/>
          </a:xfrm>
          <a:prstGeom prst="oct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· Hazard · Compliance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Certification · Standards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21480" y="2649748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248307" y="2715768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52549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390770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Access · Security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0746355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725507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857546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836698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· Labor · Shift Teams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84736" y="3635654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· Sequence · Workflow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821773" y="3583534"/>
            <a:ext cx="208483" cy="312725"/>
          </a:xfrm>
          <a:prstGeom prst="verticalScroll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· Traveler · Routing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4363256" y="3592220"/>
            <a:ext cx="295351" cy="295351"/>
          </a:xfrm>
          <a:prstGeom prst="cub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· SKU · Stock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 flipV="1">
            <a:off x="6000293" y="3713836"/>
            <a:ext cx="191110" cy="173736"/>
          </a:xfrm>
          <a:prstGeom prst="trapezoi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974232" y="3687775"/>
            <a:ext cx="243230" cy="2779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3" name="Text 81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Reduction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Reduction · Scrap · Lean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Inspection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· Go/No-Go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Process Step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Boundary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Start/Stop · Shift Boundary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1202109" y="4642409"/>
            <a:ext cx="277978" cy="243230"/>
          </a:xfrm>
          <a:prstGeom prst="flowChartManualOpera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Assembly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Assembly · Hand Operation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2787026" y="4642409"/>
            <a:ext cx="277978" cy="243230"/>
          </a:xfrm>
          <a:prstGeom prst="flowChartDelay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Changeover Delay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Changeover Delay · Downtime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4380629" y="4642409"/>
            <a:ext cx="260604" cy="243230"/>
          </a:xfrm>
          <a:prstGeom prst="flowChartMer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Merge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Merge · Assembly Convergence</a:t>
            </a:r>
            <a:endParaRPr lang="en-US" sz="550" dirty="0"/>
          </a:p>
        </p:txBody>
      </p:sp>
      <p:sp>
        <p:nvSpPr>
          <p:cNvPr id="103" name="Shape 101"/>
          <p:cNvSpPr/>
          <p:nvPr/>
        </p:nvSpPr>
        <p:spPr>
          <a:xfrm>
            <a:off x="5956859" y="4625035"/>
            <a:ext cx="277978" cy="277978"/>
          </a:xfrm>
          <a:prstGeom prst="flowChartSor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Station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Station · Grading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7541775" y="4642409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Storage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Work-in-Process Storage</a:t>
            </a:r>
            <a:endParaRPr lang="en-US" sz="550" dirty="0"/>
          </a:p>
        </p:txBody>
      </p:sp>
      <p:sp>
        <p:nvSpPr>
          <p:cNvPr id="109" name="Shape 107"/>
          <p:cNvSpPr/>
          <p:nvPr/>
        </p:nvSpPr>
        <p:spPr>
          <a:xfrm>
            <a:off x="9135379" y="4642409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Data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Data · Real-Time Records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10694235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Packet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Packet · Routing Documents</a:t>
            </a:r>
            <a:endParaRPr lang="en-US" sz="550" dirty="0"/>
          </a:p>
        </p:txBody>
      </p:sp>
      <p:sp>
        <p:nvSpPr>
          <p:cNvPr id="115" name="Shape 113"/>
          <p:cNvSpPr/>
          <p:nvPr/>
        </p:nvSpPr>
        <p:spPr>
          <a:xfrm>
            <a:off x="1193423" y="5683910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16" name="Text 114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· Line Speed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2769652" y="5683910"/>
            <a:ext cx="312725" cy="208483"/>
          </a:xfrm>
          <a:prstGeom prst="notchedRightArrow">
            <a:avLst/>
          </a:prstGeom>
          <a:solidFill>
            <a:srgbClr val="D4AF5A"/>
          </a:solidFill>
          <a:ln/>
        </p:spPr>
      </p:sp>
      <p:sp>
        <p:nvSpPr>
          <p:cNvPr id="119" name="Text 117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Reduction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Reduction · Speed-Up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4354569" y="5631790"/>
            <a:ext cx="312725" cy="312725"/>
          </a:xfrm>
          <a:prstGeom prst="quad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Cross-Docking</a:t>
            </a:r>
            <a:endParaRPr lang="en-US" sz="650" dirty="0"/>
          </a:p>
        </p:txBody>
      </p:sp>
      <p:sp>
        <p:nvSpPr>
          <p:cNvPr id="123" name="Text 121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Cross-Docking · Multi-Directional Flow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5948172" y="5640476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Zone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Zone · Restricted Access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7541775" y="5649163"/>
            <a:ext cx="277978" cy="277978"/>
          </a:xfrm>
          <a:prstGeom prst="rtTriangl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Ramp-Up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Ramp-Up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9135379" y="5657850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 Point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 Point · Batch Aggregation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76049" y="1578712"/>
            <a:ext cx="330098" cy="225857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905166" y="1766346"/>
            <a:ext cx="41697" cy="4169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" name="Shape 6"/>
          <p:cNvSpPr/>
          <p:nvPr/>
        </p:nvSpPr>
        <p:spPr>
          <a:xfrm>
            <a:off x="2839147" y="1700327"/>
            <a:ext cx="173736" cy="173736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8339" y="1639519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17531" y="1578712"/>
            <a:ext cx="416966" cy="416966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63256" y="1543964"/>
            <a:ext cx="295351" cy="295351"/>
          </a:xfrm>
          <a:prstGeom prst="roundRect">
            <a:avLst>
              <a:gd name="adj" fmla="val 2476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5376" y="1613459"/>
            <a:ext cx="191110" cy="1737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5" name="Shape 13"/>
          <p:cNvSpPr/>
          <p:nvPr/>
        </p:nvSpPr>
        <p:spPr>
          <a:xfrm>
            <a:off x="4415376" y="1682953"/>
            <a:ext cx="191110" cy="1737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6" name="Shape 14"/>
          <p:cNvSpPr/>
          <p:nvPr/>
        </p:nvSpPr>
        <p:spPr>
          <a:xfrm>
            <a:off x="4415376" y="1752448"/>
            <a:ext cx="191110" cy="1737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91606" y="1526591"/>
            <a:ext cx="208483" cy="208483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43727" y="1726387"/>
            <a:ext cx="104242" cy="60808"/>
          </a:xfrm>
          <a:prstGeom prst="rect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33088" y="1543964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· Wireless · Telecom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96186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7" name="Shape 25"/>
          <p:cNvSpPr/>
          <p:nvPr/>
        </p:nvSpPr>
        <p:spPr>
          <a:xfrm>
            <a:off x="9196186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8" name="Shape 26"/>
          <p:cNvSpPr/>
          <p:nvPr/>
        </p:nvSpPr>
        <p:spPr>
          <a:xfrm>
            <a:off x="9291741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9" name="Shape 27"/>
          <p:cNvSpPr/>
          <p:nvPr/>
        </p:nvSpPr>
        <p:spPr>
          <a:xfrm>
            <a:off x="9291741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0" name="Text 28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Applications · Platforms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10737669" y="1674266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777628" y="1526591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33223" y="1735074"/>
            <a:ext cx="34747" cy="3474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5" name="Text 33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· Data Protection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196897" y="2649748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725" y="2715768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427966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66188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· Access Management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04399" y="2559406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· Data Center · Storage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Dashboard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Monitoring · Dashboard · Uptime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 · Data Exchange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7533088" y="2576779"/>
            <a:ext cx="295351" cy="277978"/>
          </a:xfrm>
          <a:prstGeom prst="hex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Node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Node · Infrastructure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9118005" y="2628900"/>
            <a:ext cx="295351" cy="173736"/>
          </a:xfrm>
          <a:prstGeom prst="roundRect">
            <a:avLst>
              <a:gd name="adj" fmla="val 42105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04873" y="2654960"/>
            <a:ext cx="121615" cy="121615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291741" y="2590678"/>
            <a:ext cx="69494" cy="38222"/>
          </a:xfrm>
          <a:prstGeom prst="rect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Media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Media · Streaming · Content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10781103" y="2550719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834961" y="2813060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63" name="Text 61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Devices · Telecom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1219483" y="3583534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271604" y="3670402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1302876" y="3635654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71604" y="3748583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302876" y="3713836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271604" y="3826764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302876" y="3792017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Release Checklist · CI/CD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2821773" y="3630442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800925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32964" y="3630442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912116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· Help Desk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4354569" y="3626968"/>
            <a:ext cx="312725" cy="225857"/>
          </a:xfrm>
          <a:prstGeom prst="wedgeRoundRectCallo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· Messaging · Chat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922112" y="3653028"/>
            <a:ext cx="347472" cy="173736"/>
          </a:xfrm>
          <a:prstGeom prst="wav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· Throughput · Capacity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Decision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Decision · Load Balancing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Step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Step · Build Process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Boundary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Start/End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202109" y="4642409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In-Memory Storage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2795713" y="4642409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· Object Store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4380629" y="4633722"/>
            <a:ext cx="260604" cy="260604"/>
          </a:xfrm>
          <a:prstGeom prst="flowChartOff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Backup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Backup · Archive Storage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5939485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Docs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Documentation · Specs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7533088" y="4651096"/>
            <a:ext cx="295351" cy="225857"/>
          </a:xfrm>
          <a:prstGeom prst="flowChartManualInp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Input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Configuration · Setup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109318" y="4607662"/>
            <a:ext cx="312725" cy="312725"/>
          </a:xfrm>
          <a:prstGeom prst="quad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Network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Network · Multi-Path Routing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10685548" y="4668469"/>
            <a:ext cx="330098" cy="191110"/>
          </a:xfrm>
          <a:prstGeom prst="leftRightArrow">
            <a:avLst/>
          </a:prstGeom>
          <a:solidFill>
            <a:srgbClr val="D4AF5A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Duplex Link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Full-Duplex Link · Two-Way Data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193423" y="5640476"/>
            <a:ext cx="295351" cy="295351"/>
          </a:xfrm>
          <a:prstGeom prst="lef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· Version Revert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2778339" y="5683910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20" name="Text 118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Release Forward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4363256" y="5640476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· Firewall Block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5956859" y="5649163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26" name="Text 124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 · Feature Launch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7524402" y="5683910"/>
            <a:ext cx="312725" cy="208483"/>
          </a:xfrm>
          <a:prstGeom prst="notchedRightArrow">
            <a:avLst/>
          </a:prstGeom>
          <a:solidFill>
            <a:srgbClr val="D4AF5A"/>
          </a:solidFill>
          <a:ln/>
        </p:spPr>
      </p:sp>
      <p:sp>
        <p:nvSpPr>
          <p:cNvPr id="129" name="Text 127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 · High Speed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9152752" y="5675224"/>
            <a:ext cx="225857" cy="225857"/>
          </a:xfrm>
          <a:prstGeom prst="mathMultiply">
            <a:avLst/>
          </a:prstGeom>
          <a:solidFill>
            <a:srgbClr val="D4AF5A"/>
          </a:solidFill>
          <a:ln/>
        </p:spPr>
      </p:sp>
      <p:sp>
        <p:nvSpPr>
          <p:cNvPr id="132" name="Text 130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· Elastic Compute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3423" y="1543964"/>
            <a:ext cx="295351" cy="295351"/>
          </a:xfrm>
          <a:prstGeom prst="su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830460" y="1526591"/>
            <a:ext cx="191110" cy="330098"/>
          </a:xfrm>
          <a:prstGeom prst="lightningBolt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550" dirty="0"/>
          </a:p>
        </p:txBody>
      </p:sp>
      <p:sp>
        <p:nvSpPr>
          <p:cNvPr id="10" name="Shape 8"/>
          <p:cNvSpPr/>
          <p:nvPr/>
        </p:nvSpPr>
        <p:spPr>
          <a:xfrm rot="2700000">
            <a:off x="4380629" y="1543964"/>
            <a:ext cx="191110" cy="260604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3500000">
            <a:off x="4450124" y="1578712"/>
            <a:ext cx="191110" cy="260604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550" dirty="0"/>
          </a:p>
        </p:txBody>
      </p:sp>
      <p:sp>
        <p:nvSpPr>
          <p:cNvPr id="14" name="Shape 12"/>
          <p:cNvSpPr/>
          <p:nvPr/>
        </p:nvSpPr>
        <p:spPr>
          <a:xfrm>
            <a:off x="5965546" y="1604772"/>
            <a:ext cx="260604" cy="173736"/>
          </a:xfrm>
          <a:prstGeom prst="roundRect">
            <a:avLst>
              <a:gd name="adj" fmla="val 6315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6150" y="1660368"/>
            <a:ext cx="20848" cy="6254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6" name="Text 14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7611270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9" name="Shape 17"/>
          <p:cNvSpPr/>
          <p:nvPr/>
        </p:nvSpPr>
        <p:spPr>
          <a:xfrm>
            <a:off x="7611270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06824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1" name="Shape 19"/>
          <p:cNvSpPr/>
          <p:nvPr/>
        </p:nvSpPr>
        <p:spPr>
          <a:xfrm>
            <a:off x="7706824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 · Distribution Network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9100631" y="1561338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61439" y="1630832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Dashboard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Monitoring · Dashboard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0711608" y="1570025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11608" y="1648206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81103" y="153527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1" name="Shape 29"/>
          <p:cNvSpPr/>
          <p:nvPr/>
        </p:nvSpPr>
        <p:spPr>
          <a:xfrm>
            <a:off x="10902718" y="153527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2" name="Text 30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 · Outage Planning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202109" y="2576779"/>
            <a:ext cx="277978" cy="277978"/>
          </a:xfrm>
          <a:prstGeom prst="oct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Compliance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· Regulatory Compliance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2804399" y="2559406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Reservoir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Reservoir · Fuel Storage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 rot="10800000">
            <a:off x="4415376" y="2576779"/>
            <a:ext cx="191110" cy="277978"/>
          </a:xfrm>
          <a:prstGeom prst="teardro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Site · Facility Location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5974232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26353" y="2646274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57626" y="2611526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26353" y="2724455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57626" y="268970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26353" y="280263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57626" y="276788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· Compliance Checklist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7576522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55674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7713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66865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Crews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Crews · Technicians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Transmission Flow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10755042" y="2585466"/>
            <a:ext cx="191110" cy="260604"/>
          </a:xfrm>
          <a:prstGeom prst="teardrop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Utility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Utility · Resource Management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1193423" y="3592220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Certification · ESG Rating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 rot="2700000">
            <a:off x="2830460" y="3715573"/>
            <a:ext cx="191110" cy="48646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792238" y="3606119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983348" y="3797229"/>
            <a:ext cx="76444" cy="76444"/>
          </a:xfrm>
          <a:prstGeom prst="ellipse">
            <a:avLst/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Maintenance · Service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4337195" y="3653028"/>
            <a:ext cx="347472" cy="173736"/>
          </a:xfrm>
          <a:prstGeom prst="wav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Load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Load · Demand · Capacity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5939485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Shedding Decision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Shedding · Demand Response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7524402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Process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Generation Process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9109318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Boundary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Start/End · Restoration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10711608" y="3618281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Reserve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Reserve · Internal Storage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210796" y="4642409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Data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Data · Telemetry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2769652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Filings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Filings · Compliance Docs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4371942" y="4642409"/>
            <a:ext cx="277978" cy="243230"/>
          </a:xfrm>
          <a:prstGeom prst="flowChartManualOpera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Switching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Field Switching · Isolation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5939485" y="4607662"/>
            <a:ext cx="312725" cy="312725"/>
          </a:xfrm>
          <a:prstGeom prst="quad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Interconnection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Interconnection · Multi-Feed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00" name="Text 98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Growth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Growth · Expansion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9118005" y="4616348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Area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Area · Restricted Zone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10711608" y="4625035"/>
            <a:ext cx="277978" cy="277978"/>
          </a:xfrm>
          <a:prstGeom prst="rtTriangl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· Load Ramp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210796" y="5657850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Substation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Substation · Aggregation Node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2787026" y="5649163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12" name="Text 110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Capacity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Capacity · Commissioning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4354569" y="5683910"/>
            <a:ext cx="312725" cy="208483"/>
          </a:xfrm>
          <a:prstGeom prst="notchedRightArrow">
            <a:avLst/>
          </a:prstGeom>
          <a:solidFill>
            <a:srgbClr val="D4AF5A"/>
          </a:solidFill>
          <a:ln/>
        </p:spPr>
      </p:sp>
      <p:sp>
        <p:nvSpPr>
          <p:cNvPr id="115" name="Text 113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Response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Response · Fast Ramp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5930798" y="5692597"/>
            <a:ext cx="330098" cy="191110"/>
          </a:xfrm>
          <a:prstGeom prst="leftRightArrow">
            <a:avLst/>
          </a:prstGeom>
          <a:solidFill>
            <a:srgbClr val="D4AF5A"/>
          </a:solidFill>
          <a:ln/>
        </p:spPr>
      </p:sp>
      <p:sp>
        <p:nvSpPr>
          <p:cNvPr id="118" name="Text 116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Flow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Power Flow · Net Metering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7550462" y="5657850"/>
            <a:ext cx="260604" cy="260604"/>
          </a:xfrm>
          <a:prstGeom prst="flowChartOff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Reserve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Reserve · Backup Fuel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4736" y="1535278"/>
            <a:ext cx="312725" cy="312725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4230" y="1604772"/>
            <a:ext cx="173736" cy="17373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75" y="1667317"/>
            <a:ext cx="48646" cy="4864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2778339" y="1630832"/>
            <a:ext cx="295351" cy="182423"/>
          </a:xfrm>
          <a:prstGeom prst="roundRect">
            <a:avLst>
              <a:gd name="adj" fmla="val 50125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6520" y="1526591"/>
            <a:ext cx="138989" cy="138989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63256" y="1543964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5939485" y="1590873"/>
            <a:ext cx="201534" cy="20153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0676" y="1590873"/>
            <a:ext cx="201534" cy="20153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7576522" y="153527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9956" y="1630832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9956" y="1691640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9956" y="1752448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· Statement of Work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44065" y="153527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96186" y="162214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227459" y="158739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96186" y="1700327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9227459" y="1665580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96186" y="1778508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227459" y="1743761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Plan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Plan · Milestones · Checklist</a:t>
            </a:r>
            <a:endParaRPr lang="en-US" sz="550" dirty="0"/>
          </a:p>
        </p:txBody>
      </p:sp>
      <p:sp>
        <p:nvSpPr>
          <p:cNvPr id="35" name="Shape 33"/>
          <p:cNvSpPr/>
          <p:nvPr/>
        </p:nvSpPr>
        <p:spPr>
          <a:xfrm>
            <a:off x="10711608" y="1570025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11608" y="1648206"/>
            <a:ext cx="277978" cy="91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781103" y="153527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02718" y="1535278"/>
            <a:ext cx="17374" cy="5212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· Scheduling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36857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16008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48048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27199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Team · Stakeholders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760965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21773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Dashboard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Reporting · Dashboard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4354569" y="2602840"/>
            <a:ext cx="312725" cy="225857"/>
          </a:xfrm>
          <a:prstGeom prst="wedgeRoundRectCallo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· Advisory Discussion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48172" y="2568092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· Accreditation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star5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Satisfaction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Satisfaction · NPS · Rating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Next Steps · Direction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11608" y="2576779"/>
            <a:ext cx="277978" cy="277978"/>
          </a:xfrm>
          <a:prstGeom prst="diamon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 · Focus Areas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176049" y="3626968"/>
            <a:ext cx="330098" cy="225857"/>
          </a:xfrm>
          <a:prstGeom prst="ribbon2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· Awards · Distinction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2856520" y="3574847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D4AF5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910378" y="3837188"/>
            <a:ext cx="31272" cy="3127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71" name="Text 69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Line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 · Contact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4424063" y="3583534"/>
            <a:ext cx="173736" cy="312725"/>
          </a:xfrm>
          <a:prstGeom prst="bracePai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Alignment · Grouping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5948172" y="3644341"/>
            <a:ext cx="295351" cy="191110"/>
          </a:xfrm>
          <a:prstGeom prst="rec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948172" y="3644341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6095848" y="3644341"/>
            <a:ext cx="147676" cy="112928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Correspondence · Updates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Decision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Go/No-Go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Step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Step · Delivery Process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Boundary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Kickoff/Close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1184736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Package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Package · Reports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Interview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Interview · Data Gathering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4363256" y="4659782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97" name="Text 95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Progress · Milestone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5939485" y="4659782"/>
            <a:ext cx="312725" cy="208483"/>
          </a:xfrm>
          <a:prstGeom prst="notchedRightArrow">
            <a:avLst/>
          </a:prstGeom>
          <a:solidFill>
            <a:srgbClr val="D4AF5A"/>
          </a:solidFill>
          <a:ln/>
        </p:spPr>
      </p:sp>
      <p:sp>
        <p:nvSpPr>
          <p:cNvPr id="100" name="Text 98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Delivery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Delivery · Fast Track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7533088" y="4616348"/>
            <a:ext cx="295351" cy="295351"/>
          </a:xfrm>
          <a:prstGeom prst="smileyFac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 · Satisfaction Survey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9126692" y="4625035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Add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 · Differentiator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0720295" y="4633722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Synthesis · Aggregation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176049" y="5692597"/>
            <a:ext cx="330098" cy="191110"/>
          </a:xfrm>
          <a:prstGeom prst="leftRightArrow">
            <a:avLst/>
          </a:prstGeom>
          <a:solidFill>
            <a:srgbClr val="D4AF5A"/>
          </a:solidFill>
          <a:ln/>
        </p:spPr>
      </p:sp>
      <p:sp>
        <p:nvSpPr>
          <p:cNvPr id="112" name="Text 110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Feedback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Feedback Loop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2769652" y="5666537"/>
            <a:ext cx="312725" cy="243230"/>
          </a:xfrm>
          <a:prstGeom prst="borderCallout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· Advisory Note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37195" y="5701284"/>
            <a:ext cx="347472" cy="173736"/>
          </a:xfrm>
          <a:prstGeom prst="ribb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Advisor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Advisor Status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48172" y="5640476"/>
            <a:ext cx="295351" cy="295351"/>
          </a:xfrm>
          <a:prstGeom prst="lef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Correction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Correction · Iteration</a:t>
            </a:r>
            <a:endParaRPr lang="en-US" sz="550" dirty="0"/>
          </a:p>
        </p:txBody>
      </p:sp>
      <p:sp>
        <p:nvSpPr>
          <p:cNvPr id="123" name="Shape 121"/>
          <p:cNvSpPr/>
          <p:nvPr/>
        </p:nvSpPr>
        <p:spPr>
          <a:xfrm>
            <a:off x="7541775" y="5649163"/>
            <a:ext cx="277978" cy="277978"/>
          </a:xfrm>
          <a:prstGeom prst="star12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Partner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Partner · Elite Status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9135379" y="5649163"/>
            <a:ext cx="260604" cy="277978"/>
          </a:xfrm>
          <a:prstGeom prst="flowChartOffpageConnec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Network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· Partner Network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19483" y="1561338"/>
            <a:ext cx="243230" cy="130302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6897" y="1538752"/>
            <a:ext cx="45171" cy="45171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483" y="1691640"/>
            <a:ext cx="243230" cy="91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6897" y="1669054"/>
            <a:ext cx="45171" cy="45171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219483" y="1691640"/>
            <a:ext cx="243230" cy="130302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6897" y="1799356"/>
            <a:ext cx="45171" cy="45171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31441" y="1660368"/>
            <a:ext cx="62545" cy="6254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Machine Learning · Neural Network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778339" y="1543964"/>
            <a:ext cx="295351" cy="295351"/>
          </a:xfrm>
          <a:prstGeom prst="gear6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· AI · Intelligent Process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4354569" y="1561338"/>
            <a:ext cx="312725" cy="225857"/>
          </a:xfrm>
          <a:prstGeom prst="wedgeRoundRectCallou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· Copilot · Chatbot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30798" y="1604772"/>
            <a:ext cx="330098" cy="173736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7626" y="1653418"/>
            <a:ext cx="76444" cy="76444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1" name="Text 19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· Insight · Recognition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34826" y="1743761"/>
            <a:ext cx="52121" cy="9555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4" name="Shape 22"/>
          <p:cNvSpPr/>
          <p:nvPr/>
        </p:nvSpPr>
        <p:spPr>
          <a:xfrm>
            <a:off x="7614744" y="1674266"/>
            <a:ext cx="52121" cy="165049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5" name="Shape 23"/>
          <p:cNvSpPr/>
          <p:nvPr/>
        </p:nvSpPr>
        <p:spPr>
          <a:xfrm>
            <a:off x="7694663" y="1717700"/>
            <a:ext cx="52121" cy="1216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4581" y="1613459"/>
            <a:ext cx="52121" cy="22585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7560886" y="1656893"/>
            <a:ext cx="79919" cy="6949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0805" y="1656893"/>
            <a:ext cx="79919" cy="4343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720723" y="1596085"/>
            <a:ext cx="79919" cy="104242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 · Forecasting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196186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3" name="Shape 31"/>
          <p:cNvSpPr/>
          <p:nvPr/>
        </p:nvSpPr>
        <p:spPr>
          <a:xfrm>
            <a:off x="9196186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4" name="Shape 32"/>
          <p:cNvSpPr/>
          <p:nvPr/>
        </p:nvSpPr>
        <p:spPr>
          <a:xfrm>
            <a:off x="9291741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5" name="Shape 33"/>
          <p:cNvSpPr/>
          <p:nvPr/>
        </p:nvSpPr>
        <p:spPr>
          <a:xfrm>
            <a:off x="9291741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6" name="Text 34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· Model Deployment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10728982" y="1535278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· Data Lake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19483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71604" y="2646274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302876" y="2611526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71604" y="2724455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302876" y="268970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71604" y="280263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302876" y="276788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 · Testing Checklist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2778339" y="2576779"/>
            <a:ext cx="295351" cy="277978"/>
          </a:xfrm>
          <a:prstGeom prst="hex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Node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Compute Node · Inference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4363256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Processing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Processing · Pattern Detection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5939485" y="2611526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Flow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Flow · Logic Path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7541775" y="2576779"/>
            <a:ext cx="277978" cy="277978"/>
          </a:xfrm>
          <a:prstGeom prst="diamon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· Accuracy · Confidence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9126692" y="2576779"/>
            <a:ext cx="277978" cy="277978"/>
          </a:xfrm>
          <a:prstGeom prst="su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· Innovation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10706396" y="2649748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833223" y="2715768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937465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975687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Access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Access · API Key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1236857" y="3630442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216008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48048" y="3630442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327199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· Oversight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2778339" y="3592220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· Governance · Ethics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4398003" y="3626968"/>
            <a:ext cx="225857" cy="225857"/>
          </a:xfrm>
          <a:prstGeom prst="mathPlus">
            <a:avLst/>
          </a:prstGeom>
          <a:solidFill>
            <a:srgbClr val="D4AF5A"/>
          </a:solidFill>
          <a:ln/>
        </p:spPr>
      </p:sp>
      <p:sp>
        <p:nvSpPr>
          <p:cNvPr id="81" name="Text 79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Augmentation · Enhancement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939485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Boundary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Boundary · Classification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524402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Step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Pipeline Step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109318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Boundary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Start/End · Epoch Boundary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10711608" y="3618281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· Model Inputs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210796" y="4642409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· Embeddings Store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Input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· Manual Input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4354569" y="4607662"/>
            <a:ext cx="312725" cy="312725"/>
          </a:xfrm>
          <a:prstGeom prst="quad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Flow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· Orchestration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5948172" y="4616348"/>
            <a:ext cx="295351" cy="295351"/>
          </a:xfrm>
          <a:prstGeom prst="lef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Loop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Loop · Feedback Cycle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· Forward Pass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118005" y="4616348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· Content Restriction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10711608" y="4625035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Capability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Capability · New Model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228170" y="5675224"/>
            <a:ext cx="225857" cy="225857"/>
          </a:xfrm>
          <a:prstGeom prst="mathMultiply">
            <a:avLst/>
          </a:prstGeom>
          <a:solidFill>
            <a:srgbClr val="D4AF5A"/>
          </a:solidFill>
          <a:ln/>
        </p:spPr>
      </p:sp>
      <p:sp>
        <p:nvSpPr>
          <p:cNvPr id="117" name="Text 115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Scaling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Scaling · GPU Multiplier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2795713" y="5657850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 · Aggregation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4354569" y="5666537"/>
            <a:ext cx="312725" cy="243230"/>
          </a:xfrm>
          <a:prstGeom prst="borderCallout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· Documentation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5930798" y="5692597"/>
            <a:ext cx="330098" cy="191110"/>
          </a:xfrm>
          <a:prstGeom prst="leftRightArrow">
            <a:avLst/>
          </a:prstGeom>
          <a:solidFill>
            <a:srgbClr val="D4AF5A"/>
          </a:solidFill>
          <a:ln/>
        </p:spPr>
      </p:sp>
      <p:sp>
        <p:nvSpPr>
          <p:cNvPr id="126" name="Text 124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Feedback Loop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· Human Feedback Loop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5160" y="1743761"/>
            <a:ext cx="52121" cy="9555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5" name="Shape 3"/>
          <p:cNvSpPr/>
          <p:nvPr/>
        </p:nvSpPr>
        <p:spPr>
          <a:xfrm>
            <a:off x="1275079" y="1674266"/>
            <a:ext cx="52121" cy="165049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354997" y="1717700"/>
            <a:ext cx="52121" cy="1216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" name="Shape 5"/>
          <p:cNvSpPr/>
          <p:nvPr/>
        </p:nvSpPr>
        <p:spPr>
          <a:xfrm>
            <a:off x="1434916" y="1613459"/>
            <a:ext cx="52121" cy="22585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221220" y="1656893"/>
            <a:ext cx="79919" cy="6949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01139" y="1656893"/>
            <a:ext cx="79919" cy="4343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381058" y="1596085"/>
            <a:ext cx="79919" cy="104242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Analytics · Trends · Reporting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804399" y="1535278"/>
            <a:ext cx="243230" cy="312725"/>
          </a:xfrm>
          <a:prstGeom prst="ca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Storage · Records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4345882" y="1561338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6690" y="1630832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KPI · Visualization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5948172" y="1568287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8172" y="1663842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8172" y="1759397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· Layers · Records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7533088" y="1543964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Segmentation · Breakdown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9144065" y="1543964"/>
            <a:ext cx="243230" cy="295351"/>
          </a:xfrm>
          <a:prstGeom prst="funnel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Filtering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Filtering · Query · Refine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0781103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81103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76657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76657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35" name="Text 33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· Integration Points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219483" y="2559406"/>
            <a:ext cx="243230" cy="312725"/>
          </a:xfrm>
          <a:prstGeom prst="ca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· Warehouse · Storage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2813086" y="2698394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53046" y="2550719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8641" y="2759202"/>
            <a:ext cx="34747" cy="34747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43" name="Text 41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· Governance · Compliance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4389316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41437" y="2646274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4472709" y="2611526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41437" y="2724455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4472709" y="268970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41437" y="280263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4472709" y="276788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· Validation Checklist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· Data Pipeline · Transformation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Feed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Feed · Streaming Data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· Pipeline Sequence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02921" y="2568092"/>
            <a:ext cx="295351" cy="295351"/>
          </a:xfrm>
          <a:prstGeom prst="star5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Confidence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Confidence · Quality Score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236857" y="3583534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80291" y="3679088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0291" y="3739896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280291" y="3800704"/>
            <a:ext cx="121615" cy="914"/>
          </a:xfrm>
          <a:prstGeom prst="line">
            <a:avLst/>
          </a:prstGeom>
          <a:noFill/>
          <a:ln w="13970">
            <a:solidFill>
              <a:srgbClr val="D4AF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Data Documentation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2821773" y="3583534"/>
            <a:ext cx="208483" cy="312725"/>
          </a:xfrm>
          <a:prstGeom prst="verticalScroll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Data Lineage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4354569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Routing Decision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Routing · Conditional Logic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5939485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Step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 Step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524402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Boundary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Start/End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9126692" y="3618281"/>
            <a:ext cx="277978" cy="243230"/>
          </a:xfrm>
          <a:prstGeom prst="flowChartInternal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 · Internal Store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0720295" y="3618281"/>
            <a:ext cx="260604" cy="243230"/>
          </a:xfrm>
          <a:prstGeom prst="flowChartOn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· Cloud Store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1210796" y="4633722"/>
            <a:ext cx="260604" cy="260604"/>
          </a:xfrm>
          <a:prstGeom prst="flowChartOfflineStora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Archive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Archive · Historical Data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Entry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4380629" y="4633722"/>
            <a:ext cx="260604" cy="260604"/>
          </a:xfrm>
          <a:prstGeom prst="flowChartSummingJunc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Rollup · Aggregation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5956859" y="4625035"/>
            <a:ext cx="277978" cy="277978"/>
          </a:xfrm>
          <a:prstGeom prst="flowChartSor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Rank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Rank · Ordering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7550462" y="4642409"/>
            <a:ext cx="260604" cy="243230"/>
          </a:xfrm>
          <a:prstGeom prst="flowChartMerg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 · Join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9144065" y="4616348"/>
            <a:ext cx="243230" cy="295351"/>
          </a:xfrm>
          <a:prstGeom prst="flowChartCollat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Collation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Collation · Compilation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0694235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 · Metadata Docs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193423" y="5640476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Restriction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· Restriction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2778339" y="5683910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15" name="Text 113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Flow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Data Flow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63256" y="5640476"/>
            <a:ext cx="295351" cy="295351"/>
          </a:xfrm>
          <a:prstGeom prst="lef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Cycle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56859" y="5649163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21" name="Text 119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Insight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Insight · Anomaly Detected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Transformation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 flipV="1">
            <a:off x="1193423" y="1543964"/>
            <a:ext cx="147676" cy="23454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3423" y="1778508"/>
            <a:ext cx="295351" cy="91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41098" y="1543964"/>
            <a:ext cx="147676" cy="23454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9826" y="1512692"/>
            <a:ext cx="62545" cy="62545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2150" y="1747236"/>
            <a:ext cx="62545" cy="62545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7501" y="1747236"/>
            <a:ext cx="62545" cy="62545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· Connectivity · IoT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2778339" y="1543964"/>
            <a:ext cx="295351" cy="295351"/>
          </a:xfrm>
          <a:prstGeom prst="circularArrow">
            <a:avLst/>
          </a:prstGeom>
          <a:solidFill>
            <a:srgbClr val="D4AF5A"/>
          </a:solidFill>
          <a:ln/>
        </p:spPr>
      </p:sp>
      <p:sp>
        <p:nvSpPr>
          <p:cNvPr id="13" name="Text 11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 · Change · Modernization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4354569" y="1596085"/>
            <a:ext cx="312725" cy="191110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3133" y="1665580"/>
            <a:ext cx="55596" cy="112928"/>
          </a:xfrm>
          <a:prstGeom prst="upArrow">
            <a:avLst/>
          </a:prstGeom>
          <a:solidFill>
            <a:srgbClr val="D4AF5A"/>
          </a:solidFill>
          <a:ln/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 · Infrastructure · Scale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39485" y="1543964"/>
            <a:ext cx="312725" cy="295351"/>
          </a:xfrm>
          <a:prstGeom prst="hexago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· Integration · Unified System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7611270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11270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4" name="Shape 22"/>
          <p:cNvSpPr/>
          <p:nvPr/>
        </p:nvSpPr>
        <p:spPr>
          <a:xfrm>
            <a:off x="7706824" y="1622146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5" name="Shape 23"/>
          <p:cNvSpPr/>
          <p:nvPr/>
        </p:nvSpPr>
        <p:spPr>
          <a:xfrm>
            <a:off x="7706824" y="1717700"/>
            <a:ext cx="86868" cy="8686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Modernization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Modernization · Legacy Replacement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9118005" y="1552651"/>
            <a:ext cx="295351" cy="277978"/>
          </a:xfrm>
          <a:prstGeom prst="hexag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· Middleware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0694235" y="1587398"/>
            <a:ext cx="312725" cy="208483"/>
          </a:xfrm>
          <a:prstGeom prst="chevr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Roadmap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Roadmap · Transformation Path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219483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71604" y="2646274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02876" y="2611526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71604" y="2724455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302876" y="2689708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71604" y="2802636"/>
            <a:ext cx="31272" cy="24323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02876" y="2767889"/>
            <a:ext cx="46909" cy="59070"/>
          </a:xfrm>
          <a:prstGeom prst="line">
            <a:avLst/>
          </a:prstGeom>
          <a:noFill/>
          <a:ln w="15240">
            <a:solidFill>
              <a:srgbClr val="D4AF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Checklist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· Adoption Checklist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21773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00925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32964" y="2606314"/>
            <a:ext cx="97292" cy="972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912116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D4AF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Workforce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Workforce · Enablement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Dashboard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Maturity Dashboard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Automation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Automation · Workflow Exchange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7541775" y="2576779"/>
            <a:ext cx="277978" cy="277978"/>
          </a:xfrm>
          <a:prstGeom prst="su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Culture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Culture · Digital Mindset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9118005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Connectivity · Sensors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10706396" y="2649748"/>
            <a:ext cx="132039" cy="132039"/>
          </a:xfrm>
          <a:prstGeom prst="ellipse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833223" y="2715768"/>
            <a:ext cx="147676" cy="914"/>
          </a:xfrm>
          <a:prstGeom prst="line">
            <a:avLst/>
          </a:prstGeom>
          <a:noFill/>
          <a:ln w="20320">
            <a:solidFill>
              <a:srgbClr val="D4AF5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7465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975687" y="2715768"/>
            <a:ext cx="914" cy="43434"/>
          </a:xfrm>
          <a:prstGeom prst="line">
            <a:avLst/>
          </a:prstGeom>
          <a:noFill/>
          <a:ln w="17780">
            <a:solidFill>
              <a:srgbClr val="D4AF5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Access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Access · Identity Management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1193423" y="3592220"/>
            <a:ext cx="295351" cy="295351"/>
          </a:xfrm>
          <a:prstGeom prst="irregularSeal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Certification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Maturity · Certification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2769652" y="3635654"/>
            <a:ext cx="312725" cy="208483"/>
          </a:xfrm>
          <a:prstGeom prst="cloud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· Sync · Scalability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4354569" y="3618281"/>
            <a:ext cx="312725" cy="243230"/>
          </a:xfrm>
          <a:prstGeom prst="flowChartDecis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 Buy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vs. Buy Decision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5939485" y="3626968"/>
            <a:ext cx="312725" cy="225857"/>
          </a:xfrm>
          <a:prstGeom prst="flowChart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Step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Roadmap Step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7524402" y="3644341"/>
            <a:ext cx="312725" cy="191110"/>
          </a:xfrm>
          <a:prstGeom prst="flowChartTermina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Milestone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Start/End · Milestone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9109318" y="3626968"/>
            <a:ext cx="312725" cy="225857"/>
          </a:xfrm>
          <a:prstGeom prst="flowChartAlternate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Path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Delivery Path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0694235" y="3626968"/>
            <a:ext cx="312725" cy="225857"/>
          </a:xfrm>
          <a:prstGeom prst="flowChartPredefinedProcess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Module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Module · Predefined Process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1184736" y="4651096"/>
            <a:ext cx="312725" cy="225857"/>
          </a:xfrm>
          <a:prstGeom prst="flowChartPreparati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Assessment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Assessment · Preparation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769652" y="4642409"/>
            <a:ext cx="312725" cy="243230"/>
          </a:xfrm>
          <a:prstGeom prst="flowChartMultidocument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Playbook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Playbook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4354569" y="4607662"/>
            <a:ext cx="312725" cy="312725"/>
          </a:xfrm>
          <a:prstGeom prst="quad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· Multi-Channel Flow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5948172" y="4616348"/>
            <a:ext cx="295351" cy="295351"/>
          </a:xfrm>
          <a:prstGeom prst="leftCircularArrow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Rollout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Rollout · Agile Cycle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D4AF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Path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Path · Forward Migration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126692" y="4625035"/>
            <a:ext cx="277978" cy="277978"/>
          </a:xfrm>
          <a:prstGeom prst="star4">
            <a:avLst/>
          </a:prstGeom>
          <a:solidFill>
            <a:srgbClr val="D4AF5A"/>
          </a:solidFill>
          <a:ln/>
        </p:spPr>
      </p:sp>
      <p:sp>
        <p:nvSpPr>
          <p:cNvPr id="105" name="Text 103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Spark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Spark · New Capability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10737669" y="4651096"/>
            <a:ext cx="225857" cy="225857"/>
          </a:xfrm>
          <a:prstGeom prst="mathMultiply">
            <a:avLst/>
          </a:prstGeom>
          <a:solidFill>
            <a:srgbClr val="D4AF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Effect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Effect · Network Effect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1167362" y="5701284"/>
            <a:ext cx="347472" cy="173736"/>
          </a:xfrm>
          <a:prstGeom prst="ribbon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Leader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Leader Status · Recognition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2778339" y="5640476"/>
            <a:ext cx="295351" cy="295351"/>
          </a:xfrm>
          <a:prstGeom prst="noSmoking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Constraint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Constraint · Technical Debt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4354569" y="5666537"/>
            <a:ext cx="312725" cy="243230"/>
          </a:xfrm>
          <a:prstGeom prst="borderCallout1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· Retrospective Note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5965546" y="5649163"/>
            <a:ext cx="260604" cy="277978"/>
          </a:xfrm>
          <a:prstGeom prst="flowChartOffpageConnector">
            <a:avLst/>
          </a:prstGeom>
          <a:ln w="20320">
            <a:solidFill>
              <a:srgbClr val="D4AF5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Link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Reference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Icon Library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Icon Library — Dark</dc:title>
  <dc:subject>PptxGenJS Presentation</dc:subject>
  <dc:creator>Business Development</dc:creator>
  <cp:lastModifiedBy>Business Development</cp:lastModifiedBy>
  <cp:revision>1</cp:revision>
  <dcterms:created xsi:type="dcterms:W3CDTF">2026-07-27T15:19:44Z</dcterms:created>
  <dcterms:modified xsi:type="dcterms:W3CDTF">2026-07-27T15:19:44Z</dcterms:modified>
</cp:coreProperties>
</file>