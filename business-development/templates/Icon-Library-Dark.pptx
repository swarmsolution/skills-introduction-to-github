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0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2575" y="-4206240"/>
            <a:ext cx="6583680" cy="6583680"/>
          </a:xfrm>
          <a:prstGeom prst="ellipse">
            <a:avLst/>
          </a:prstGeom>
          <a:ln w="12700">
            <a:solidFill>
              <a:srgbClr val="2C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16975" y="-3291840"/>
            <a:ext cx="4754880" cy="4754880"/>
          </a:xfrm>
          <a:prstGeom prst="ellipse">
            <a:avLst/>
          </a:prstGeom>
          <a:ln w="9525">
            <a:solidFill>
              <a:srgbClr val="2C38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5760720"/>
            <a:ext cx="3291840" cy="3291840"/>
          </a:xfrm>
          <a:prstGeom prst="ellipse">
            <a:avLst/>
          </a:prstGeom>
          <a:ln w="12700">
            <a:solidFill>
              <a:srgbClr val="2C38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LIBRARY  ·  ORIGINAL ARTWORK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 Library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across 10 categories — every icon is a native PowerPoint shape (recolor, resize, restyle freely). Each category page groups its unique icons first, then tints repeats in the secondary color to fill a dense reference grid, all captioned with searchable keywords.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/ General Business   ·   Financial Services   ·   Life Sciences   ·   Manufacturing &amp; Industrial   ·   Technology &amp; Telecom   ·   Energy &amp; Utilities   ·   Professional Services   ·   Artificial Intelligence   ·   Data &amp; Analytics   ·   Digital Transformation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/ General Business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0432" y="1619402"/>
            <a:ext cx="225857" cy="165049"/>
          </a:xfrm>
          <a:prstGeom prst="rect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685" y="1471727"/>
            <a:ext cx="295351" cy="130302"/>
          </a:xfrm>
          <a:prstGeom prst="triangl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· Home · Start</a:t>
            </a:r>
            <a:endParaRPr lang="en-US" sz="500" dirty="0"/>
          </a:p>
        </p:txBody>
      </p:sp>
      <p:sp>
        <p:nvSpPr>
          <p:cNvPr id="8" name="Shape 6"/>
          <p:cNvSpPr/>
          <p:nvPr/>
        </p:nvSpPr>
        <p:spPr>
          <a:xfrm>
            <a:off x="2065127" y="1489100"/>
            <a:ext cx="295351" cy="295351"/>
          </a:xfrm>
          <a:prstGeom prst="ellipse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12802" y="1549908"/>
            <a:ext cx="914" cy="86868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12802" y="1636776"/>
            <a:ext cx="69494" cy="1737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· Schedule · Deadline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3209315" y="161940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9275" y="147172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4870" y="1680210"/>
            <a:ext cx="34747" cy="34747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6" name="Text 14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· Privacy · Protection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4327444" y="148041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78" y="1575968"/>
            <a:ext cx="121615" cy="914"/>
          </a:xfrm>
          <a:prstGeom prst="line">
            <a:avLst/>
          </a:prstGeom>
          <a:noFill/>
          <a:ln w="13970">
            <a:solidFill>
              <a:srgbClr val="D4AF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70878" y="1636776"/>
            <a:ext cx="121615" cy="914"/>
          </a:xfrm>
          <a:prstGeom prst="line">
            <a:avLst/>
          </a:prstGeom>
          <a:noFill/>
          <a:ln w="13970">
            <a:solidFill>
              <a:srgbClr val="D4AF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0878" y="1697584"/>
            <a:ext cx="121615" cy="914"/>
          </a:xfrm>
          <a:prstGeom prst="line">
            <a:avLst/>
          </a:prstGeom>
          <a:noFill/>
          <a:ln w="13970">
            <a:solidFill>
              <a:srgbClr val="D4AF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Documents · Records</a:t>
            </a:r>
            <a:endParaRPr lang="en-US" sz="500" dirty="0"/>
          </a:p>
        </p:txBody>
      </p:sp>
      <p:sp>
        <p:nvSpPr>
          <p:cNvPr id="24" name="Shape 22"/>
          <p:cNvSpPr/>
          <p:nvPr/>
        </p:nvSpPr>
        <p:spPr>
          <a:xfrm>
            <a:off x="5419512" y="14804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71632" y="1567282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5502905" y="1532534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71632" y="1645463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502905" y="1610716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71632" y="1723644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502905" y="1688897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· To-Do · Checklist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6555014" y="1636776"/>
            <a:ext cx="78181" cy="86868"/>
          </a:xfrm>
          <a:prstGeom prst="line">
            <a:avLst/>
          </a:prstGeom>
          <a:noFill/>
          <a:ln w="25400">
            <a:solidFill>
              <a:srgbClr val="D4AF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6633195" y="1541221"/>
            <a:ext cx="121615" cy="182423"/>
          </a:xfrm>
          <a:prstGeom prst="line">
            <a:avLst/>
          </a:prstGeom>
          <a:noFill/>
          <a:ln w="25400">
            <a:solidFill>
              <a:srgbClr val="D4AF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· Complete · Verified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7664455" y="1541221"/>
            <a:ext cx="191110" cy="191110"/>
          </a:xfrm>
          <a:prstGeom prst="line">
            <a:avLst/>
          </a:prstGeom>
          <a:noFill/>
          <a:ln w="25400">
            <a:solidFill>
              <a:srgbClr val="D4AF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7664455" y="1541221"/>
            <a:ext cx="191110" cy="191110"/>
          </a:xfrm>
          <a:prstGeom prst="line">
            <a:avLst/>
          </a:prstGeom>
          <a:noFill/>
          <a:ln w="25400">
            <a:solidFill>
              <a:srgbClr val="D4AF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· Reject · Remove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8799957" y="1567282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42" name="Shape 40"/>
          <p:cNvSpPr/>
          <p:nvPr/>
        </p:nvSpPr>
        <p:spPr>
          <a:xfrm>
            <a:off x="8799957" y="1662836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43" name="Shape 41"/>
          <p:cNvSpPr/>
          <p:nvPr/>
        </p:nvSpPr>
        <p:spPr>
          <a:xfrm>
            <a:off x="8895512" y="1567282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44" name="Shape 42"/>
          <p:cNvSpPr/>
          <p:nvPr/>
        </p:nvSpPr>
        <p:spPr>
          <a:xfrm>
            <a:off x="8895512" y="1662836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45" name="Text 43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Modules · Tools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9831217" y="1549908"/>
            <a:ext cx="295351" cy="173736"/>
          </a:xfrm>
          <a:prstGeom prst="roundRect">
            <a:avLst>
              <a:gd name="adj" fmla="val 42105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18085" y="1575968"/>
            <a:ext cx="121615" cy="121615"/>
          </a:xfrm>
          <a:prstGeom prst="ellipse">
            <a:avLst/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004953" y="1511686"/>
            <a:ext cx="69494" cy="38222"/>
          </a:xfrm>
          <a:prstGeom prst="rect">
            <a:avLst/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· Media · Capture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10944134" y="1570756"/>
            <a:ext cx="132039" cy="132039"/>
          </a:xfrm>
          <a:prstGeom prst="ellipse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70961" y="1636776"/>
            <a:ext cx="147676" cy="914"/>
          </a:xfrm>
          <a:prstGeom prst="line">
            <a:avLst/>
          </a:prstGeom>
          <a:noFill/>
          <a:ln w="20320">
            <a:solidFill>
              <a:srgbClr val="D4AF5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175202" y="1636776"/>
            <a:ext cx="914" cy="4343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213424" y="1636776"/>
            <a:ext cx="914" cy="4343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· Login · Credentials</a:t>
            </a:r>
            <a:endParaRPr lang="en-US" sz="500" dirty="0"/>
          </a:p>
        </p:txBody>
      </p:sp>
      <p:sp>
        <p:nvSpPr>
          <p:cNvPr id="58" name="Shape 56"/>
          <p:cNvSpPr/>
          <p:nvPr/>
        </p:nvSpPr>
        <p:spPr>
          <a:xfrm>
            <a:off x="981746" y="2368601"/>
            <a:ext cx="191110" cy="191110"/>
          </a:xfrm>
          <a:prstGeom prst="ellipse">
            <a:avLst/>
          </a:prstGeom>
          <a:ln w="21590">
            <a:solidFill>
              <a:srgbClr val="D4AF5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41583" y="2528438"/>
            <a:ext cx="74706" cy="74706"/>
          </a:xfrm>
          <a:prstGeom prst="line">
            <a:avLst/>
          </a:prstGeom>
          <a:noFill/>
          <a:ln w="25400">
            <a:solidFill>
              <a:srgbClr val="D4AF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Find · Discover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2056440" y="2377288"/>
            <a:ext cx="312725" cy="225857"/>
          </a:xfrm>
          <a:prstGeom prst="wedgeRoundRectCallout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· Chat · Message</a:t>
            </a:r>
            <a:endParaRPr lang="en-US" sz="500" dirty="0"/>
          </a:p>
        </p:txBody>
      </p:sp>
      <p:sp>
        <p:nvSpPr>
          <p:cNvPr id="65" name="Shape 63"/>
          <p:cNvSpPr/>
          <p:nvPr/>
        </p:nvSpPr>
        <p:spPr>
          <a:xfrm>
            <a:off x="3218002" y="238076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97154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29193" y="238076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08345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Contacts · People</a:t>
            </a:r>
            <a:endParaRPr lang="en-US" sz="500" dirty="0"/>
          </a:p>
        </p:txBody>
      </p:sp>
      <p:sp>
        <p:nvSpPr>
          <p:cNvPr id="71" name="Shape 69"/>
          <p:cNvSpPr/>
          <p:nvPr/>
        </p:nvSpPr>
        <p:spPr>
          <a:xfrm rot="2700000">
            <a:off x="4336131" y="2465893"/>
            <a:ext cx="191110" cy="48646"/>
          </a:xfrm>
          <a:prstGeom prst="rect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97909" y="2356439"/>
            <a:ext cx="76444" cy="76444"/>
          </a:xfrm>
          <a:prstGeom prst="ellipse">
            <a:avLst/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489018" y="2547549"/>
            <a:ext cx="76444" cy="76444"/>
          </a:xfrm>
          <a:prstGeom prst="ellipse">
            <a:avLst/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· Maintenance · Tools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5410825" y="2464156"/>
            <a:ext cx="260604" cy="173736"/>
          </a:xfrm>
          <a:prstGeom prst="roundRect">
            <a:avLst>
              <a:gd name="adj" fmla="val 26316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541127" y="2464156"/>
            <a:ext cx="914" cy="173736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10825" y="2464156"/>
            <a:ext cx="260604" cy="91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· Incentives · Recognition</a:t>
            </a:r>
            <a:endParaRPr lang="en-US" sz="500" dirty="0"/>
          </a:p>
        </p:txBody>
      </p:sp>
      <p:sp>
        <p:nvSpPr>
          <p:cNvPr id="81" name="Shape 79"/>
          <p:cNvSpPr/>
          <p:nvPr/>
        </p:nvSpPr>
        <p:spPr>
          <a:xfrm flipV="1">
            <a:off x="6555014" y="2464156"/>
            <a:ext cx="191110" cy="173736"/>
          </a:xfrm>
          <a:prstGeom prst="trapezoid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28953" y="2438095"/>
            <a:ext cx="243230" cy="2779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83" name="Text 81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· Archive · Remove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7690515" y="232516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D4AF5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744374" y="2587508"/>
            <a:ext cx="31272" cy="31272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87" name="Text 85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Contact · Call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8721776" y="2342540"/>
            <a:ext cx="295351" cy="295351"/>
          </a:xfrm>
          <a:prstGeom prst="star5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· Quality · Favorite</a:t>
            </a:r>
            <a:endParaRPr lang="en-US" sz="500" dirty="0"/>
          </a:p>
        </p:txBody>
      </p:sp>
      <p:sp>
        <p:nvSpPr>
          <p:cNvPr id="92" name="Shape 90"/>
          <p:cNvSpPr/>
          <p:nvPr/>
        </p:nvSpPr>
        <p:spPr>
          <a:xfrm>
            <a:off x="9822531" y="2359914"/>
            <a:ext cx="312725" cy="260604"/>
          </a:xfrm>
          <a:prstGeom prst="folderCorner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Folders · Organization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10940659" y="2394661"/>
            <a:ext cx="295351" cy="191110"/>
          </a:xfrm>
          <a:prstGeom prst="rect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940659" y="2394661"/>
            <a:ext cx="147676" cy="112928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11088334" y="2394661"/>
            <a:ext cx="147676" cy="112928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Correspondence · Inbox</a:t>
            </a:r>
            <a:endParaRPr lang="en-US" sz="500" dirty="0"/>
          </a:p>
        </p:txBody>
      </p:sp>
      <p:sp>
        <p:nvSpPr>
          <p:cNvPr id="100" name="Shape 98"/>
          <p:cNvSpPr/>
          <p:nvPr/>
        </p:nvSpPr>
        <p:spPr>
          <a:xfrm>
            <a:off x="964372" y="322204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64372" y="3300222"/>
            <a:ext cx="277978" cy="91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33866" y="3187294"/>
            <a:ext cx="17374" cy="52121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155482" y="3187294"/>
            <a:ext cx="17374" cy="52121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04" name="Text 102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· Planning · Schedule</a:t>
            </a:r>
            <a:endParaRPr lang="en-US" sz="500" dirty="0"/>
          </a:p>
        </p:txBody>
      </p:sp>
      <p:sp>
        <p:nvSpPr>
          <p:cNvPr id="106" name="Shape 104"/>
          <p:cNvSpPr/>
          <p:nvPr/>
        </p:nvSpPr>
        <p:spPr>
          <a:xfrm>
            <a:off x="2072076" y="3246364"/>
            <a:ext cx="20848" cy="20848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2117247" y="3256788"/>
            <a:ext cx="225857" cy="914"/>
          </a:xfrm>
          <a:prstGeom prst="line">
            <a:avLst/>
          </a:prstGeom>
          <a:noFill/>
          <a:ln w="16510">
            <a:solidFill>
              <a:srgbClr val="D4AF5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072076" y="3333232"/>
            <a:ext cx="20848" cy="20848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2117247" y="3343656"/>
            <a:ext cx="225857" cy="914"/>
          </a:xfrm>
          <a:prstGeom prst="line">
            <a:avLst/>
          </a:prstGeom>
          <a:noFill/>
          <a:ln w="16510">
            <a:solidFill>
              <a:srgbClr val="D4AF5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072076" y="3420100"/>
            <a:ext cx="20848" cy="20848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117247" y="3430524"/>
            <a:ext cx="225857" cy="914"/>
          </a:xfrm>
          <a:prstGeom prst="line">
            <a:avLst/>
          </a:prstGeom>
          <a:noFill/>
          <a:ln w="16510">
            <a:solidFill>
              <a:srgbClr val="D4AF5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View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· Agenda · Items</a:t>
            </a:r>
            <a:endParaRPr lang="en-US" sz="500" dirty="0"/>
          </a:p>
        </p:txBody>
      </p:sp>
      <p:sp>
        <p:nvSpPr>
          <p:cNvPr id="114" name="Shape 112"/>
          <p:cNvSpPr/>
          <p:nvPr/>
        </p:nvSpPr>
        <p:spPr>
          <a:xfrm rot="10800000">
            <a:off x="3226689" y="3204667"/>
            <a:ext cx="191110" cy="277978"/>
          </a:xfrm>
          <a:prstGeom prst="teardrop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· Site · Address</a:t>
            </a:r>
            <a:endParaRPr lang="en-US" sz="500" dirty="0"/>
          </a:p>
        </p:txBody>
      </p:sp>
      <p:sp>
        <p:nvSpPr>
          <p:cNvPr id="117" name="Shape 115"/>
          <p:cNvSpPr/>
          <p:nvPr/>
        </p:nvSpPr>
        <p:spPr>
          <a:xfrm>
            <a:off x="4310070" y="3195980"/>
            <a:ext cx="243230" cy="295351"/>
          </a:xfrm>
          <a:prstGeom prst="funnel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650" dirty="0"/>
          </a:p>
        </p:txBody>
      </p:sp>
      <p:sp>
        <p:nvSpPr>
          <p:cNvPr id="119" name="Text 117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Sort · Refine</a:t>
            </a:r>
            <a:endParaRPr lang="en-US" sz="500" dirty="0"/>
          </a:p>
        </p:txBody>
      </p:sp>
      <p:sp>
        <p:nvSpPr>
          <p:cNvPr id="120" name="Shape 118"/>
          <p:cNvSpPr/>
          <p:nvPr/>
        </p:nvSpPr>
        <p:spPr>
          <a:xfrm>
            <a:off x="5428198" y="3326282"/>
            <a:ext cx="225857" cy="165049"/>
          </a:xfrm>
          <a:prstGeom prst="rec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393451" y="3178607"/>
            <a:ext cx="295351" cy="130302"/>
          </a:xfrm>
          <a:prstGeom prst="triangl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· Home · Start</a:t>
            </a:r>
            <a:endParaRPr lang="en-US" sz="500" dirty="0"/>
          </a:p>
        </p:txBody>
      </p:sp>
      <p:sp>
        <p:nvSpPr>
          <p:cNvPr id="124" name="Shape 122"/>
          <p:cNvSpPr/>
          <p:nvPr/>
        </p:nvSpPr>
        <p:spPr>
          <a:xfrm>
            <a:off x="6502893" y="3195980"/>
            <a:ext cx="295351" cy="295351"/>
          </a:xfrm>
          <a:prstGeom prst="ellips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50568" y="3256788"/>
            <a:ext cx="914" cy="86868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650568" y="3343656"/>
            <a:ext cx="69494" cy="1737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· Schedule · Deadline</a:t>
            </a:r>
            <a:endParaRPr lang="en-US" sz="500" dirty="0"/>
          </a:p>
        </p:txBody>
      </p:sp>
      <p:sp>
        <p:nvSpPr>
          <p:cNvPr id="129" name="Shape 127"/>
          <p:cNvSpPr/>
          <p:nvPr/>
        </p:nvSpPr>
        <p:spPr>
          <a:xfrm>
            <a:off x="7647081" y="332628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687041" y="317860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742636" y="3387090"/>
            <a:ext cx="34747" cy="34747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32" name="Text 130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50" dirty="0"/>
          </a:p>
        </p:txBody>
      </p:sp>
      <p:sp>
        <p:nvSpPr>
          <p:cNvPr id="133" name="Text 131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· Privacy · Protection</a:t>
            </a:r>
            <a:endParaRPr lang="en-US" sz="500" dirty="0"/>
          </a:p>
        </p:txBody>
      </p:sp>
      <p:sp>
        <p:nvSpPr>
          <p:cNvPr id="134" name="Shape 132"/>
          <p:cNvSpPr/>
          <p:nvPr/>
        </p:nvSpPr>
        <p:spPr>
          <a:xfrm>
            <a:off x="8765210" y="318729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808644" y="3282848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808644" y="3343656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808644" y="3404464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Documents · Records</a:t>
            </a:r>
            <a:endParaRPr lang="en-US" sz="500" dirty="0"/>
          </a:p>
        </p:txBody>
      </p:sp>
      <p:sp>
        <p:nvSpPr>
          <p:cNvPr id="140" name="Shape 138"/>
          <p:cNvSpPr/>
          <p:nvPr/>
        </p:nvSpPr>
        <p:spPr>
          <a:xfrm>
            <a:off x="9857278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909399" y="327416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flipV="1">
            <a:off x="9940671" y="323941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909399" y="335234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9940671" y="331759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909399" y="343052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V="1">
            <a:off x="9940671" y="339577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650" dirty="0"/>
          </a:p>
        </p:txBody>
      </p:sp>
      <p:sp>
        <p:nvSpPr>
          <p:cNvPr id="148" name="Text 146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· To-Do · Checklist</a:t>
            </a:r>
            <a:endParaRPr lang="en-US" sz="500" dirty="0"/>
          </a:p>
        </p:txBody>
      </p:sp>
      <p:sp>
        <p:nvSpPr>
          <p:cNvPr id="149" name="Shape 147"/>
          <p:cNvSpPr/>
          <p:nvPr/>
        </p:nvSpPr>
        <p:spPr>
          <a:xfrm>
            <a:off x="10992780" y="3343656"/>
            <a:ext cx="78181" cy="86868"/>
          </a:xfrm>
          <a:prstGeom prst="line">
            <a:avLst/>
          </a:prstGeom>
          <a:noFill/>
          <a:ln w="25400">
            <a:solidFill>
              <a:srgbClr val="8DA0C2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flipV="1">
            <a:off x="11070961" y="3248101"/>
            <a:ext cx="121615" cy="182423"/>
          </a:xfrm>
          <a:prstGeom prst="line">
            <a:avLst/>
          </a:prstGeom>
          <a:noFill/>
          <a:ln w="25400">
            <a:solidFill>
              <a:srgbClr val="8DA0C2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650" dirty="0"/>
          </a:p>
        </p:txBody>
      </p:sp>
      <p:sp>
        <p:nvSpPr>
          <p:cNvPr id="152" name="Text 150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· Complete · Verified</a:t>
            </a:r>
            <a:endParaRPr lang="en-US" sz="500" dirty="0"/>
          </a:p>
        </p:txBody>
      </p:sp>
      <p:sp>
        <p:nvSpPr>
          <p:cNvPr id="153" name="Shape 151"/>
          <p:cNvSpPr/>
          <p:nvPr/>
        </p:nvSpPr>
        <p:spPr>
          <a:xfrm>
            <a:off x="1007806" y="4101541"/>
            <a:ext cx="191110" cy="191110"/>
          </a:xfrm>
          <a:prstGeom prst="line">
            <a:avLst/>
          </a:prstGeom>
          <a:noFill/>
          <a:ln w="25400">
            <a:solidFill>
              <a:srgbClr val="8DA0C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V="1">
            <a:off x="1007806" y="4101541"/>
            <a:ext cx="191110" cy="191110"/>
          </a:xfrm>
          <a:prstGeom prst="line">
            <a:avLst/>
          </a:prstGeom>
          <a:noFill/>
          <a:ln w="25400">
            <a:solidFill>
              <a:srgbClr val="8DA0C2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· Reject · Remove</a:t>
            </a:r>
            <a:endParaRPr lang="en-US" sz="500" dirty="0"/>
          </a:p>
        </p:txBody>
      </p:sp>
      <p:sp>
        <p:nvSpPr>
          <p:cNvPr id="157" name="Shape 155"/>
          <p:cNvSpPr/>
          <p:nvPr/>
        </p:nvSpPr>
        <p:spPr>
          <a:xfrm>
            <a:off x="2143308" y="412760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58" name="Shape 156"/>
          <p:cNvSpPr/>
          <p:nvPr/>
        </p:nvSpPr>
        <p:spPr>
          <a:xfrm>
            <a:off x="2143308" y="422315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59" name="Shape 157"/>
          <p:cNvSpPr/>
          <p:nvPr/>
        </p:nvSpPr>
        <p:spPr>
          <a:xfrm>
            <a:off x="2238863" y="412760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60" name="Shape 158"/>
          <p:cNvSpPr/>
          <p:nvPr/>
        </p:nvSpPr>
        <p:spPr>
          <a:xfrm>
            <a:off x="2238863" y="422315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61" name="Text 159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Modules · Tools</a:t>
            </a:r>
            <a:endParaRPr lang="en-US" sz="500" dirty="0"/>
          </a:p>
        </p:txBody>
      </p:sp>
      <p:sp>
        <p:nvSpPr>
          <p:cNvPr id="163" name="Shape 161"/>
          <p:cNvSpPr/>
          <p:nvPr/>
        </p:nvSpPr>
        <p:spPr>
          <a:xfrm>
            <a:off x="3174568" y="4110228"/>
            <a:ext cx="295351" cy="173736"/>
          </a:xfrm>
          <a:prstGeom prst="roundRect">
            <a:avLst>
              <a:gd name="adj" fmla="val 42105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261436" y="4136288"/>
            <a:ext cx="121615" cy="121615"/>
          </a:xfrm>
          <a:prstGeom prst="ellipse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348304" y="4072006"/>
            <a:ext cx="69494" cy="38222"/>
          </a:xfrm>
          <a:prstGeom prst="rect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650" dirty="0"/>
          </a:p>
        </p:txBody>
      </p:sp>
      <p:sp>
        <p:nvSpPr>
          <p:cNvPr id="167" name="Text 165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· Media · Capture</a:t>
            </a:r>
            <a:endParaRPr lang="en-US" sz="500" dirty="0"/>
          </a:p>
        </p:txBody>
      </p:sp>
      <p:sp>
        <p:nvSpPr>
          <p:cNvPr id="168" name="Shape 166"/>
          <p:cNvSpPr/>
          <p:nvPr/>
        </p:nvSpPr>
        <p:spPr>
          <a:xfrm>
            <a:off x="4287484" y="4131076"/>
            <a:ext cx="132039" cy="132039"/>
          </a:xfrm>
          <a:prstGeom prst="ellips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414312" y="4197096"/>
            <a:ext cx="147676" cy="914"/>
          </a:xfrm>
          <a:prstGeom prst="line">
            <a:avLst/>
          </a:prstGeom>
          <a:noFill/>
          <a:ln w="20320">
            <a:solidFill>
              <a:srgbClr val="8DA0C2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518553" y="419709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556775" y="419709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650" dirty="0"/>
          </a:p>
        </p:txBody>
      </p:sp>
      <p:sp>
        <p:nvSpPr>
          <p:cNvPr id="173" name="Text 171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· Login · Credentials</a:t>
            </a:r>
            <a:endParaRPr lang="en-US" sz="500" dirty="0"/>
          </a:p>
        </p:txBody>
      </p:sp>
      <p:sp>
        <p:nvSpPr>
          <p:cNvPr id="174" name="Shape 172"/>
          <p:cNvSpPr/>
          <p:nvPr/>
        </p:nvSpPr>
        <p:spPr>
          <a:xfrm>
            <a:off x="5419512" y="4075481"/>
            <a:ext cx="191110" cy="191110"/>
          </a:xfrm>
          <a:prstGeom prst="ellipse">
            <a:avLst/>
          </a:prstGeom>
          <a:ln w="21590">
            <a:solidFill>
              <a:srgbClr val="8DA0C2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579349" y="4235318"/>
            <a:ext cx="74706" cy="74706"/>
          </a:xfrm>
          <a:prstGeom prst="line">
            <a:avLst/>
          </a:prstGeom>
          <a:noFill/>
          <a:ln w="25400">
            <a:solidFill>
              <a:srgbClr val="8DA0C2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650" dirty="0"/>
          </a:p>
        </p:txBody>
      </p:sp>
      <p:sp>
        <p:nvSpPr>
          <p:cNvPr id="177" name="Text 175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Find · Discover</a:t>
            </a:r>
            <a:endParaRPr lang="en-US" sz="500" dirty="0"/>
          </a:p>
        </p:txBody>
      </p:sp>
      <p:sp>
        <p:nvSpPr>
          <p:cNvPr id="178" name="Shape 176"/>
          <p:cNvSpPr/>
          <p:nvPr/>
        </p:nvSpPr>
        <p:spPr>
          <a:xfrm>
            <a:off x="6494206" y="4084168"/>
            <a:ext cx="312725" cy="225857"/>
          </a:xfrm>
          <a:prstGeom prst="wedgeRoundRectCallou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650" dirty="0"/>
          </a:p>
        </p:txBody>
      </p:sp>
      <p:sp>
        <p:nvSpPr>
          <p:cNvPr id="180" name="Text 178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· Chat · Message</a:t>
            </a:r>
            <a:endParaRPr lang="en-US" sz="500" dirty="0"/>
          </a:p>
        </p:txBody>
      </p:sp>
      <p:sp>
        <p:nvSpPr>
          <p:cNvPr id="181" name="Shape 179"/>
          <p:cNvSpPr/>
          <p:nvPr/>
        </p:nvSpPr>
        <p:spPr>
          <a:xfrm>
            <a:off x="7655768" y="408764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634920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766959" y="408764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746111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650" dirty="0"/>
          </a:p>
        </p:txBody>
      </p:sp>
      <p:sp>
        <p:nvSpPr>
          <p:cNvPr id="186" name="Text 184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Contacts · People</a:t>
            </a:r>
            <a:endParaRPr lang="en-US" sz="500" dirty="0"/>
          </a:p>
        </p:txBody>
      </p:sp>
      <p:sp>
        <p:nvSpPr>
          <p:cNvPr id="187" name="Shape 185"/>
          <p:cNvSpPr/>
          <p:nvPr/>
        </p:nvSpPr>
        <p:spPr>
          <a:xfrm rot="2700000">
            <a:off x="8773897" y="4172773"/>
            <a:ext cx="191110" cy="48646"/>
          </a:xfrm>
          <a:prstGeom prst="rec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735675" y="4063319"/>
            <a:ext cx="76444" cy="76444"/>
          </a:xfrm>
          <a:prstGeom prst="ellipse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926784" y="4254429"/>
            <a:ext cx="76444" cy="76444"/>
          </a:xfrm>
          <a:prstGeom prst="ellipse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650" dirty="0"/>
          </a:p>
        </p:txBody>
      </p:sp>
      <p:sp>
        <p:nvSpPr>
          <p:cNvPr id="191" name="Text 189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· Maintenance · Tools</a:t>
            </a:r>
            <a:endParaRPr lang="en-US" sz="500" dirty="0"/>
          </a:p>
        </p:txBody>
      </p:sp>
      <p:sp>
        <p:nvSpPr>
          <p:cNvPr id="192" name="Shape 190"/>
          <p:cNvSpPr/>
          <p:nvPr/>
        </p:nvSpPr>
        <p:spPr>
          <a:xfrm>
            <a:off x="9848591" y="4171036"/>
            <a:ext cx="260604" cy="173736"/>
          </a:xfrm>
          <a:prstGeom prst="roundRect">
            <a:avLst>
              <a:gd name="adj" fmla="val 2631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978893" y="4171036"/>
            <a:ext cx="914" cy="173736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848591" y="4171036"/>
            <a:ext cx="260604" cy="91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650" dirty="0"/>
          </a:p>
        </p:txBody>
      </p:sp>
      <p:sp>
        <p:nvSpPr>
          <p:cNvPr id="196" name="Text 194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· Incentives · Recognition</a:t>
            </a:r>
            <a:endParaRPr lang="en-US" sz="500" dirty="0"/>
          </a:p>
        </p:txBody>
      </p:sp>
      <p:sp>
        <p:nvSpPr>
          <p:cNvPr id="197" name="Shape 195"/>
          <p:cNvSpPr/>
          <p:nvPr/>
        </p:nvSpPr>
        <p:spPr>
          <a:xfrm flipV="1">
            <a:off x="10992780" y="4171036"/>
            <a:ext cx="191110" cy="173736"/>
          </a:xfrm>
          <a:prstGeom prst="trapezoid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0966719" y="4144975"/>
            <a:ext cx="243230" cy="2779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99" name="Text 197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650" dirty="0"/>
          </a:p>
        </p:txBody>
      </p:sp>
      <p:sp>
        <p:nvSpPr>
          <p:cNvPr id="200" name="Text 198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· Archive · Remove</a:t>
            </a:r>
            <a:endParaRPr lang="en-US" sz="500" dirty="0"/>
          </a:p>
        </p:txBody>
      </p:sp>
      <p:sp>
        <p:nvSpPr>
          <p:cNvPr id="201" name="Shape 199"/>
          <p:cNvSpPr/>
          <p:nvPr/>
        </p:nvSpPr>
        <p:spPr>
          <a:xfrm>
            <a:off x="1033866" y="488548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8DA0C2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87725" y="5147828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03" name="Text 201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650" dirty="0"/>
          </a:p>
        </p:txBody>
      </p:sp>
      <p:sp>
        <p:nvSpPr>
          <p:cNvPr id="204" name="Text 202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Contact · Call</a:t>
            </a:r>
            <a:endParaRPr lang="en-US" sz="500" dirty="0"/>
          </a:p>
        </p:txBody>
      </p:sp>
      <p:sp>
        <p:nvSpPr>
          <p:cNvPr id="205" name="Shape 203"/>
          <p:cNvSpPr/>
          <p:nvPr/>
        </p:nvSpPr>
        <p:spPr>
          <a:xfrm>
            <a:off x="2065127" y="4902860"/>
            <a:ext cx="295351" cy="295351"/>
          </a:xfrm>
          <a:prstGeom prst="star5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· Quality · Favorite</a:t>
            </a:r>
            <a:endParaRPr lang="en-US" sz="500" dirty="0"/>
          </a:p>
        </p:txBody>
      </p:sp>
      <p:sp>
        <p:nvSpPr>
          <p:cNvPr id="208" name="Shape 206"/>
          <p:cNvSpPr/>
          <p:nvPr/>
        </p:nvSpPr>
        <p:spPr>
          <a:xfrm>
            <a:off x="3165881" y="4920234"/>
            <a:ext cx="312725" cy="260604"/>
          </a:xfrm>
          <a:prstGeom prst="folderCorner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650" dirty="0"/>
          </a:p>
        </p:txBody>
      </p:sp>
      <p:sp>
        <p:nvSpPr>
          <p:cNvPr id="210" name="Text 208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Folders · Organization</a:t>
            </a:r>
            <a:endParaRPr lang="en-US" sz="500" dirty="0"/>
          </a:p>
        </p:txBody>
      </p:sp>
      <p:sp>
        <p:nvSpPr>
          <p:cNvPr id="211" name="Shape 209"/>
          <p:cNvSpPr/>
          <p:nvPr/>
        </p:nvSpPr>
        <p:spPr>
          <a:xfrm>
            <a:off x="4284010" y="4954981"/>
            <a:ext cx="295351" cy="191110"/>
          </a:xfrm>
          <a:prstGeom prst="rec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284010" y="4954981"/>
            <a:ext cx="147676" cy="112928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flipV="1">
            <a:off x="4431685" y="4954981"/>
            <a:ext cx="147676" cy="112928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650" dirty="0"/>
          </a:p>
        </p:txBody>
      </p:sp>
      <p:sp>
        <p:nvSpPr>
          <p:cNvPr id="215" name="Text 213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Correspondence · Inbox</a:t>
            </a:r>
            <a:endParaRPr lang="en-US" sz="500" dirty="0"/>
          </a:p>
        </p:txBody>
      </p:sp>
      <p:sp>
        <p:nvSpPr>
          <p:cNvPr id="216" name="Shape 214"/>
          <p:cNvSpPr/>
          <p:nvPr/>
        </p:nvSpPr>
        <p:spPr>
          <a:xfrm>
            <a:off x="5402138" y="492892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5402138" y="5007102"/>
            <a:ext cx="277978" cy="91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5471632" y="489417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19" name="Shape 217"/>
          <p:cNvSpPr/>
          <p:nvPr/>
        </p:nvSpPr>
        <p:spPr>
          <a:xfrm>
            <a:off x="5593248" y="489417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20" name="Text 218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650" dirty="0"/>
          </a:p>
        </p:txBody>
      </p:sp>
      <p:sp>
        <p:nvSpPr>
          <p:cNvPr id="221" name="Text 219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· Planning · Schedule</a:t>
            </a:r>
            <a:endParaRPr lang="en-US" sz="500" dirty="0"/>
          </a:p>
        </p:txBody>
      </p:sp>
      <p:sp>
        <p:nvSpPr>
          <p:cNvPr id="222" name="Shape 220"/>
          <p:cNvSpPr/>
          <p:nvPr/>
        </p:nvSpPr>
        <p:spPr>
          <a:xfrm>
            <a:off x="6509842" y="4953244"/>
            <a:ext cx="20848" cy="20848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23" name="Shape 221"/>
          <p:cNvSpPr/>
          <p:nvPr/>
        </p:nvSpPr>
        <p:spPr>
          <a:xfrm>
            <a:off x="6555014" y="4963668"/>
            <a:ext cx="225857" cy="914"/>
          </a:xfrm>
          <a:prstGeom prst="line">
            <a:avLst/>
          </a:prstGeom>
          <a:noFill/>
          <a:ln w="16510">
            <a:solidFill>
              <a:srgbClr val="8DA0C2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509842" y="5040112"/>
            <a:ext cx="20848" cy="20848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25" name="Shape 223"/>
          <p:cNvSpPr/>
          <p:nvPr/>
        </p:nvSpPr>
        <p:spPr>
          <a:xfrm>
            <a:off x="6555014" y="5050536"/>
            <a:ext cx="225857" cy="914"/>
          </a:xfrm>
          <a:prstGeom prst="line">
            <a:avLst/>
          </a:prstGeom>
          <a:noFill/>
          <a:ln w="16510">
            <a:solidFill>
              <a:srgbClr val="8DA0C2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6509842" y="5126980"/>
            <a:ext cx="20848" cy="20848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27" name="Shape 225"/>
          <p:cNvSpPr/>
          <p:nvPr/>
        </p:nvSpPr>
        <p:spPr>
          <a:xfrm>
            <a:off x="6555014" y="5137404"/>
            <a:ext cx="225857" cy="914"/>
          </a:xfrm>
          <a:prstGeom prst="line">
            <a:avLst/>
          </a:prstGeom>
          <a:noFill/>
          <a:ln w="16510">
            <a:solidFill>
              <a:srgbClr val="8DA0C2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View</a:t>
            </a:r>
            <a:endParaRPr lang="en-US" sz="650" dirty="0"/>
          </a:p>
        </p:txBody>
      </p:sp>
      <p:sp>
        <p:nvSpPr>
          <p:cNvPr id="229" name="Text 227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· Agenda · Items</a:t>
            </a:r>
            <a:endParaRPr lang="en-US" sz="500" dirty="0"/>
          </a:p>
        </p:txBody>
      </p:sp>
      <p:sp>
        <p:nvSpPr>
          <p:cNvPr id="230" name="Shape 228"/>
          <p:cNvSpPr/>
          <p:nvPr/>
        </p:nvSpPr>
        <p:spPr>
          <a:xfrm rot="10800000">
            <a:off x="7664455" y="4911547"/>
            <a:ext cx="191110" cy="277978"/>
          </a:xfrm>
          <a:prstGeom prst="teardrop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50" dirty="0"/>
          </a:p>
        </p:txBody>
      </p:sp>
      <p:sp>
        <p:nvSpPr>
          <p:cNvPr id="232" name="Text 230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· Site · Address</a:t>
            </a:r>
            <a:endParaRPr lang="en-US" sz="500" dirty="0"/>
          </a:p>
        </p:txBody>
      </p:sp>
      <p:sp>
        <p:nvSpPr>
          <p:cNvPr id="233" name="Shape 231"/>
          <p:cNvSpPr/>
          <p:nvPr/>
        </p:nvSpPr>
        <p:spPr>
          <a:xfrm>
            <a:off x="8747836" y="4902860"/>
            <a:ext cx="243230" cy="295351"/>
          </a:xfrm>
          <a:prstGeom prst="funnel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650" dirty="0"/>
          </a:p>
        </p:txBody>
      </p:sp>
      <p:sp>
        <p:nvSpPr>
          <p:cNvPr id="235" name="Text 233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Sort · Refine</a:t>
            </a:r>
            <a:endParaRPr lang="en-US" sz="500" dirty="0"/>
          </a:p>
        </p:txBody>
      </p:sp>
      <p:sp>
        <p:nvSpPr>
          <p:cNvPr id="236" name="Shape 234"/>
          <p:cNvSpPr/>
          <p:nvPr/>
        </p:nvSpPr>
        <p:spPr>
          <a:xfrm>
            <a:off x="9865965" y="5033162"/>
            <a:ext cx="225857" cy="165049"/>
          </a:xfrm>
          <a:prstGeom prst="rec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831217" y="4885487"/>
            <a:ext cx="295351" cy="130302"/>
          </a:xfrm>
          <a:prstGeom prst="triangl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239" name="Text 237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· Home · Start</a:t>
            </a:r>
            <a:endParaRPr lang="en-US" sz="500" dirty="0"/>
          </a:p>
        </p:txBody>
      </p:sp>
      <p:sp>
        <p:nvSpPr>
          <p:cNvPr id="240" name="Shape 238"/>
          <p:cNvSpPr/>
          <p:nvPr/>
        </p:nvSpPr>
        <p:spPr>
          <a:xfrm>
            <a:off x="10940659" y="4902860"/>
            <a:ext cx="295351" cy="295351"/>
          </a:xfrm>
          <a:prstGeom prst="ellips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088334" y="4963668"/>
            <a:ext cx="914" cy="86868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1088334" y="5050536"/>
            <a:ext cx="69494" cy="1737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650" dirty="0"/>
          </a:p>
        </p:txBody>
      </p:sp>
      <p:sp>
        <p:nvSpPr>
          <p:cNvPr id="244" name="Text 242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· Schedule · Deadline</a:t>
            </a:r>
            <a:endParaRPr lang="en-US" sz="500" dirty="0"/>
          </a:p>
        </p:txBody>
      </p:sp>
      <p:sp>
        <p:nvSpPr>
          <p:cNvPr id="245" name="Shape 243"/>
          <p:cNvSpPr/>
          <p:nvPr/>
        </p:nvSpPr>
        <p:spPr>
          <a:xfrm>
            <a:off x="990432" y="588660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030392" y="573892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085987" y="5947410"/>
            <a:ext cx="34747" cy="34747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48" name="Text 246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50" dirty="0"/>
          </a:p>
        </p:txBody>
      </p:sp>
      <p:sp>
        <p:nvSpPr>
          <p:cNvPr id="249" name="Text 247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· Privacy · Protection</a:t>
            </a:r>
            <a:endParaRPr lang="en-US" sz="500" dirty="0"/>
          </a:p>
        </p:txBody>
      </p:sp>
      <p:sp>
        <p:nvSpPr>
          <p:cNvPr id="250" name="Shape 248"/>
          <p:cNvSpPr/>
          <p:nvPr/>
        </p:nvSpPr>
        <p:spPr>
          <a:xfrm>
            <a:off x="2108561" y="574761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151995" y="5843168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2151995" y="5903976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2151995" y="5964784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650" dirty="0"/>
          </a:p>
        </p:txBody>
      </p:sp>
      <p:sp>
        <p:nvSpPr>
          <p:cNvPr id="255" name="Text 253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Documents · Records</a:t>
            </a:r>
            <a:endParaRPr lang="en-US" sz="500" dirty="0"/>
          </a:p>
        </p:txBody>
      </p:sp>
      <p:sp>
        <p:nvSpPr>
          <p:cNvPr id="256" name="Shape 254"/>
          <p:cNvSpPr/>
          <p:nvPr/>
        </p:nvSpPr>
        <p:spPr>
          <a:xfrm>
            <a:off x="3200629" y="57476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3252749" y="583448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 flipV="1">
            <a:off x="3284022" y="579973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3252749" y="591266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 flipV="1">
            <a:off x="3284022" y="587791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3252749" y="599084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 flipV="1">
            <a:off x="3284022" y="595609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650" dirty="0"/>
          </a:p>
        </p:txBody>
      </p:sp>
      <p:sp>
        <p:nvSpPr>
          <p:cNvPr id="264" name="Text 262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· To-Do · Checklist</a:t>
            </a:r>
            <a:endParaRPr lang="en-US" sz="500" dirty="0"/>
          </a:p>
        </p:txBody>
      </p:sp>
      <p:sp>
        <p:nvSpPr>
          <p:cNvPr id="265" name="Shape 263"/>
          <p:cNvSpPr/>
          <p:nvPr/>
        </p:nvSpPr>
        <p:spPr>
          <a:xfrm>
            <a:off x="4336131" y="5903976"/>
            <a:ext cx="78181" cy="86868"/>
          </a:xfrm>
          <a:prstGeom prst="line">
            <a:avLst/>
          </a:prstGeom>
          <a:noFill/>
          <a:ln w="25400">
            <a:solidFill>
              <a:srgbClr val="8DA0C2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flipV="1">
            <a:off x="4414312" y="5808421"/>
            <a:ext cx="121615" cy="182423"/>
          </a:xfrm>
          <a:prstGeom prst="line">
            <a:avLst/>
          </a:prstGeom>
          <a:noFill/>
          <a:ln w="25400">
            <a:solidFill>
              <a:srgbClr val="8DA0C2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650" dirty="0"/>
          </a:p>
        </p:txBody>
      </p:sp>
      <p:sp>
        <p:nvSpPr>
          <p:cNvPr id="268" name="Text 266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· Complete · Verified</a:t>
            </a:r>
            <a:endParaRPr lang="en-US" sz="500" dirty="0"/>
          </a:p>
        </p:txBody>
      </p:sp>
      <p:sp>
        <p:nvSpPr>
          <p:cNvPr id="269" name="Shape 267"/>
          <p:cNvSpPr/>
          <p:nvPr/>
        </p:nvSpPr>
        <p:spPr>
          <a:xfrm>
            <a:off x="5445572" y="5808421"/>
            <a:ext cx="191110" cy="191110"/>
          </a:xfrm>
          <a:prstGeom prst="line">
            <a:avLst/>
          </a:prstGeom>
          <a:noFill/>
          <a:ln w="25400">
            <a:solidFill>
              <a:srgbClr val="8DA0C2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 flipV="1">
            <a:off x="5445572" y="5808421"/>
            <a:ext cx="191110" cy="191110"/>
          </a:xfrm>
          <a:prstGeom prst="line">
            <a:avLst/>
          </a:prstGeom>
          <a:noFill/>
          <a:ln w="25400">
            <a:solidFill>
              <a:srgbClr val="8DA0C2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650" dirty="0"/>
          </a:p>
        </p:txBody>
      </p:sp>
      <p:sp>
        <p:nvSpPr>
          <p:cNvPr id="272" name="Text 270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· Reject · Remove</a:t>
            </a:r>
            <a:endParaRPr lang="en-US" sz="500" dirty="0"/>
          </a:p>
        </p:txBody>
      </p:sp>
      <p:sp>
        <p:nvSpPr>
          <p:cNvPr id="273" name="Shape 271"/>
          <p:cNvSpPr/>
          <p:nvPr/>
        </p:nvSpPr>
        <p:spPr>
          <a:xfrm>
            <a:off x="6581074" y="583448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74" name="Shape 272"/>
          <p:cNvSpPr/>
          <p:nvPr/>
        </p:nvSpPr>
        <p:spPr>
          <a:xfrm>
            <a:off x="6581074" y="593003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75" name="Shape 273"/>
          <p:cNvSpPr/>
          <p:nvPr/>
        </p:nvSpPr>
        <p:spPr>
          <a:xfrm>
            <a:off x="6676629" y="583448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76" name="Shape 274"/>
          <p:cNvSpPr/>
          <p:nvPr/>
        </p:nvSpPr>
        <p:spPr>
          <a:xfrm>
            <a:off x="6676629" y="593003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77" name="Text 275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650" dirty="0"/>
          </a:p>
        </p:txBody>
      </p:sp>
      <p:sp>
        <p:nvSpPr>
          <p:cNvPr id="278" name="Text 276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Modules · Tools</a:t>
            </a:r>
            <a:endParaRPr lang="en-US" sz="500" dirty="0"/>
          </a:p>
        </p:txBody>
      </p:sp>
      <p:sp>
        <p:nvSpPr>
          <p:cNvPr id="279" name="Shape 277"/>
          <p:cNvSpPr/>
          <p:nvPr/>
        </p:nvSpPr>
        <p:spPr>
          <a:xfrm>
            <a:off x="7612334" y="5817108"/>
            <a:ext cx="295351" cy="173736"/>
          </a:xfrm>
          <a:prstGeom prst="roundRect">
            <a:avLst>
              <a:gd name="adj" fmla="val 42105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7699202" y="5843168"/>
            <a:ext cx="121615" cy="121615"/>
          </a:xfrm>
          <a:prstGeom prst="ellipse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7786070" y="5778886"/>
            <a:ext cx="69494" cy="38222"/>
          </a:xfrm>
          <a:prstGeom prst="rect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650" dirty="0"/>
          </a:p>
        </p:txBody>
      </p:sp>
      <p:sp>
        <p:nvSpPr>
          <p:cNvPr id="283" name="Text 281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· Media · Capture</a:t>
            </a:r>
            <a:endParaRPr lang="en-US" sz="500" dirty="0"/>
          </a:p>
        </p:txBody>
      </p:sp>
      <p:sp>
        <p:nvSpPr>
          <p:cNvPr id="284" name="Shape 282"/>
          <p:cNvSpPr/>
          <p:nvPr/>
        </p:nvSpPr>
        <p:spPr>
          <a:xfrm>
            <a:off x="8725251" y="5837956"/>
            <a:ext cx="132039" cy="132039"/>
          </a:xfrm>
          <a:prstGeom prst="ellips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852078" y="5903976"/>
            <a:ext cx="147676" cy="914"/>
          </a:xfrm>
          <a:prstGeom prst="line">
            <a:avLst/>
          </a:prstGeom>
          <a:noFill/>
          <a:ln w="20320">
            <a:solidFill>
              <a:srgbClr val="8DA0C2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956319" y="590397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94541" y="590397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650" dirty="0"/>
          </a:p>
        </p:txBody>
      </p:sp>
      <p:sp>
        <p:nvSpPr>
          <p:cNvPr id="289" name="Text 287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· Login · Credentials</a:t>
            </a:r>
            <a:endParaRPr lang="en-US" sz="500" dirty="0"/>
          </a:p>
        </p:txBody>
      </p:sp>
      <p:sp>
        <p:nvSpPr>
          <p:cNvPr id="290" name="Shape 288"/>
          <p:cNvSpPr/>
          <p:nvPr/>
        </p:nvSpPr>
        <p:spPr>
          <a:xfrm>
            <a:off x="9857278" y="5782361"/>
            <a:ext cx="191110" cy="191110"/>
          </a:xfrm>
          <a:prstGeom prst="ellipse">
            <a:avLst/>
          </a:prstGeom>
          <a:ln w="21590">
            <a:solidFill>
              <a:srgbClr val="8DA0C2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0017115" y="5942198"/>
            <a:ext cx="74706" cy="74706"/>
          </a:xfrm>
          <a:prstGeom prst="line">
            <a:avLst/>
          </a:prstGeom>
          <a:noFill/>
          <a:ln w="25400">
            <a:solidFill>
              <a:srgbClr val="8DA0C2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650" dirty="0"/>
          </a:p>
        </p:txBody>
      </p:sp>
      <p:sp>
        <p:nvSpPr>
          <p:cNvPr id="293" name="Text 291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Find · Discover</a:t>
            </a:r>
            <a:endParaRPr lang="en-US" sz="500" dirty="0"/>
          </a:p>
        </p:txBody>
      </p:sp>
      <p:sp>
        <p:nvSpPr>
          <p:cNvPr id="294" name="Shape 292"/>
          <p:cNvSpPr/>
          <p:nvPr/>
        </p:nvSpPr>
        <p:spPr>
          <a:xfrm>
            <a:off x="10931972" y="5791048"/>
            <a:ext cx="312725" cy="225857"/>
          </a:xfrm>
          <a:prstGeom prst="wedgeRoundRectCallou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650" dirty="0"/>
          </a:p>
        </p:txBody>
      </p:sp>
      <p:sp>
        <p:nvSpPr>
          <p:cNvPr id="296" name="Text 294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· Chat · Message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Services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3483" y="1662836"/>
            <a:ext cx="59070" cy="121615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5" name="Shape 3"/>
          <p:cNvSpPr/>
          <p:nvPr/>
        </p:nvSpPr>
        <p:spPr>
          <a:xfrm>
            <a:off x="1073826" y="1584655"/>
            <a:ext cx="59070" cy="199796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6" name="Shape 4"/>
          <p:cNvSpPr/>
          <p:nvPr/>
        </p:nvSpPr>
        <p:spPr>
          <a:xfrm>
            <a:off x="1164168" y="1506474"/>
            <a:ext cx="59070" cy="27797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Growth · Investment · Analytics</a:t>
            </a:r>
            <a:endParaRPr lang="en-US" sz="500" dirty="0"/>
          </a:p>
        </p:txBody>
      </p:sp>
      <p:sp>
        <p:nvSpPr>
          <p:cNvPr id="9" name="Shape 7"/>
          <p:cNvSpPr/>
          <p:nvPr/>
        </p:nvSpPr>
        <p:spPr>
          <a:xfrm rot="10800000">
            <a:off x="2082500" y="1480414"/>
            <a:ext cx="260604" cy="312725"/>
          </a:xfrm>
          <a:prstGeom prst="pentagon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Security · Trust · Compliance</a:t>
            </a:r>
            <a:endParaRPr lang="en-US" sz="500" dirty="0"/>
          </a:p>
        </p:txBody>
      </p:sp>
      <p:sp>
        <p:nvSpPr>
          <p:cNvPr id="12" name="Shape 10"/>
          <p:cNvSpPr/>
          <p:nvPr/>
        </p:nvSpPr>
        <p:spPr>
          <a:xfrm>
            <a:off x="3178043" y="1567282"/>
            <a:ext cx="191110" cy="19111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75335" y="1515161"/>
            <a:ext cx="191110" cy="19111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· Funding · Currency · Wealth</a:t>
            </a:r>
            <a:endParaRPr lang="en-US" sz="500" dirty="0"/>
          </a:p>
        </p:txBody>
      </p:sp>
      <p:sp>
        <p:nvSpPr>
          <p:cNvPr id="16" name="Shape 14"/>
          <p:cNvSpPr/>
          <p:nvPr/>
        </p:nvSpPr>
        <p:spPr>
          <a:xfrm>
            <a:off x="4266636" y="1767078"/>
            <a:ext cx="330098" cy="2779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7949" y="1471727"/>
            <a:ext cx="347472" cy="130302"/>
          </a:xfrm>
          <a:prstGeom prst="triangl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7020" y="1610716"/>
            <a:ext cx="20848" cy="156362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9" name="Shape 17"/>
          <p:cNvSpPr/>
          <p:nvPr/>
        </p:nvSpPr>
        <p:spPr>
          <a:xfrm>
            <a:off x="4421261" y="1610716"/>
            <a:ext cx="20848" cy="156362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5503" y="1610716"/>
            <a:ext cx="20848" cy="156362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1" name="Text 19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Institution · Financial Services</a:t>
            </a:r>
            <a:endParaRPr lang="en-US" sz="500" dirty="0"/>
          </a:p>
        </p:txBody>
      </p:sp>
      <p:sp>
        <p:nvSpPr>
          <p:cNvPr id="23" name="Shape 21"/>
          <p:cNvSpPr/>
          <p:nvPr/>
        </p:nvSpPr>
        <p:spPr>
          <a:xfrm>
            <a:off x="5384764" y="1506474"/>
            <a:ext cx="312725" cy="260604"/>
          </a:xfrm>
          <a:prstGeom prst="leftRightCircularArrow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· Transactions · Exchange</a:t>
            </a:r>
            <a:endParaRPr lang="en-US" sz="500" dirty="0"/>
          </a:p>
        </p:txBody>
      </p:sp>
      <p:sp>
        <p:nvSpPr>
          <p:cNvPr id="26" name="Shape 24"/>
          <p:cNvSpPr/>
          <p:nvPr/>
        </p:nvSpPr>
        <p:spPr>
          <a:xfrm>
            <a:off x="6511580" y="1497787"/>
            <a:ext cx="277978" cy="277978"/>
          </a:xfrm>
          <a:prstGeom prst="octago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· Compliance · Controls</a:t>
            </a:r>
            <a:endParaRPr lang="en-US" sz="500" dirty="0"/>
          </a:p>
        </p:txBody>
      </p:sp>
      <p:sp>
        <p:nvSpPr>
          <p:cNvPr id="29" name="Shape 27"/>
          <p:cNvSpPr/>
          <p:nvPr/>
        </p:nvSpPr>
        <p:spPr>
          <a:xfrm>
            <a:off x="7594961" y="1523848"/>
            <a:ext cx="330098" cy="225857"/>
          </a:xfrm>
          <a:prstGeom prst="ribbon2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Rating · Certification · Standing</a:t>
            </a:r>
            <a:endParaRPr lang="en-US" sz="500" dirty="0"/>
          </a:p>
        </p:txBody>
      </p:sp>
      <p:sp>
        <p:nvSpPr>
          <p:cNvPr id="32" name="Shape 30"/>
          <p:cNvSpPr/>
          <p:nvPr/>
        </p:nvSpPr>
        <p:spPr>
          <a:xfrm>
            <a:off x="8765210" y="148041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08644" y="1575968"/>
            <a:ext cx="121615" cy="914"/>
          </a:xfrm>
          <a:prstGeom prst="line">
            <a:avLst/>
          </a:prstGeom>
          <a:noFill/>
          <a:ln w="13970">
            <a:solidFill>
              <a:srgbClr val="D4AF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08644" y="1636776"/>
            <a:ext cx="121615" cy="914"/>
          </a:xfrm>
          <a:prstGeom prst="line">
            <a:avLst/>
          </a:prstGeom>
          <a:noFill/>
          <a:ln w="13970">
            <a:solidFill>
              <a:srgbClr val="D4AF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08644" y="1697584"/>
            <a:ext cx="121615" cy="914"/>
          </a:xfrm>
          <a:prstGeom prst="line">
            <a:avLst/>
          </a:prstGeom>
          <a:noFill/>
          <a:ln w="13970">
            <a:solidFill>
              <a:srgbClr val="D4AF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Statements · Reports · Records</a:t>
            </a:r>
            <a:endParaRPr lang="en-US" sz="500" dirty="0"/>
          </a:p>
        </p:txBody>
      </p:sp>
      <p:sp>
        <p:nvSpPr>
          <p:cNvPr id="38" name="Shape 36"/>
          <p:cNvSpPr/>
          <p:nvPr/>
        </p:nvSpPr>
        <p:spPr>
          <a:xfrm>
            <a:off x="9857278" y="14804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09399" y="1567282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9940671" y="1532534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09399" y="1645463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9940671" y="1610716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909399" y="1723644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940671" y="1688897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Compliance Checklist · Controls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10944134" y="1570756"/>
            <a:ext cx="132039" cy="132039"/>
          </a:xfrm>
          <a:prstGeom prst="ellipse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070961" y="1636776"/>
            <a:ext cx="147676" cy="914"/>
          </a:xfrm>
          <a:prstGeom prst="line">
            <a:avLst/>
          </a:prstGeom>
          <a:noFill/>
          <a:ln w="20320">
            <a:solidFill>
              <a:srgbClr val="D4AF5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75202" y="1636776"/>
            <a:ext cx="914" cy="4343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213424" y="1636776"/>
            <a:ext cx="914" cy="4343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· Authorization · Security</a:t>
            </a:r>
            <a:endParaRPr lang="en-US" sz="500" dirty="0"/>
          </a:p>
        </p:txBody>
      </p:sp>
      <p:sp>
        <p:nvSpPr>
          <p:cNvPr id="53" name="Shape 51"/>
          <p:cNvSpPr/>
          <p:nvPr/>
        </p:nvSpPr>
        <p:spPr>
          <a:xfrm>
            <a:off x="938312" y="235991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9119" y="242940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D4AF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KPI · Performance</a:t>
            </a:r>
            <a:endParaRPr lang="en-US" sz="500" dirty="0"/>
          </a:p>
        </p:txBody>
      </p:sp>
      <p:sp>
        <p:nvSpPr>
          <p:cNvPr id="57" name="Shape 55"/>
          <p:cNvSpPr/>
          <p:nvPr/>
        </p:nvSpPr>
        <p:spPr>
          <a:xfrm>
            <a:off x="2065127" y="234254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Allocation · Portfolio Mix</a:t>
            </a:r>
            <a:endParaRPr lang="en-US" sz="500" dirty="0"/>
          </a:p>
        </p:txBody>
      </p:sp>
      <p:sp>
        <p:nvSpPr>
          <p:cNvPr id="60" name="Shape 58"/>
          <p:cNvSpPr/>
          <p:nvPr/>
        </p:nvSpPr>
        <p:spPr>
          <a:xfrm>
            <a:off x="3174568" y="2342540"/>
            <a:ext cx="295351" cy="295351"/>
          </a:xfrm>
          <a:prstGeom prst="irregularSeal1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· Accredited · Compliant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4310070" y="2333854"/>
            <a:ext cx="243230" cy="312725"/>
          </a:xfrm>
          <a:prstGeom prst="ca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· Capital Pool · Treasury</a:t>
            </a:r>
            <a:endParaRPr lang="en-US" sz="500" dirty="0"/>
          </a:p>
        </p:txBody>
      </p:sp>
      <p:sp>
        <p:nvSpPr>
          <p:cNvPr id="66" name="Shape 64"/>
          <p:cNvSpPr/>
          <p:nvPr/>
        </p:nvSpPr>
        <p:spPr>
          <a:xfrm>
            <a:off x="5402138" y="236860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02138" y="2446782"/>
            <a:ext cx="277978" cy="91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71632" y="2333854"/>
            <a:ext cx="17374" cy="52121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69" name="Shape 67"/>
          <p:cNvSpPr/>
          <p:nvPr/>
        </p:nvSpPr>
        <p:spPr>
          <a:xfrm>
            <a:off x="5593248" y="2333854"/>
            <a:ext cx="17374" cy="52121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70" name="Text 68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Date · Term · Schedule</a:t>
            </a:r>
            <a:endParaRPr lang="en-US" sz="500" dirty="0"/>
          </a:p>
        </p:txBody>
      </p:sp>
      <p:sp>
        <p:nvSpPr>
          <p:cNvPr id="72" name="Shape 70"/>
          <p:cNvSpPr/>
          <p:nvPr/>
        </p:nvSpPr>
        <p:spPr>
          <a:xfrm>
            <a:off x="6581074" y="232516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D4AF5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34932" y="2587508"/>
            <a:ext cx="31272" cy="31272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74" name="Text 72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Line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 · Advisory Line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7655768" y="238076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634920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766959" y="238076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746111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· Relationship Management</a:t>
            </a:r>
            <a:endParaRPr lang="en-US" sz="500" dirty="0"/>
          </a:p>
        </p:txBody>
      </p:sp>
      <p:sp>
        <p:nvSpPr>
          <p:cNvPr id="82" name="Shape 80"/>
          <p:cNvSpPr/>
          <p:nvPr/>
        </p:nvSpPr>
        <p:spPr>
          <a:xfrm>
            <a:off x="8721776" y="2394661"/>
            <a:ext cx="295351" cy="191110"/>
          </a:xfrm>
          <a:prstGeom prst="rect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21776" y="2394661"/>
            <a:ext cx="147676" cy="112928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8869451" y="2394661"/>
            <a:ext cx="147676" cy="112928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Delivery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· Correspondence</a:t>
            </a:r>
            <a:endParaRPr lang="en-US" sz="500" dirty="0"/>
          </a:p>
        </p:txBody>
      </p:sp>
      <p:sp>
        <p:nvSpPr>
          <p:cNvPr id="87" name="Shape 85"/>
          <p:cNvSpPr/>
          <p:nvPr/>
        </p:nvSpPr>
        <p:spPr>
          <a:xfrm>
            <a:off x="9865965" y="247284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905924" y="232516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961519" y="2533650"/>
            <a:ext cx="34747" cy="34747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90" name="Text 88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· Privacy · Encryption</a:t>
            </a:r>
            <a:endParaRPr lang="en-US" sz="500" dirty="0"/>
          </a:p>
        </p:txBody>
      </p:sp>
      <p:sp>
        <p:nvSpPr>
          <p:cNvPr id="92" name="Shape 90"/>
          <p:cNvSpPr/>
          <p:nvPr/>
        </p:nvSpPr>
        <p:spPr>
          <a:xfrm>
            <a:off x="10940659" y="2342540"/>
            <a:ext cx="295351" cy="295351"/>
          </a:xfrm>
          <a:prstGeom prst="star5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· Rating · Standing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983483" y="3369716"/>
            <a:ext cx="59070" cy="12161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96" name="Shape 94"/>
          <p:cNvSpPr/>
          <p:nvPr/>
        </p:nvSpPr>
        <p:spPr>
          <a:xfrm>
            <a:off x="1073826" y="3291535"/>
            <a:ext cx="59070" cy="199796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97" name="Shape 95"/>
          <p:cNvSpPr/>
          <p:nvPr/>
        </p:nvSpPr>
        <p:spPr>
          <a:xfrm>
            <a:off x="1164168" y="3213354"/>
            <a:ext cx="59070" cy="27797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98" name="Text 96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Growth · Investment · Analytics</a:t>
            </a:r>
            <a:endParaRPr lang="en-US" sz="500" dirty="0"/>
          </a:p>
        </p:txBody>
      </p:sp>
      <p:sp>
        <p:nvSpPr>
          <p:cNvPr id="100" name="Shape 98"/>
          <p:cNvSpPr/>
          <p:nvPr/>
        </p:nvSpPr>
        <p:spPr>
          <a:xfrm rot="10800000">
            <a:off x="2082500" y="3187294"/>
            <a:ext cx="260604" cy="312725"/>
          </a:xfrm>
          <a:prstGeom prst="pentagon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Security · Trust · Compliance</a:t>
            </a:r>
            <a:endParaRPr lang="en-US" sz="500" dirty="0"/>
          </a:p>
        </p:txBody>
      </p:sp>
      <p:sp>
        <p:nvSpPr>
          <p:cNvPr id="103" name="Shape 101"/>
          <p:cNvSpPr/>
          <p:nvPr/>
        </p:nvSpPr>
        <p:spPr>
          <a:xfrm>
            <a:off x="3178043" y="3274162"/>
            <a:ext cx="191110" cy="191110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275335" y="3222041"/>
            <a:ext cx="191110" cy="191110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· Funding · Currency · Wealth</a:t>
            </a:r>
            <a:endParaRPr lang="en-US" sz="500" dirty="0"/>
          </a:p>
        </p:txBody>
      </p:sp>
      <p:sp>
        <p:nvSpPr>
          <p:cNvPr id="107" name="Shape 105"/>
          <p:cNvSpPr/>
          <p:nvPr/>
        </p:nvSpPr>
        <p:spPr>
          <a:xfrm>
            <a:off x="4266636" y="3473958"/>
            <a:ext cx="330098" cy="2779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08" name="Shape 106"/>
          <p:cNvSpPr/>
          <p:nvPr/>
        </p:nvSpPr>
        <p:spPr>
          <a:xfrm>
            <a:off x="4257949" y="3178607"/>
            <a:ext cx="347472" cy="130302"/>
          </a:xfrm>
          <a:prstGeom prst="triangl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317020" y="3317596"/>
            <a:ext cx="20848" cy="156362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10" name="Shape 108"/>
          <p:cNvSpPr/>
          <p:nvPr/>
        </p:nvSpPr>
        <p:spPr>
          <a:xfrm>
            <a:off x="4421261" y="3317596"/>
            <a:ext cx="20848" cy="156362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11" name="Shape 109"/>
          <p:cNvSpPr/>
          <p:nvPr/>
        </p:nvSpPr>
        <p:spPr>
          <a:xfrm>
            <a:off x="4525503" y="3317596"/>
            <a:ext cx="20848" cy="156362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12" name="Text 110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Institution · Financial Services</a:t>
            </a:r>
            <a:endParaRPr lang="en-US" sz="500" dirty="0"/>
          </a:p>
        </p:txBody>
      </p:sp>
      <p:sp>
        <p:nvSpPr>
          <p:cNvPr id="114" name="Shape 112"/>
          <p:cNvSpPr/>
          <p:nvPr/>
        </p:nvSpPr>
        <p:spPr>
          <a:xfrm>
            <a:off x="5384764" y="3213354"/>
            <a:ext cx="312725" cy="260604"/>
          </a:xfrm>
          <a:prstGeom prst="leftRightCircularArrow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· Transactions · Exchange</a:t>
            </a:r>
            <a:endParaRPr lang="en-US" sz="500" dirty="0"/>
          </a:p>
        </p:txBody>
      </p:sp>
      <p:sp>
        <p:nvSpPr>
          <p:cNvPr id="117" name="Shape 115"/>
          <p:cNvSpPr/>
          <p:nvPr/>
        </p:nvSpPr>
        <p:spPr>
          <a:xfrm>
            <a:off x="6511580" y="3204667"/>
            <a:ext cx="277978" cy="277978"/>
          </a:xfrm>
          <a:prstGeom prst="octag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50" dirty="0"/>
          </a:p>
        </p:txBody>
      </p:sp>
      <p:sp>
        <p:nvSpPr>
          <p:cNvPr id="119" name="Text 117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· Compliance · Controls</a:t>
            </a:r>
            <a:endParaRPr lang="en-US" sz="500" dirty="0"/>
          </a:p>
        </p:txBody>
      </p:sp>
      <p:sp>
        <p:nvSpPr>
          <p:cNvPr id="120" name="Shape 118"/>
          <p:cNvSpPr/>
          <p:nvPr/>
        </p:nvSpPr>
        <p:spPr>
          <a:xfrm>
            <a:off x="7594961" y="3230728"/>
            <a:ext cx="330098" cy="225857"/>
          </a:xfrm>
          <a:prstGeom prst="ribbon2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Rating · Certification · Standing</a:t>
            </a:r>
            <a:endParaRPr lang="en-US" sz="500" dirty="0"/>
          </a:p>
        </p:txBody>
      </p:sp>
      <p:sp>
        <p:nvSpPr>
          <p:cNvPr id="123" name="Shape 121"/>
          <p:cNvSpPr/>
          <p:nvPr/>
        </p:nvSpPr>
        <p:spPr>
          <a:xfrm>
            <a:off x="8765210" y="318729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808644" y="3282848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808644" y="3343656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808644" y="3404464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Statements · Reports · Records</a:t>
            </a:r>
            <a:endParaRPr lang="en-US" sz="500" dirty="0"/>
          </a:p>
        </p:txBody>
      </p:sp>
      <p:sp>
        <p:nvSpPr>
          <p:cNvPr id="129" name="Shape 127"/>
          <p:cNvSpPr/>
          <p:nvPr/>
        </p:nvSpPr>
        <p:spPr>
          <a:xfrm>
            <a:off x="9857278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909399" y="327416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9940671" y="323941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909399" y="335234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9940671" y="331759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909399" y="343052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9940671" y="339577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Compliance Checklist · Controls</a:t>
            </a:r>
            <a:endParaRPr lang="en-US" sz="500" dirty="0"/>
          </a:p>
        </p:txBody>
      </p:sp>
      <p:sp>
        <p:nvSpPr>
          <p:cNvPr id="138" name="Shape 136"/>
          <p:cNvSpPr/>
          <p:nvPr/>
        </p:nvSpPr>
        <p:spPr>
          <a:xfrm>
            <a:off x="10944134" y="3277636"/>
            <a:ext cx="132039" cy="132039"/>
          </a:xfrm>
          <a:prstGeom prst="ellips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1070961" y="3343656"/>
            <a:ext cx="147676" cy="914"/>
          </a:xfrm>
          <a:prstGeom prst="line">
            <a:avLst/>
          </a:prstGeom>
          <a:noFill/>
          <a:ln w="20320">
            <a:solidFill>
              <a:srgbClr val="8DA0C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1175202" y="334365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1213424" y="334365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· Authorization · Security</a:t>
            </a:r>
            <a:endParaRPr lang="en-US" sz="500" dirty="0"/>
          </a:p>
        </p:txBody>
      </p:sp>
      <p:sp>
        <p:nvSpPr>
          <p:cNvPr id="144" name="Shape 142"/>
          <p:cNvSpPr/>
          <p:nvPr/>
        </p:nvSpPr>
        <p:spPr>
          <a:xfrm>
            <a:off x="938312" y="406679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99119" y="413628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KPI · Performance</a:t>
            </a:r>
            <a:endParaRPr lang="en-US" sz="500" dirty="0"/>
          </a:p>
        </p:txBody>
      </p:sp>
      <p:sp>
        <p:nvSpPr>
          <p:cNvPr id="148" name="Shape 146"/>
          <p:cNvSpPr/>
          <p:nvPr/>
        </p:nvSpPr>
        <p:spPr>
          <a:xfrm>
            <a:off x="2065127" y="404942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Allocation · Portfolio Mix</a:t>
            </a:r>
            <a:endParaRPr lang="en-US" sz="500" dirty="0"/>
          </a:p>
        </p:txBody>
      </p:sp>
      <p:sp>
        <p:nvSpPr>
          <p:cNvPr id="151" name="Shape 149"/>
          <p:cNvSpPr/>
          <p:nvPr/>
        </p:nvSpPr>
        <p:spPr>
          <a:xfrm>
            <a:off x="3174568" y="4049420"/>
            <a:ext cx="295351" cy="295351"/>
          </a:xfrm>
          <a:prstGeom prst="irregularSeal1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</a:t>
            </a:r>
            <a:endParaRPr lang="en-US" sz="650" dirty="0"/>
          </a:p>
        </p:txBody>
      </p:sp>
      <p:sp>
        <p:nvSpPr>
          <p:cNvPr id="153" name="Text 151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· Accredited · Compliant</a:t>
            </a:r>
            <a:endParaRPr lang="en-US" sz="500" dirty="0"/>
          </a:p>
        </p:txBody>
      </p:sp>
      <p:sp>
        <p:nvSpPr>
          <p:cNvPr id="154" name="Shape 152"/>
          <p:cNvSpPr/>
          <p:nvPr/>
        </p:nvSpPr>
        <p:spPr>
          <a:xfrm>
            <a:off x="4310070" y="404073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· Capital Pool · Treasury</a:t>
            </a:r>
            <a:endParaRPr lang="en-US" sz="500" dirty="0"/>
          </a:p>
        </p:txBody>
      </p:sp>
      <p:sp>
        <p:nvSpPr>
          <p:cNvPr id="157" name="Shape 155"/>
          <p:cNvSpPr/>
          <p:nvPr/>
        </p:nvSpPr>
        <p:spPr>
          <a:xfrm>
            <a:off x="5402138" y="407548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402138" y="4153662"/>
            <a:ext cx="277978" cy="91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471632" y="404073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60" name="Shape 158"/>
          <p:cNvSpPr/>
          <p:nvPr/>
        </p:nvSpPr>
        <p:spPr>
          <a:xfrm>
            <a:off x="5593248" y="404073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61" name="Text 159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Date · Term · Schedule</a:t>
            </a:r>
            <a:endParaRPr lang="en-US" sz="500" dirty="0"/>
          </a:p>
        </p:txBody>
      </p:sp>
      <p:sp>
        <p:nvSpPr>
          <p:cNvPr id="163" name="Shape 161"/>
          <p:cNvSpPr/>
          <p:nvPr/>
        </p:nvSpPr>
        <p:spPr>
          <a:xfrm>
            <a:off x="6581074" y="403204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8DA0C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634932" y="4294388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65" name="Text 163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Line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 · Advisory Line</a:t>
            </a:r>
            <a:endParaRPr lang="en-US" sz="500" dirty="0"/>
          </a:p>
        </p:txBody>
      </p:sp>
      <p:sp>
        <p:nvSpPr>
          <p:cNvPr id="167" name="Shape 165"/>
          <p:cNvSpPr/>
          <p:nvPr/>
        </p:nvSpPr>
        <p:spPr>
          <a:xfrm>
            <a:off x="7655768" y="408764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634920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766959" y="408764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746111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· Relationship Management</a:t>
            </a:r>
            <a:endParaRPr lang="en-US" sz="500" dirty="0"/>
          </a:p>
        </p:txBody>
      </p:sp>
      <p:sp>
        <p:nvSpPr>
          <p:cNvPr id="173" name="Shape 171"/>
          <p:cNvSpPr/>
          <p:nvPr/>
        </p:nvSpPr>
        <p:spPr>
          <a:xfrm>
            <a:off x="8721776" y="4101541"/>
            <a:ext cx="295351" cy="191110"/>
          </a:xfrm>
          <a:prstGeom prst="rec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721776" y="4101541"/>
            <a:ext cx="147676" cy="112928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8869451" y="4101541"/>
            <a:ext cx="147676" cy="112928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Delivery</a:t>
            </a:r>
            <a:endParaRPr lang="en-US" sz="650" dirty="0"/>
          </a:p>
        </p:txBody>
      </p:sp>
      <p:sp>
        <p:nvSpPr>
          <p:cNvPr id="177" name="Text 175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· Correspondence</a:t>
            </a:r>
            <a:endParaRPr lang="en-US" sz="500" dirty="0"/>
          </a:p>
        </p:txBody>
      </p:sp>
      <p:sp>
        <p:nvSpPr>
          <p:cNvPr id="178" name="Shape 176"/>
          <p:cNvSpPr/>
          <p:nvPr/>
        </p:nvSpPr>
        <p:spPr>
          <a:xfrm>
            <a:off x="9865965" y="417972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905924" y="403204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961519" y="4240530"/>
            <a:ext cx="34747" cy="34747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81" name="Text 179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· Privacy · Encryption</a:t>
            </a:r>
            <a:endParaRPr lang="en-US" sz="500" dirty="0"/>
          </a:p>
        </p:txBody>
      </p:sp>
      <p:sp>
        <p:nvSpPr>
          <p:cNvPr id="183" name="Shape 181"/>
          <p:cNvSpPr/>
          <p:nvPr/>
        </p:nvSpPr>
        <p:spPr>
          <a:xfrm>
            <a:off x="10940659" y="4049420"/>
            <a:ext cx="295351" cy="295351"/>
          </a:xfrm>
          <a:prstGeom prst="star5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650" dirty="0"/>
          </a:p>
        </p:txBody>
      </p:sp>
      <p:sp>
        <p:nvSpPr>
          <p:cNvPr id="185" name="Text 183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· Rating · Standing</a:t>
            </a:r>
            <a:endParaRPr lang="en-US" sz="500" dirty="0"/>
          </a:p>
        </p:txBody>
      </p:sp>
      <p:sp>
        <p:nvSpPr>
          <p:cNvPr id="186" name="Shape 184"/>
          <p:cNvSpPr/>
          <p:nvPr/>
        </p:nvSpPr>
        <p:spPr>
          <a:xfrm>
            <a:off x="983483" y="5076596"/>
            <a:ext cx="59070" cy="12161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87" name="Shape 185"/>
          <p:cNvSpPr/>
          <p:nvPr/>
        </p:nvSpPr>
        <p:spPr>
          <a:xfrm>
            <a:off x="1073826" y="4998415"/>
            <a:ext cx="59070" cy="199796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88" name="Shape 186"/>
          <p:cNvSpPr/>
          <p:nvPr/>
        </p:nvSpPr>
        <p:spPr>
          <a:xfrm>
            <a:off x="1164168" y="4920234"/>
            <a:ext cx="59070" cy="27797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89" name="Text 187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50" dirty="0"/>
          </a:p>
        </p:txBody>
      </p:sp>
      <p:sp>
        <p:nvSpPr>
          <p:cNvPr id="190" name="Text 188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Growth · Investment · Analytics</a:t>
            </a:r>
            <a:endParaRPr lang="en-US" sz="500" dirty="0"/>
          </a:p>
        </p:txBody>
      </p:sp>
      <p:sp>
        <p:nvSpPr>
          <p:cNvPr id="191" name="Shape 189"/>
          <p:cNvSpPr/>
          <p:nvPr/>
        </p:nvSpPr>
        <p:spPr>
          <a:xfrm rot="10800000">
            <a:off x="2082500" y="4894174"/>
            <a:ext cx="260604" cy="312725"/>
          </a:xfrm>
          <a:prstGeom prst="pentagon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50" dirty="0"/>
          </a:p>
        </p:txBody>
      </p:sp>
      <p:sp>
        <p:nvSpPr>
          <p:cNvPr id="193" name="Text 191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Security · Trust · Compliance</a:t>
            </a:r>
            <a:endParaRPr lang="en-US" sz="500" dirty="0"/>
          </a:p>
        </p:txBody>
      </p:sp>
      <p:sp>
        <p:nvSpPr>
          <p:cNvPr id="194" name="Shape 192"/>
          <p:cNvSpPr/>
          <p:nvPr/>
        </p:nvSpPr>
        <p:spPr>
          <a:xfrm>
            <a:off x="3178043" y="4981042"/>
            <a:ext cx="191110" cy="191110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275335" y="4928921"/>
            <a:ext cx="191110" cy="191110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650" dirty="0"/>
          </a:p>
        </p:txBody>
      </p:sp>
      <p:sp>
        <p:nvSpPr>
          <p:cNvPr id="197" name="Text 195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· Funding · Currency · Wealth</a:t>
            </a:r>
            <a:endParaRPr lang="en-US" sz="500" dirty="0"/>
          </a:p>
        </p:txBody>
      </p:sp>
      <p:sp>
        <p:nvSpPr>
          <p:cNvPr id="198" name="Shape 196"/>
          <p:cNvSpPr/>
          <p:nvPr/>
        </p:nvSpPr>
        <p:spPr>
          <a:xfrm>
            <a:off x="4266636" y="5180838"/>
            <a:ext cx="330098" cy="2779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99" name="Shape 197"/>
          <p:cNvSpPr/>
          <p:nvPr/>
        </p:nvSpPr>
        <p:spPr>
          <a:xfrm>
            <a:off x="4257949" y="4885487"/>
            <a:ext cx="347472" cy="130302"/>
          </a:xfrm>
          <a:prstGeom prst="triangl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317020" y="5024476"/>
            <a:ext cx="20848" cy="156362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01" name="Shape 199"/>
          <p:cNvSpPr/>
          <p:nvPr/>
        </p:nvSpPr>
        <p:spPr>
          <a:xfrm>
            <a:off x="4421261" y="5024476"/>
            <a:ext cx="20848" cy="156362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02" name="Shape 200"/>
          <p:cNvSpPr/>
          <p:nvPr/>
        </p:nvSpPr>
        <p:spPr>
          <a:xfrm>
            <a:off x="4525503" y="5024476"/>
            <a:ext cx="20848" cy="156362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03" name="Text 201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650" dirty="0"/>
          </a:p>
        </p:txBody>
      </p:sp>
      <p:sp>
        <p:nvSpPr>
          <p:cNvPr id="204" name="Text 202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Institution · Financial Services</a:t>
            </a:r>
            <a:endParaRPr lang="en-US" sz="500" dirty="0"/>
          </a:p>
        </p:txBody>
      </p:sp>
      <p:sp>
        <p:nvSpPr>
          <p:cNvPr id="205" name="Shape 203"/>
          <p:cNvSpPr/>
          <p:nvPr/>
        </p:nvSpPr>
        <p:spPr>
          <a:xfrm>
            <a:off x="5384764" y="4920234"/>
            <a:ext cx="312725" cy="260604"/>
          </a:xfrm>
          <a:prstGeom prst="leftRightCircularArrow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· Transactions · Exchange</a:t>
            </a:r>
            <a:endParaRPr lang="en-US" sz="500" dirty="0"/>
          </a:p>
        </p:txBody>
      </p:sp>
      <p:sp>
        <p:nvSpPr>
          <p:cNvPr id="208" name="Shape 206"/>
          <p:cNvSpPr/>
          <p:nvPr/>
        </p:nvSpPr>
        <p:spPr>
          <a:xfrm>
            <a:off x="6511580" y="4911547"/>
            <a:ext cx="277978" cy="277978"/>
          </a:xfrm>
          <a:prstGeom prst="octag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50" dirty="0"/>
          </a:p>
        </p:txBody>
      </p:sp>
      <p:sp>
        <p:nvSpPr>
          <p:cNvPr id="210" name="Text 208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· Compliance · Controls</a:t>
            </a:r>
            <a:endParaRPr lang="en-US" sz="500" dirty="0"/>
          </a:p>
        </p:txBody>
      </p:sp>
      <p:sp>
        <p:nvSpPr>
          <p:cNvPr id="211" name="Shape 209"/>
          <p:cNvSpPr/>
          <p:nvPr/>
        </p:nvSpPr>
        <p:spPr>
          <a:xfrm>
            <a:off x="7594961" y="4937608"/>
            <a:ext cx="330098" cy="225857"/>
          </a:xfrm>
          <a:prstGeom prst="ribbon2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650" dirty="0"/>
          </a:p>
        </p:txBody>
      </p:sp>
      <p:sp>
        <p:nvSpPr>
          <p:cNvPr id="213" name="Text 211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Rating · Certification · Standing</a:t>
            </a:r>
            <a:endParaRPr lang="en-US" sz="500" dirty="0"/>
          </a:p>
        </p:txBody>
      </p:sp>
      <p:sp>
        <p:nvSpPr>
          <p:cNvPr id="214" name="Shape 212"/>
          <p:cNvSpPr/>
          <p:nvPr/>
        </p:nvSpPr>
        <p:spPr>
          <a:xfrm>
            <a:off x="8765210" y="489417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808644" y="4989728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808644" y="5050536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808644" y="5111344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650" dirty="0"/>
          </a:p>
        </p:txBody>
      </p:sp>
      <p:sp>
        <p:nvSpPr>
          <p:cNvPr id="219" name="Text 217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Statements · Reports · Records</a:t>
            </a:r>
            <a:endParaRPr lang="en-US" sz="500" dirty="0"/>
          </a:p>
        </p:txBody>
      </p:sp>
      <p:sp>
        <p:nvSpPr>
          <p:cNvPr id="220" name="Shape 218"/>
          <p:cNvSpPr/>
          <p:nvPr/>
        </p:nvSpPr>
        <p:spPr>
          <a:xfrm>
            <a:off x="9857278" y="489417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9909399" y="498104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 flipV="1">
            <a:off x="9940671" y="494629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909399" y="505922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flipV="1">
            <a:off x="9940671" y="502447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909399" y="513740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 flipV="1">
            <a:off x="9940671" y="510265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50" dirty="0"/>
          </a:p>
        </p:txBody>
      </p:sp>
      <p:sp>
        <p:nvSpPr>
          <p:cNvPr id="228" name="Text 226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Compliance Checklist · Controls</a:t>
            </a:r>
            <a:endParaRPr lang="en-US" sz="500" dirty="0"/>
          </a:p>
        </p:txBody>
      </p:sp>
      <p:sp>
        <p:nvSpPr>
          <p:cNvPr id="229" name="Shape 227"/>
          <p:cNvSpPr/>
          <p:nvPr/>
        </p:nvSpPr>
        <p:spPr>
          <a:xfrm>
            <a:off x="10944134" y="4984516"/>
            <a:ext cx="132039" cy="132039"/>
          </a:xfrm>
          <a:prstGeom prst="ellips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070961" y="5050536"/>
            <a:ext cx="147676" cy="914"/>
          </a:xfrm>
          <a:prstGeom prst="line">
            <a:avLst/>
          </a:prstGeom>
          <a:noFill/>
          <a:ln w="20320">
            <a:solidFill>
              <a:srgbClr val="8DA0C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175202" y="505053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213424" y="505053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650" dirty="0"/>
          </a:p>
        </p:txBody>
      </p:sp>
      <p:sp>
        <p:nvSpPr>
          <p:cNvPr id="234" name="Text 232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· Authorization · Security</a:t>
            </a:r>
            <a:endParaRPr lang="en-US" sz="500" dirty="0"/>
          </a:p>
        </p:txBody>
      </p:sp>
      <p:sp>
        <p:nvSpPr>
          <p:cNvPr id="235" name="Shape 233"/>
          <p:cNvSpPr/>
          <p:nvPr/>
        </p:nvSpPr>
        <p:spPr>
          <a:xfrm>
            <a:off x="938312" y="57736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99119" y="58431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650" dirty="0"/>
          </a:p>
        </p:txBody>
      </p:sp>
      <p:sp>
        <p:nvSpPr>
          <p:cNvPr id="238" name="Text 236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KPI · Performance</a:t>
            </a:r>
            <a:endParaRPr lang="en-US" sz="500" dirty="0"/>
          </a:p>
        </p:txBody>
      </p:sp>
      <p:sp>
        <p:nvSpPr>
          <p:cNvPr id="239" name="Shape 237"/>
          <p:cNvSpPr/>
          <p:nvPr/>
        </p:nvSpPr>
        <p:spPr>
          <a:xfrm>
            <a:off x="2065127" y="575630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650" dirty="0"/>
          </a:p>
        </p:txBody>
      </p:sp>
      <p:sp>
        <p:nvSpPr>
          <p:cNvPr id="241" name="Text 239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Allocation · Portfolio Mix</a:t>
            </a:r>
            <a:endParaRPr lang="en-US" sz="500" dirty="0"/>
          </a:p>
        </p:txBody>
      </p:sp>
      <p:sp>
        <p:nvSpPr>
          <p:cNvPr id="242" name="Shape 240"/>
          <p:cNvSpPr/>
          <p:nvPr/>
        </p:nvSpPr>
        <p:spPr>
          <a:xfrm>
            <a:off x="3174568" y="5756300"/>
            <a:ext cx="295351" cy="295351"/>
          </a:xfrm>
          <a:prstGeom prst="irregularSeal1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</a:t>
            </a:r>
            <a:endParaRPr lang="en-US" sz="650" dirty="0"/>
          </a:p>
        </p:txBody>
      </p:sp>
      <p:sp>
        <p:nvSpPr>
          <p:cNvPr id="244" name="Text 242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· Accredited · Compliant</a:t>
            </a:r>
            <a:endParaRPr lang="en-US" sz="500" dirty="0"/>
          </a:p>
        </p:txBody>
      </p:sp>
      <p:sp>
        <p:nvSpPr>
          <p:cNvPr id="245" name="Shape 243"/>
          <p:cNvSpPr/>
          <p:nvPr/>
        </p:nvSpPr>
        <p:spPr>
          <a:xfrm>
            <a:off x="4310070" y="574761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</a:t>
            </a:r>
            <a:endParaRPr lang="en-US" sz="650" dirty="0"/>
          </a:p>
        </p:txBody>
      </p:sp>
      <p:sp>
        <p:nvSpPr>
          <p:cNvPr id="247" name="Text 245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· Capital Pool · Treasury</a:t>
            </a:r>
            <a:endParaRPr lang="en-US" sz="500" dirty="0"/>
          </a:p>
        </p:txBody>
      </p:sp>
      <p:sp>
        <p:nvSpPr>
          <p:cNvPr id="248" name="Shape 246"/>
          <p:cNvSpPr/>
          <p:nvPr/>
        </p:nvSpPr>
        <p:spPr>
          <a:xfrm>
            <a:off x="5402138" y="578236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5402138" y="5860542"/>
            <a:ext cx="277978" cy="91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5471632" y="574761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51" name="Shape 249"/>
          <p:cNvSpPr/>
          <p:nvPr/>
        </p:nvSpPr>
        <p:spPr>
          <a:xfrm>
            <a:off x="5593248" y="574761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52" name="Text 250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650" dirty="0"/>
          </a:p>
        </p:txBody>
      </p:sp>
      <p:sp>
        <p:nvSpPr>
          <p:cNvPr id="253" name="Text 251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Date · Term · Schedule</a:t>
            </a:r>
            <a:endParaRPr lang="en-US" sz="500" dirty="0"/>
          </a:p>
        </p:txBody>
      </p:sp>
      <p:sp>
        <p:nvSpPr>
          <p:cNvPr id="254" name="Shape 252"/>
          <p:cNvSpPr/>
          <p:nvPr/>
        </p:nvSpPr>
        <p:spPr>
          <a:xfrm>
            <a:off x="6581074" y="573892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8DA0C2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6634932" y="6001268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56" name="Text 254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Line</a:t>
            </a:r>
            <a:endParaRPr lang="en-US" sz="650" dirty="0"/>
          </a:p>
        </p:txBody>
      </p:sp>
      <p:sp>
        <p:nvSpPr>
          <p:cNvPr id="257" name="Text 255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 · Advisory Line</a:t>
            </a:r>
            <a:endParaRPr lang="en-US" sz="500" dirty="0"/>
          </a:p>
        </p:txBody>
      </p:sp>
      <p:sp>
        <p:nvSpPr>
          <p:cNvPr id="258" name="Shape 256"/>
          <p:cNvSpPr/>
          <p:nvPr/>
        </p:nvSpPr>
        <p:spPr>
          <a:xfrm>
            <a:off x="7655768" y="579452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634920" y="58952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766959" y="579452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746111" y="58952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650" dirty="0"/>
          </a:p>
        </p:txBody>
      </p:sp>
      <p:sp>
        <p:nvSpPr>
          <p:cNvPr id="263" name="Text 261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· Relationship Management</a:t>
            </a:r>
            <a:endParaRPr lang="en-US" sz="500" dirty="0"/>
          </a:p>
        </p:txBody>
      </p:sp>
      <p:sp>
        <p:nvSpPr>
          <p:cNvPr id="264" name="Shape 262"/>
          <p:cNvSpPr/>
          <p:nvPr/>
        </p:nvSpPr>
        <p:spPr>
          <a:xfrm>
            <a:off x="8721776" y="5808421"/>
            <a:ext cx="295351" cy="191110"/>
          </a:xfrm>
          <a:prstGeom prst="rec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8721776" y="5808421"/>
            <a:ext cx="147676" cy="112928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flipV="1">
            <a:off x="8869451" y="5808421"/>
            <a:ext cx="147676" cy="112928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Delivery</a:t>
            </a:r>
            <a:endParaRPr lang="en-US" sz="650" dirty="0"/>
          </a:p>
        </p:txBody>
      </p:sp>
      <p:sp>
        <p:nvSpPr>
          <p:cNvPr id="268" name="Text 266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· Correspondence</a:t>
            </a:r>
            <a:endParaRPr lang="en-US" sz="500" dirty="0"/>
          </a:p>
        </p:txBody>
      </p:sp>
      <p:sp>
        <p:nvSpPr>
          <p:cNvPr id="269" name="Shape 267"/>
          <p:cNvSpPr/>
          <p:nvPr/>
        </p:nvSpPr>
        <p:spPr>
          <a:xfrm>
            <a:off x="9865965" y="588660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9905924" y="573892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961519" y="5947410"/>
            <a:ext cx="34747" cy="34747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72" name="Text 270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650" dirty="0"/>
          </a:p>
        </p:txBody>
      </p:sp>
      <p:sp>
        <p:nvSpPr>
          <p:cNvPr id="273" name="Text 271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· Privacy · Encryption</a:t>
            </a:r>
            <a:endParaRPr lang="en-US" sz="500" dirty="0"/>
          </a:p>
        </p:txBody>
      </p:sp>
      <p:sp>
        <p:nvSpPr>
          <p:cNvPr id="274" name="Shape 272"/>
          <p:cNvSpPr/>
          <p:nvPr/>
        </p:nvSpPr>
        <p:spPr>
          <a:xfrm>
            <a:off x="10940659" y="5756300"/>
            <a:ext cx="295351" cy="295351"/>
          </a:xfrm>
          <a:prstGeom prst="star5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650" dirty="0"/>
          </a:p>
        </p:txBody>
      </p:sp>
      <p:sp>
        <p:nvSpPr>
          <p:cNvPr id="276" name="Text 274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· Rating · Standing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Sciences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5685" y="1497787"/>
            <a:ext cx="295351" cy="277978"/>
          </a:xfrm>
          <a:prstGeom prst="heart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· Wellness · Patient Care</a:t>
            </a:r>
            <a:endParaRPr lang="en-US" sz="500" dirty="0"/>
          </a:p>
        </p:txBody>
      </p:sp>
      <p:sp>
        <p:nvSpPr>
          <p:cNvPr id="7" name="Shape 5"/>
          <p:cNvSpPr/>
          <p:nvPr/>
        </p:nvSpPr>
        <p:spPr>
          <a:xfrm>
            <a:off x="2073813" y="1497787"/>
            <a:ext cx="277978" cy="277978"/>
          </a:xfrm>
          <a:prstGeom prst="plus">
            <a:avLst/>
          </a:prstGeom>
          <a:solidFill>
            <a:srgbClr val="D4AF5A"/>
          </a:solidFill>
          <a:ln/>
        </p:spPr>
      </p:sp>
      <p:sp>
        <p:nvSpPr>
          <p:cNvPr id="8" name="Text 6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· Clinical · Hospital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 flipV="1">
            <a:off x="3183255" y="1489100"/>
            <a:ext cx="138989" cy="243230"/>
          </a:xfrm>
          <a:prstGeom prst="lin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3255" y="1732331"/>
            <a:ext cx="277978" cy="914"/>
          </a:xfrm>
          <a:prstGeom prst="lin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22244" y="1489100"/>
            <a:ext cx="138989" cy="243230"/>
          </a:xfrm>
          <a:prstGeom prst="lin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4446" y="1461303"/>
            <a:ext cx="55596" cy="55596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4" name="Shape 12"/>
          <p:cNvSpPr/>
          <p:nvPr/>
        </p:nvSpPr>
        <p:spPr>
          <a:xfrm>
            <a:off x="3155457" y="1704533"/>
            <a:ext cx="55596" cy="55596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3433435" y="1704533"/>
            <a:ext cx="55596" cy="55596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6" name="Text 14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 · Research · Biotech · Molecule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4344817" y="1471727"/>
            <a:ext cx="173736" cy="330098"/>
          </a:xfrm>
          <a:prstGeom prst="roundRect">
            <a:avLst>
              <a:gd name="adj" fmla="val 78947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4817" y="1636776"/>
            <a:ext cx="173736" cy="914"/>
          </a:xfrm>
          <a:prstGeom prst="line">
            <a:avLst/>
          </a:prstGeom>
          <a:noFill/>
          <a:ln w="22225">
            <a:solidFill>
              <a:srgbClr val="D4AF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· Therapeutics · Drug Development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5464683" y="1464777"/>
            <a:ext cx="31272" cy="31272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0319" y="1480414"/>
            <a:ext cx="121615" cy="78181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86298" y="1542959"/>
            <a:ext cx="31272" cy="31272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25" name="Shape 23"/>
          <p:cNvSpPr/>
          <p:nvPr/>
        </p:nvSpPr>
        <p:spPr>
          <a:xfrm flipV="1">
            <a:off x="5480319" y="1558595"/>
            <a:ext cx="121615" cy="78181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64683" y="1621140"/>
            <a:ext cx="31272" cy="31272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0319" y="1636776"/>
            <a:ext cx="121615" cy="78181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86298" y="1699321"/>
            <a:ext cx="31272" cy="31272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29" name="Shape 27"/>
          <p:cNvSpPr/>
          <p:nvPr/>
        </p:nvSpPr>
        <p:spPr>
          <a:xfrm flipV="1">
            <a:off x="5480319" y="1714957"/>
            <a:ext cx="121615" cy="78181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64683" y="1777502"/>
            <a:ext cx="31272" cy="31272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31" name="Text 29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· DNA · Biotech · Precision Medicine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 flipV="1">
            <a:off x="6555014" y="1619402"/>
            <a:ext cx="191110" cy="173736"/>
          </a:xfrm>
          <a:prstGeom prst="triangl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19296" y="1471727"/>
            <a:ext cx="62545" cy="60808"/>
          </a:xfrm>
          <a:prstGeom prst="rect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· Laboratory · Formulation · Discovery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7638395" y="14804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0515" y="1567282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7721788" y="1532534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90515" y="1645463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7721788" y="1610716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0515" y="1723644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7721788" y="1688897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Protocol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· Protocol · Checklist</a:t>
            </a:r>
            <a:endParaRPr lang="en-US" sz="500" dirty="0"/>
          </a:p>
        </p:txBody>
      </p:sp>
      <p:sp>
        <p:nvSpPr>
          <p:cNvPr id="46" name="Shape 44"/>
          <p:cNvSpPr/>
          <p:nvPr/>
        </p:nvSpPr>
        <p:spPr>
          <a:xfrm>
            <a:off x="8765210" y="148041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8644" y="1575968"/>
            <a:ext cx="121615" cy="914"/>
          </a:xfrm>
          <a:prstGeom prst="line">
            <a:avLst/>
          </a:prstGeom>
          <a:noFill/>
          <a:ln w="13970">
            <a:solidFill>
              <a:srgbClr val="D4AF5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08644" y="1636776"/>
            <a:ext cx="121615" cy="914"/>
          </a:xfrm>
          <a:prstGeom prst="line">
            <a:avLst/>
          </a:prstGeom>
          <a:noFill/>
          <a:ln w="13970">
            <a:solidFill>
              <a:srgbClr val="D4AF5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8644" y="1697584"/>
            <a:ext cx="121615" cy="914"/>
          </a:xfrm>
          <a:prstGeom prst="line">
            <a:avLst/>
          </a:prstGeom>
          <a:noFill/>
          <a:ln w="13970">
            <a:solidFill>
              <a:srgbClr val="D4AF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Filing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· Submission · Documentation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9865965" y="161940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905924" y="147172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61519" y="1680210"/>
            <a:ext cx="34747" cy="34747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55" name="Text 53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Privacy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· Privacy · HIPAA</a:t>
            </a:r>
            <a:endParaRPr lang="en-US" sz="500" dirty="0"/>
          </a:p>
        </p:txBody>
      </p:sp>
      <p:sp>
        <p:nvSpPr>
          <p:cNvPr id="57" name="Shape 55"/>
          <p:cNvSpPr/>
          <p:nvPr/>
        </p:nvSpPr>
        <p:spPr>
          <a:xfrm>
            <a:off x="10949346" y="151516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49346" y="1593342"/>
            <a:ext cx="277978" cy="91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18840" y="1480414"/>
            <a:ext cx="17374" cy="52121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60" name="Shape 58"/>
          <p:cNvSpPr/>
          <p:nvPr/>
        </p:nvSpPr>
        <p:spPr>
          <a:xfrm>
            <a:off x="11140455" y="1480414"/>
            <a:ext cx="17374" cy="52121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61" name="Text 59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Timeline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Timeline · Milestones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938312" y="235991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99119" y="242940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D4AF5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Dashboard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Monitoring · Dashboard · KPIs</a:t>
            </a:r>
            <a:endParaRPr lang="en-US" sz="500" dirty="0"/>
          </a:p>
        </p:txBody>
      </p:sp>
      <p:sp>
        <p:nvSpPr>
          <p:cNvPr id="67" name="Shape 65"/>
          <p:cNvSpPr/>
          <p:nvPr/>
        </p:nvSpPr>
        <p:spPr>
          <a:xfrm>
            <a:off x="2108561" y="238076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087712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19752" y="238076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8903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· Care Teams · Cohort</a:t>
            </a:r>
            <a:endParaRPr lang="en-US" sz="500" dirty="0"/>
          </a:p>
        </p:txBody>
      </p:sp>
      <p:sp>
        <p:nvSpPr>
          <p:cNvPr id="73" name="Shape 71"/>
          <p:cNvSpPr/>
          <p:nvPr/>
        </p:nvSpPr>
        <p:spPr>
          <a:xfrm>
            <a:off x="3174568" y="2342540"/>
            <a:ext cx="295351" cy="295351"/>
          </a:xfrm>
          <a:prstGeom prst="irregularSeal1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Approval · Certification · Compliance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4310070" y="2333854"/>
            <a:ext cx="243230" cy="312725"/>
          </a:xfrm>
          <a:prstGeom prst="ca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Biobank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Biobank · Sample Storage · Cold Chain</a:t>
            </a:r>
            <a:endParaRPr lang="en-US" sz="500" dirty="0"/>
          </a:p>
        </p:txBody>
      </p:sp>
      <p:sp>
        <p:nvSpPr>
          <p:cNvPr id="79" name="Shape 77"/>
          <p:cNvSpPr/>
          <p:nvPr/>
        </p:nvSpPr>
        <p:spPr>
          <a:xfrm>
            <a:off x="5445572" y="2359914"/>
            <a:ext cx="191110" cy="260604"/>
          </a:xfrm>
          <a:prstGeom prst="teardrop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· Liquid · Dosage</a:t>
            </a:r>
            <a:endParaRPr lang="en-US" sz="500" dirty="0"/>
          </a:p>
        </p:txBody>
      </p:sp>
      <p:sp>
        <p:nvSpPr>
          <p:cNvPr id="82" name="Shape 80"/>
          <p:cNvSpPr/>
          <p:nvPr/>
        </p:nvSpPr>
        <p:spPr>
          <a:xfrm>
            <a:off x="6511580" y="2359914"/>
            <a:ext cx="277978" cy="260604"/>
          </a:xfrm>
          <a:prstGeom prst="heart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Wellbeing · Outcomes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 rot="10800000">
            <a:off x="7664455" y="2351227"/>
            <a:ext cx="191110" cy="277978"/>
          </a:xfrm>
          <a:prstGeom prst="teardrop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Site · Facility Location</a:t>
            </a:r>
            <a:endParaRPr lang="en-US" sz="500" dirty="0"/>
          </a:p>
        </p:txBody>
      </p:sp>
      <p:sp>
        <p:nvSpPr>
          <p:cNvPr id="88" name="Shape 86"/>
          <p:cNvSpPr/>
          <p:nvPr/>
        </p:nvSpPr>
        <p:spPr>
          <a:xfrm>
            <a:off x="8721776" y="2342540"/>
            <a:ext cx="295351" cy="295351"/>
          </a:xfrm>
          <a:prstGeom prst="star5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Grade · Standard</a:t>
            </a:r>
            <a:endParaRPr lang="en-US" sz="500" dirty="0"/>
          </a:p>
        </p:txBody>
      </p:sp>
      <p:sp>
        <p:nvSpPr>
          <p:cNvPr id="91" name="Shape 89"/>
          <p:cNvSpPr/>
          <p:nvPr/>
        </p:nvSpPr>
        <p:spPr>
          <a:xfrm>
            <a:off x="9874651" y="2333854"/>
            <a:ext cx="208483" cy="312725"/>
          </a:xfrm>
          <a:prstGeom prst="verticalScroll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History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History · Patient Record</a:t>
            </a:r>
            <a:endParaRPr lang="en-US" sz="500" dirty="0"/>
          </a:p>
        </p:txBody>
      </p:sp>
      <p:sp>
        <p:nvSpPr>
          <p:cNvPr id="94" name="Shape 92"/>
          <p:cNvSpPr/>
          <p:nvPr/>
        </p:nvSpPr>
        <p:spPr>
          <a:xfrm>
            <a:off x="11018840" y="232516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D4AF5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072698" y="2587508"/>
            <a:ext cx="31272" cy="31272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96" name="Text 94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 Line · Contact</a:t>
            </a:r>
            <a:endParaRPr lang="en-US" sz="500" dirty="0"/>
          </a:p>
        </p:txBody>
      </p:sp>
      <p:sp>
        <p:nvSpPr>
          <p:cNvPr id="98" name="Shape 96"/>
          <p:cNvSpPr/>
          <p:nvPr/>
        </p:nvSpPr>
        <p:spPr>
          <a:xfrm>
            <a:off x="955685" y="3204667"/>
            <a:ext cx="295351" cy="277978"/>
          </a:xfrm>
          <a:prstGeom prst="hear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· Wellness · Patient Care</a:t>
            </a:r>
            <a:endParaRPr lang="en-US" sz="500" dirty="0"/>
          </a:p>
        </p:txBody>
      </p:sp>
      <p:sp>
        <p:nvSpPr>
          <p:cNvPr id="101" name="Shape 99"/>
          <p:cNvSpPr/>
          <p:nvPr/>
        </p:nvSpPr>
        <p:spPr>
          <a:xfrm>
            <a:off x="2073813" y="3204667"/>
            <a:ext cx="277978" cy="277978"/>
          </a:xfrm>
          <a:prstGeom prst="plus">
            <a:avLst/>
          </a:prstGeom>
          <a:solidFill>
            <a:srgbClr val="8DA0C2"/>
          </a:solidFill>
          <a:ln/>
        </p:spPr>
      </p:sp>
      <p:sp>
        <p:nvSpPr>
          <p:cNvPr id="102" name="Text 100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· Clinical · Hospital</a:t>
            </a:r>
            <a:endParaRPr lang="en-US" sz="500" dirty="0"/>
          </a:p>
        </p:txBody>
      </p:sp>
      <p:sp>
        <p:nvSpPr>
          <p:cNvPr id="104" name="Shape 102"/>
          <p:cNvSpPr/>
          <p:nvPr/>
        </p:nvSpPr>
        <p:spPr>
          <a:xfrm flipV="1">
            <a:off x="3183255" y="3195980"/>
            <a:ext cx="138989" cy="243230"/>
          </a:xfrm>
          <a:prstGeom prst="line">
            <a:avLst/>
          </a:prstGeom>
          <a:noFill/>
          <a:ln w="19050">
            <a:solidFill>
              <a:srgbClr val="8DA0C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183255" y="3439211"/>
            <a:ext cx="277978" cy="914"/>
          </a:xfrm>
          <a:prstGeom prst="line">
            <a:avLst/>
          </a:prstGeom>
          <a:noFill/>
          <a:ln w="19050">
            <a:solidFill>
              <a:srgbClr val="8DA0C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322244" y="3195980"/>
            <a:ext cx="138989" cy="243230"/>
          </a:xfrm>
          <a:prstGeom prst="line">
            <a:avLst/>
          </a:prstGeom>
          <a:noFill/>
          <a:ln w="19050">
            <a:solidFill>
              <a:srgbClr val="8DA0C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294446" y="3168183"/>
            <a:ext cx="55596" cy="55596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08" name="Shape 106"/>
          <p:cNvSpPr/>
          <p:nvPr/>
        </p:nvSpPr>
        <p:spPr>
          <a:xfrm>
            <a:off x="3155457" y="3411413"/>
            <a:ext cx="55596" cy="55596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09" name="Shape 107"/>
          <p:cNvSpPr/>
          <p:nvPr/>
        </p:nvSpPr>
        <p:spPr>
          <a:xfrm>
            <a:off x="3433435" y="3411413"/>
            <a:ext cx="55596" cy="55596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10" name="Text 108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 · Research · Biotech · Molecule</a:t>
            </a:r>
            <a:endParaRPr lang="en-US" sz="500" dirty="0"/>
          </a:p>
        </p:txBody>
      </p:sp>
      <p:sp>
        <p:nvSpPr>
          <p:cNvPr id="112" name="Shape 110"/>
          <p:cNvSpPr/>
          <p:nvPr/>
        </p:nvSpPr>
        <p:spPr>
          <a:xfrm>
            <a:off x="4344817" y="3178607"/>
            <a:ext cx="173736" cy="330098"/>
          </a:xfrm>
          <a:prstGeom prst="roundRect">
            <a:avLst>
              <a:gd name="adj" fmla="val 78947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344817" y="3343656"/>
            <a:ext cx="173736" cy="914"/>
          </a:xfrm>
          <a:prstGeom prst="line">
            <a:avLst/>
          </a:prstGeom>
          <a:noFill/>
          <a:ln w="22225">
            <a:solidFill>
              <a:srgbClr val="8DA0C2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· Therapeutics · Drug Development</a:t>
            </a:r>
            <a:endParaRPr lang="en-US" sz="500" dirty="0"/>
          </a:p>
        </p:txBody>
      </p:sp>
      <p:sp>
        <p:nvSpPr>
          <p:cNvPr id="116" name="Shape 114"/>
          <p:cNvSpPr/>
          <p:nvPr/>
        </p:nvSpPr>
        <p:spPr>
          <a:xfrm>
            <a:off x="5464683" y="3171657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480319" y="3187294"/>
            <a:ext cx="121615" cy="78181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586298" y="3249839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19" name="Shape 117"/>
          <p:cNvSpPr/>
          <p:nvPr/>
        </p:nvSpPr>
        <p:spPr>
          <a:xfrm flipV="1">
            <a:off x="5480319" y="3265475"/>
            <a:ext cx="121615" cy="78181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464683" y="3328020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480319" y="3343656"/>
            <a:ext cx="121615" cy="78181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586298" y="3406201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23" name="Shape 121"/>
          <p:cNvSpPr/>
          <p:nvPr/>
        </p:nvSpPr>
        <p:spPr>
          <a:xfrm flipV="1">
            <a:off x="5480319" y="3421837"/>
            <a:ext cx="121615" cy="78181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464683" y="3484382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25" name="Text 123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· DNA · Biotech · Precision Medicine</a:t>
            </a:r>
            <a:endParaRPr lang="en-US" sz="500" dirty="0"/>
          </a:p>
        </p:txBody>
      </p:sp>
      <p:sp>
        <p:nvSpPr>
          <p:cNvPr id="127" name="Shape 125"/>
          <p:cNvSpPr/>
          <p:nvPr/>
        </p:nvSpPr>
        <p:spPr>
          <a:xfrm flipV="1">
            <a:off x="6555014" y="3326282"/>
            <a:ext cx="191110" cy="173736"/>
          </a:xfrm>
          <a:prstGeom prst="triangl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619296" y="3178607"/>
            <a:ext cx="62545" cy="60808"/>
          </a:xfrm>
          <a:prstGeom prst="rec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650" dirty="0"/>
          </a:p>
        </p:txBody>
      </p:sp>
      <p:sp>
        <p:nvSpPr>
          <p:cNvPr id="130" name="Text 128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· Laboratory · Formulation · Discovery</a:t>
            </a:r>
            <a:endParaRPr lang="en-US" sz="500" dirty="0"/>
          </a:p>
        </p:txBody>
      </p:sp>
      <p:sp>
        <p:nvSpPr>
          <p:cNvPr id="131" name="Shape 129"/>
          <p:cNvSpPr/>
          <p:nvPr/>
        </p:nvSpPr>
        <p:spPr>
          <a:xfrm>
            <a:off x="7638395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690515" y="327416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7721788" y="323941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690515" y="335234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7721788" y="331759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690515" y="343052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7721788" y="339577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Protocol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· Protocol · Checklist</a:t>
            </a:r>
            <a:endParaRPr lang="en-US" sz="500" dirty="0"/>
          </a:p>
        </p:txBody>
      </p:sp>
      <p:sp>
        <p:nvSpPr>
          <p:cNvPr id="140" name="Shape 138"/>
          <p:cNvSpPr/>
          <p:nvPr/>
        </p:nvSpPr>
        <p:spPr>
          <a:xfrm>
            <a:off x="8765210" y="318729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808644" y="3282848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808644" y="3343656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808644" y="3404464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Filing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· Submission · Documentation</a:t>
            </a:r>
            <a:endParaRPr lang="en-US" sz="500" dirty="0"/>
          </a:p>
        </p:txBody>
      </p:sp>
      <p:sp>
        <p:nvSpPr>
          <p:cNvPr id="146" name="Shape 144"/>
          <p:cNvSpPr/>
          <p:nvPr/>
        </p:nvSpPr>
        <p:spPr>
          <a:xfrm>
            <a:off x="9865965" y="332628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905924" y="317860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961519" y="3387090"/>
            <a:ext cx="34747" cy="34747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49" name="Text 147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Privacy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· Privacy · HIPAA</a:t>
            </a:r>
            <a:endParaRPr lang="en-US" sz="500" dirty="0"/>
          </a:p>
        </p:txBody>
      </p:sp>
      <p:sp>
        <p:nvSpPr>
          <p:cNvPr id="151" name="Shape 149"/>
          <p:cNvSpPr/>
          <p:nvPr/>
        </p:nvSpPr>
        <p:spPr>
          <a:xfrm>
            <a:off x="10949346" y="322204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949346" y="3300222"/>
            <a:ext cx="277978" cy="91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1018840" y="318729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54" name="Shape 152"/>
          <p:cNvSpPr/>
          <p:nvPr/>
        </p:nvSpPr>
        <p:spPr>
          <a:xfrm>
            <a:off x="11140455" y="318729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55" name="Text 153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Timeline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Timeline · Milestones</a:t>
            </a:r>
            <a:endParaRPr lang="en-US" sz="500" dirty="0"/>
          </a:p>
        </p:txBody>
      </p:sp>
      <p:sp>
        <p:nvSpPr>
          <p:cNvPr id="157" name="Shape 155"/>
          <p:cNvSpPr/>
          <p:nvPr/>
        </p:nvSpPr>
        <p:spPr>
          <a:xfrm>
            <a:off x="938312" y="406679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9119" y="413628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Dashboard</a:t>
            </a:r>
            <a:endParaRPr lang="en-US" sz="650" dirty="0"/>
          </a:p>
        </p:txBody>
      </p:sp>
      <p:sp>
        <p:nvSpPr>
          <p:cNvPr id="160" name="Text 158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Monitoring · Dashboard · KPIs</a:t>
            </a:r>
            <a:endParaRPr lang="en-US" sz="500" dirty="0"/>
          </a:p>
        </p:txBody>
      </p:sp>
      <p:sp>
        <p:nvSpPr>
          <p:cNvPr id="161" name="Shape 159"/>
          <p:cNvSpPr/>
          <p:nvPr/>
        </p:nvSpPr>
        <p:spPr>
          <a:xfrm>
            <a:off x="2108561" y="408764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087712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219752" y="408764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198903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· Care Teams · Cohort</a:t>
            </a:r>
            <a:endParaRPr lang="en-US" sz="500" dirty="0"/>
          </a:p>
        </p:txBody>
      </p:sp>
      <p:sp>
        <p:nvSpPr>
          <p:cNvPr id="167" name="Shape 165"/>
          <p:cNvSpPr/>
          <p:nvPr/>
        </p:nvSpPr>
        <p:spPr>
          <a:xfrm>
            <a:off x="3174568" y="4049420"/>
            <a:ext cx="295351" cy="295351"/>
          </a:xfrm>
          <a:prstGeom prst="irregularSeal1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650" dirty="0"/>
          </a:p>
        </p:txBody>
      </p:sp>
      <p:sp>
        <p:nvSpPr>
          <p:cNvPr id="169" name="Text 167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Approval · Certification · Compliance</a:t>
            </a:r>
            <a:endParaRPr lang="en-US" sz="500" dirty="0"/>
          </a:p>
        </p:txBody>
      </p:sp>
      <p:sp>
        <p:nvSpPr>
          <p:cNvPr id="170" name="Shape 168"/>
          <p:cNvSpPr/>
          <p:nvPr/>
        </p:nvSpPr>
        <p:spPr>
          <a:xfrm>
            <a:off x="4310070" y="404073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Biobank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Biobank · Sample Storage · Cold Chain</a:t>
            </a:r>
            <a:endParaRPr lang="en-US" sz="500" dirty="0"/>
          </a:p>
        </p:txBody>
      </p:sp>
      <p:sp>
        <p:nvSpPr>
          <p:cNvPr id="173" name="Shape 171"/>
          <p:cNvSpPr/>
          <p:nvPr/>
        </p:nvSpPr>
        <p:spPr>
          <a:xfrm>
            <a:off x="5445572" y="4066794"/>
            <a:ext cx="191110" cy="260604"/>
          </a:xfrm>
          <a:prstGeom prst="teardrop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650" dirty="0"/>
          </a:p>
        </p:txBody>
      </p:sp>
      <p:sp>
        <p:nvSpPr>
          <p:cNvPr id="175" name="Text 173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· Liquid · Dosage</a:t>
            </a:r>
            <a:endParaRPr lang="en-US" sz="500" dirty="0"/>
          </a:p>
        </p:txBody>
      </p:sp>
      <p:sp>
        <p:nvSpPr>
          <p:cNvPr id="176" name="Shape 174"/>
          <p:cNvSpPr/>
          <p:nvPr/>
        </p:nvSpPr>
        <p:spPr>
          <a:xfrm>
            <a:off x="6511580" y="4066794"/>
            <a:ext cx="277978" cy="260604"/>
          </a:xfrm>
          <a:prstGeom prst="hear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</a:t>
            </a:r>
            <a:endParaRPr lang="en-US" sz="650" dirty="0"/>
          </a:p>
        </p:txBody>
      </p:sp>
      <p:sp>
        <p:nvSpPr>
          <p:cNvPr id="178" name="Text 176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Wellbeing · Outcomes</a:t>
            </a:r>
            <a:endParaRPr lang="en-US" sz="500" dirty="0"/>
          </a:p>
        </p:txBody>
      </p:sp>
      <p:sp>
        <p:nvSpPr>
          <p:cNvPr id="179" name="Shape 177"/>
          <p:cNvSpPr/>
          <p:nvPr/>
        </p:nvSpPr>
        <p:spPr>
          <a:xfrm rot="10800000">
            <a:off x="7664455" y="4058107"/>
            <a:ext cx="191110" cy="277978"/>
          </a:xfrm>
          <a:prstGeom prst="teardrop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650" dirty="0"/>
          </a:p>
        </p:txBody>
      </p:sp>
      <p:sp>
        <p:nvSpPr>
          <p:cNvPr id="181" name="Text 179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Site · Facility Location</a:t>
            </a:r>
            <a:endParaRPr lang="en-US" sz="500" dirty="0"/>
          </a:p>
        </p:txBody>
      </p:sp>
      <p:sp>
        <p:nvSpPr>
          <p:cNvPr id="182" name="Shape 180"/>
          <p:cNvSpPr/>
          <p:nvPr/>
        </p:nvSpPr>
        <p:spPr>
          <a:xfrm>
            <a:off x="8721776" y="4049420"/>
            <a:ext cx="295351" cy="295351"/>
          </a:xfrm>
          <a:prstGeom prst="star5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650" dirty="0"/>
          </a:p>
        </p:txBody>
      </p:sp>
      <p:sp>
        <p:nvSpPr>
          <p:cNvPr id="184" name="Text 182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Grade · Standard</a:t>
            </a:r>
            <a:endParaRPr lang="en-US" sz="500" dirty="0"/>
          </a:p>
        </p:txBody>
      </p:sp>
      <p:sp>
        <p:nvSpPr>
          <p:cNvPr id="185" name="Shape 183"/>
          <p:cNvSpPr/>
          <p:nvPr/>
        </p:nvSpPr>
        <p:spPr>
          <a:xfrm>
            <a:off x="9874651" y="4040734"/>
            <a:ext cx="208483" cy="312725"/>
          </a:xfrm>
          <a:prstGeom prst="verticalScroll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History</a:t>
            </a:r>
            <a:endParaRPr lang="en-US" sz="650" dirty="0"/>
          </a:p>
        </p:txBody>
      </p:sp>
      <p:sp>
        <p:nvSpPr>
          <p:cNvPr id="187" name="Text 185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History · Patient Record</a:t>
            </a:r>
            <a:endParaRPr lang="en-US" sz="500" dirty="0"/>
          </a:p>
        </p:txBody>
      </p:sp>
      <p:sp>
        <p:nvSpPr>
          <p:cNvPr id="188" name="Shape 186"/>
          <p:cNvSpPr/>
          <p:nvPr/>
        </p:nvSpPr>
        <p:spPr>
          <a:xfrm>
            <a:off x="11018840" y="403204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8DA0C2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1072698" y="4294388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90" name="Text 188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</a:t>
            </a:r>
            <a:endParaRPr lang="en-US" sz="650" dirty="0"/>
          </a:p>
        </p:txBody>
      </p:sp>
      <p:sp>
        <p:nvSpPr>
          <p:cNvPr id="191" name="Text 189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 Line · Contact</a:t>
            </a:r>
            <a:endParaRPr lang="en-US" sz="500" dirty="0"/>
          </a:p>
        </p:txBody>
      </p:sp>
      <p:sp>
        <p:nvSpPr>
          <p:cNvPr id="192" name="Shape 190"/>
          <p:cNvSpPr/>
          <p:nvPr/>
        </p:nvSpPr>
        <p:spPr>
          <a:xfrm>
            <a:off x="955685" y="4911547"/>
            <a:ext cx="295351" cy="277978"/>
          </a:xfrm>
          <a:prstGeom prst="hear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650" dirty="0"/>
          </a:p>
        </p:txBody>
      </p:sp>
      <p:sp>
        <p:nvSpPr>
          <p:cNvPr id="194" name="Text 192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· Wellness · Patient Care</a:t>
            </a:r>
            <a:endParaRPr lang="en-US" sz="500" dirty="0"/>
          </a:p>
        </p:txBody>
      </p:sp>
      <p:sp>
        <p:nvSpPr>
          <p:cNvPr id="195" name="Shape 193"/>
          <p:cNvSpPr/>
          <p:nvPr/>
        </p:nvSpPr>
        <p:spPr>
          <a:xfrm>
            <a:off x="2073813" y="4911547"/>
            <a:ext cx="277978" cy="277978"/>
          </a:xfrm>
          <a:prstGeom prst="plus">
            <a:avLst/>
          </a:prstGeom>
          <a:solidFill>
            <a:srgbClr val="8DA0C2"/>
          </a:solidFill>
          <a:ln/>
        </p:spPr>
      </p:sp>
      <p:sp>
        <p:nvSpPr>
          <p:cNvPr id="196" name="Text 194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650" dirty="0"/>
          </a:p>
        </p:txBody>
      </p:sp>
      <p:sp>
        <p:nvSpPr>
          <p:cNvPr id="197" name="Text 195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· Clinical · Hospital</a:t>
            </a:r>
            <a:endParaRPr lang="en-US" sz="500" dirty="0"/>
          </a:p>
        </p:txBody>
      </p:sp>
      <p:sp>
        <p:nvSpPr>
          <p:cNvPr id="198" name="Shape 196"/>
          <p:cNvSpPr/>
          <p:nvPr/>
        </p:nvSpPr>
        <p:spPr>
          <a:xfrm flipV="1">
            <a:off x="3183255" y="4902860"/>
            <a:ext cx="138989" cy="243230"/>
          </a:xfrm>
          <a:prstGeom prst="line">
            <a:avLst/>
          </a:prstGeom>
          <a:noFill/>
          <a:ln w="19050">
            <a:solidFill>
              <a:srgbClr val="8DA0C2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3183255" y="5146091"/>
            <a:ext cx="277978" cy="914"/>
          </a:xfrm>
          <a:prstGeom prst="line">
            <a:avLst/>
          </a:prstGeom>
          <a:noFill/>
          <a:ln w="19050">
            <a:solidFill>
              <a:srgbClr val="8DA0C2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3322244" y="4902860"/>
            <a:ext cx="138989" cy="243230"/>
          </a:xfrm>
          <a:prstGeom prst="line">
            <a:avLst/>
          </a:prstGeom>
          <a:noFill/>
          <a:ln w="19050">
            <a:solidFill>
              <a:srgbClr val="8DA0C2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294446" y="4875063"/>
            <a:ext cx="55596" cy="55596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02" name="Shape 200"/>
          <p:cNvSpPr/>
          <p:nvPr/>
        </p:nvSpPr>
        <p:spPr>
          <a:xfrm>
            <a:off x="3155457" y="5118293"/>
            <a:ext cx="55596" cy="55596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03" name="Shape 201"/>
          <p:cNvSpPr/>
          <p:nvPr/>
        </p:nvSpPr>
        <p:spPr>
          <a:xfrm>
            <a:off x="3433435" y="5118293"/>
            <a:ext cx="55596" cy="55596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04" name="Text 202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650" dirty="0"/>
          </a:p>
        </p:txBody>
      </p:sp>
      <p:sp>
        <p:nvSpPr>
          <p:cNvPr id="205" name="Text 203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 · Research · Biotech · Molecule</a:t>
            </a:r>
            <a:endParaRPr lang="en-US" sz="500" dirty="0"/>
          </a:p>
        </p:txBody>
      </p:sp>
      <p:sp>
        <p:nvSpPr>
          <p:cNvPr id="206" name="Shape 204"/>
          <p:cNvSpPr/>
          <p:nvPr/>
        </p:nvSpPr>
        <p:spPr>
          <a:xfrm>
            <a:off x="4344817" y="4885487"/>
            <a:ext cx="173736" cy="330098"/>
          </a:xfrm>
          <a:prstGeom prst="roundRect">
            <a:avLst>
              <a:gd name="adj" fmla="val 78947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344817" y="5050536"/>
            <a:ext cx="173736" cy="914"/>
          </a:xfrm>
          <a:prstGeom prst="line">
            <a:avLst/>
          </a:prstGeom>
          <a:noFill/>
          <a:ln w="22225">
            <a:solidFill>
              <a:srgbClr val="8DA0C2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650" dirty="0"/>
          </a:p>
        </p:txBody>
      </p:sp>
      <p:sp>
        <p:nvSpPr>
          <p:cNvPr id="209" name="Text 207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· Therapeutics · Drug Development</a:t>
            </a:r>
            <a:endParaRPr lang="en-US" sz="500" dirty="0"/>
          </a:p>
        </p:txBody>
      </p:sp>
      <p:sp>
        <p:nvSpPr>
          <p:cNvPr id="210" name="Shape 208"/>
          <p:cNvSpPr/>
          <p:nvPr/>
        </p:nvSpPr>
        <p:spPr>
          <a:xfrm>
            <a:off x="5464683" y="4878537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11" name="Shape 209"/>
          <p:cNvSpPr/>
          <p:nvPr/>
        </p:nvSpPr>
        <p:spPr>
          <a:xfrm>
            <a:off x="5480319" y="4894174"/>
            <a:ext cx="121615" cy="78181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5586298" y="4956719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13" name="Shape 211"/>
          <p:cNvSpPr/>
          <p:nvPr/>
        </p:nvSpPr>
        <p:spPr>
          <a:xfrm flipV="1">
            <a:off x="5480319" y="4972355"/>
            <a:ext cx="121615" cy="78181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5464683" y="5034900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15" name="Shape 213"/>
          <p:cNvSpPr/>
          <p:nvPr/>
        </p:nvSpPr>
        <p:spPr>
          <a:xfrm>
            <a:off x="5480319" y="5050536"/>
            <a:ext cx="121615" cy="78181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5586298" y="5113081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17" name="Shape 215"/>
          <p:cNvSpPr/>
          <p:nvPr/>
        </p:nvSpPr>
        <p:spPr>
          <a:xfrm flipV="1">
            <a:off x="5480319" y="5128717"/>
            <a:ext cx="121615" cy="78181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5464683" y="5191262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19" name="Text 217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</a:t>
            </a:r>
            <a:endParaRPr lang="en-US" sz="650" dirty="0"/>
          </a:p>
        </p:txBody>
      </p:sp>
      <p:sp>
        <p:nvSpPr>
          <p:cNvPr id="220" name="Text 218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· DNA · Biotech · Precision Medicine</a:t>
            </a:r>
            <a:endParaRPr lang="en-US" sz="500" dirty="0"/>
          </a:p>
        </p:txBody>
      </p:sp>
      <p:sp>
        <p:nvSpPr>
          <p:cNvPr id="221" name="Shape 219"/>
          <p:cNvSpPr/>
          <p:nvPr/>
        </p:nvSpPr>
        <p:spPr>
          <a:xfrm flipV="1">
            <a:off x="6555014" y="5033162"/>
            <a:ext cx="191110" cy="173736"/>
          </a:xfrm>
          <a:prstGeom prst="triangl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19296" y="4885487"/>
            <a:ext cx="62545" cy="60808"/>
          </a:xfrm>
          <a:prstGeom prst="rec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650" dirty="0"/>
          </a:p>
        </p:txBody>
      </p:sp>
      <p:sp>
        <p:nvSpPr>
          <p:cNvPr id="224" name="Text 222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· Laboratory · Formulation · Discovery</a:t>
            </a:r>
            <a:endParaRPr lang="en-US" sz="500" dirty="0"/>
          </a:p>
        </p:txBody>
      </p:sp>
      <p:sp>
        <p:nvSpPr>
          <p:cNvPr id="225" name="Shape 223"/>
          <p:cNvSpPr/>
          <p:nvPr/>
        </p:nvSpPr>
        <p:spPr>
          <a:xfrm>
            <a:off x="7638395" y="489417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690515" y="498104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 flipV="1">
            <a:off x="7721788" y="494629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690515" y="505922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flipV="1">
            <a:off x="7721788" y="502447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7690515" y="513740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flipV="1">
            <a:off x="7721788" y="510265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Protocol</a:t>
            </a:r>
            <a:endParaRPr lang="en-US" sz="650" dirty="0"/>
          </a:p>
        </p:txBody>
      </p:sp>
      <p:sp>
        <p:nvSpPr>
          <p:cNvPr id="233" name="Text 231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· Protocol · Checklist</a:t>
            </a:r>
            <a:endParaRPr lang="en-US" sz="500" dirty="0"/>
          </a:p>
        </p:txBody>
      </p:sp>
      <p:sp>
        <p:nvSpPr>
          <p:cNvPr id="234" name="Shape 232"/>
          <p:cNvSpPr/>
          <p:nvPr/>
        </p:nvSpPr>
        <p:spPr>
          <a:xfrm>
            <a:off x="8765210" y="489417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808644" y="4989728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808644" y="5050536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808644" y="5111344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Filing</a:t>
            </a:r>
            <a:endParaRPr lang="en-US" sz="650" dirty="0"/>
          </a:p>
        </p:txBody>
      </p:sp>
      <p:sp>
        <p:nvSpPr>
          <p:cNvPr id="239" name="Text 237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· Submission · Documentation</a:t>
            </a:r>
            <a:endParaRPr lang="en-US" sz="500" dirty="0"/>
          </a:p>
        </p:txBody>
      </p:sp>
      <p:sp>
        <p:nvSpPr>
          <p:cNvPr id="240" name="Shape 238"/>
          <p:cNvSpPr/>
          <p:nvPr/>
        </p:nvSpPr>
        <p:spPr>
          <a:xfrm>
            <a:off x="9865965" y="503316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905924" y="488548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961519" y="5093970"/>
            <a:ext cx="34747" cy="34747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43" name="Text 241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Privacy</a:t>
            </a:r>
            <a:endParaRPr lang="en-US" sz="650" dirty="0"/>
          </a:p>
        </p:txBody>
      </p:sp>
      <p:sp>
        <p:nvSpPr>
          <p:cNvPr id="244" name="Text 242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· Privacy · HIPAA</a:t>
            </a:r>
            <a:endParaRPr lang="en-US" sz="500" dirty="0"/>
          </a:p>
        </p:txBody>
      </p:sp>
      <p:sp>
        <p:nvSpPr>
          <p:cNvPr id="245" name="Shape 243"/>
          <p:cNvSpPr/>
          <p:nvPr/>
        </p:nvSpPr>
        <p:spPr>
          <a:xfrm>
            <a:off x="10949346" y="492892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0949346" y="5007102"/>
            <a:ext cx="277978" cy="91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1018840" y="489417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48" name="Shape 246"/>
          <p:cNvSpPr/>
          <p:nvPr/>
        </p:nvSpPr>
        <p:spPr>
          <a:xfrm>
            <a:off x="11140455" y="489417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49" name="Text 247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Timeline</a:t>
            </a:r>
            <a:endParaRPr lang="en-US" sz="650" dirty="0"/>
          </a:p>
        </p:txBody>
      </p:sp>
      <p:sp>
        <p:nvSpPr>
          <p:cNvPr id="250" name="Text 248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Timeline · Milestones</a:t>
            </a:r>
            <a:endParaRPr lang="en-US" sz="500" dirty="0"/>
          </a:p>
        </p:txBody>
      </p:sp>
      <p:sp>
        <p:nvSpPr>
          <p:cNvPr id="251" name="Shape 249"/>
          <p:cNvSpPr/>
          <p:nvPr/>
        </p:nvSpPr>
        <p:spPr>
          <a:xfrm>
            <a:off x="938312" y="57736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99119" y="58431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Dashboard</a:t>
            </a:r>
            <a:endParaRPr lang="en-US" sz="650" dirty="0"/>
          </a:p>
        </p:txBody>
      </p:sp>
      <p:sp>
        <p:nvSpPr>
          <p:cNvPr id="254" name="Text 252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Monitoring · Dashboard · KPIs</a:t>
            </a:r>
            <a:endParaRPr lang="en-US" sz="500" dirty="0"/>
          </a:p>
        </p:txBody>
      </p:sp>
      <p:sp>
        <p:nvSpPr>
          <p:cNvPr id="255" name="Shape 253"/>
          <p:cNvSpPr/>
          <p:nvPr/>
        </p:nvSpPr>
        <p:spPr>
          <a:xfrm>
            <a:off x="2108561" y="579452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087712" y="58952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2219752" y="579452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2198903" y="58952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650" dirty="0"/>
          </a:p>
        </p:txBody>
      </p:sp>
      <p:sp>
        <p:nvSpPr>
          <p:cNvPr id="260" name="Text 258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· Care Teams · Cohort</a:t>
            </a:r>
            <a:endParaRPr lang="en-US" sz="500" dirty="0"/>
          </a:p>
        </p:txBody>
      </p:sp>
      <p:sp>
        <p:nvSpPr>
          <p:cNvPr id="261" name="Shape 259"/>
          <p:cNvSpPr/>
          <p:nvPr/>
        </p:nvSpPr>
        <p:spPr>
          <a:xfrm>
            <a:off x="3174568" y="5756300"/>
            <a:ext cx="295351" cy="295351"/>
          </a:xfrm>
          <a:prstGeom prst="irregularSeal1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650" dirty="0"/>
          </a:p>
        </p:txBody>
      </p:sp>
      <p:sp>
        <p:nvSpPr>
          <p:cNvPr id="263" name="Text 261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Approval · Certification · Compliance</a:t>
            </a:r>
            <a:endParaRPr lang="en-US" sz="500" dirty="0"/>
          </a:p>
        </p:txBody>
      </p:sp>
      <p:sp>
        <p:nvSpPr>
          <p:cNvPr id="264" name="Shape 262"/>
          <p:cNvSpPr/>
          <p:nvPr/>
        </p:nvSpPr>
        <p:spPr>
          <a:xfrm>
            <a:off x="4310070" y="574761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Biobank</a:t>
            </a:r>
            <a:endParaRPr lang="en-US" sz="650" dirty="0"/>
          </a:p>
        </p:txBody>
      </p:sp>
      <p:sp>
        <p:nvSpPr>
          <p:cNvPr id="266" name="Text 264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Biobank · Sample Storage · Cold Chain</a:t>
            </a:r>
            <a:endParaRPr lang="en-US" sz="500" dirty="0"/>
          </a:p>
        </p:txBody>
      </p:sp>
      <p:sp>
        <p:nvSpPr>
          <p:cNvPr id="267" name="Shape 265"/>
          <p:cNvSpPr/>
          <p:nvPr/>
        </p:nvSpPr>
        <p:spPr>
          <a:xfrm>
            <a:off x="5445572" y="5773674"/>
            <a:ext cx="191110" cy="260604"/>
          </a:xfrm>
          <a:prstGeom prst="teardrop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650" dirty="0"/>
          </a:p>
        </p:txBody>
      </p:sp>
      <p:sp>
        <p:nvSpPr>
          <p:cNvPr id="269" name="Text 267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· Liquid · Dosage</a:t>
            </a:r>
            <a:endParaRPr lang="en-US" sz="500" dirty="0"/>
          </a:p>
        </p:txBody>
      </p:sp>
      <p:sp>
        <p:nvSpPr>
          <p:cNvPr id="270" name="Shape 268"/>
          <p:cNvSpPr/>
          <p:nvPr/>
        </p:nvSpPr>
        <p:spPr>
          <a:xfrm>
            <a:off x="6511580" y="5773674"/>
            <a:ext cx="277978" cy="260604"/>
          </a:xfrm>
          <a:prstGeom prst="hear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</a:t>
            </a:r>
            <a:endParaRPr lang="en-US" sz="650" dirty="0"/>
          </a:p>
        </p:txBody>
      </p:sp>
      <p:sp>
        <p:nvSpPr>
          <p:cNvPr id="272" name="Text 270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Wellbeing · Outcomes</a:t>
            </a:r>
            <a:endParaRPr lang="en-US" sz="500" dirty="0"/>
          </a:p>
        </p:txBody>
      </p:sp>
      <p:sp>
        <p:nvSpPr>
          <p:cNvPr id="273" name="Shape 271"/>
          <p:cNvSpPr/>
          <p:nvPr/>
        </p:nvSpPr>
        <p:spPr>
          <a:xfrm rot="10800000">
            <a:off x="7664455" y="5764987"/>
            <a:ext cx="191110" cy="277978"/>
          </a:xfrm>
          <a:prstGeom prst="teardrop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650" dirty="0"/>
          </a:p>
        </p:txBody>
      </p:sp>
      <p:sp>
        <p:nvSpPr>
          <p:cNvPr id="275" name="Text 273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Site · Facility Location</a:t>
            </a:r>
            <a:endParaRPr lang="en-US" sz="500" dirty="0"/>
          </a:p>
        </p:txBody>
      </p:sp>
      <p:sp>
        <p:nvSpPr>
          <p:cNvPr id="276" name="Shape 274"/>
          <p:cNvSpPr/>
          <p:nvPr/>
        </p:nvSpPr>
        <p:spPr>
          <a:xfrm>
            <a:off x="8721776" y="5756300"/>
            <a:ext cx="295351" cy="295351"/>
          </a:xfrm>
          <a:prstGeom prst="star5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650" dirty="0"/>
          </a:p>
        </p:txBody>
      </p:sp>
      <p:sp>
        <p:nvSpPr>
          <p:cNvPr id="278" name="Text 276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Grade · Standard</a:t>
            </a:r>
            <a:endParaRPr lang="en-US" sz="500" dirty="0"/>
          </a:p>
        </p:txBody>
      </p:sp>
      <p:sp>
        <p:nvSpPr>
          <p:cNvPr id="279" name="Shape 277"/>
          <p:cNvSpPr/>
          <p:nvPr/>
        </p:nvSpPr>
        <p:spPr>
          <a:xfrm>
            <a:off x="9874651" y="5747614"/>
            <a:ext cx="208483" cy="312725"/>
          </a:xfrm>
          <a:prstGeom prst="verticalScroll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History</a:t>
            </a:r>
            <a:endParaRPr lang="en-US" sz="650" dirty="0"/>
          </a:p>
        </p:txBody>
      </p:sp>
      <p:sp>
        <p:nvSpPr>
          <p:cNvPr id="281" name="Text 279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History · Patient Record</a:t>
            </a:r>
            <a:endParaRPr lang="en-US" sz="500" dirty="0"/>
          </a:p>
        </p:txBody>
      </p:sp>
      <p:sp>
        <p:nvSpPr>
          <p:cNvPr id="282" name="Shape 280"/>
          <p:cNvSpPr/>
          <p:nvPr/>
        </p:nvSpPr>
        <p:spPr>
          <a:xfrm>
            <a:off x="11018840" y="573892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8DA0C2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1072698" y="6001268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84" name="Text 282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</a:t>
            </a:r>
            <a:endParaRPr lang="en-US" sz="650" dirty="0"/>
          </a:p>
        </p:txBody>
      </p:sp>
      <p:sp>
        <p:nvSpPr>
          <p:cNvPr id="285" name="Text 283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 Line · Contact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&amp; Industrial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46998" y="1480414"/>
            <a:ext cx="312725" cy="312725"/>
          </a:xfrm>
          <a:prstGeom prst="gear9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Operations · Machinery</a:t>
            </a:r>
            <a:endParaRPr lang="en-US" sz="500" dirty="0"/>
          </a:p>
        </p:txBody>
      </p:sp>
      <p:sp>
        <p:nvSpPr>
          <p:cNvPr id="7" name="Shape 5"/>
          <p:cNvSpPr/>
          <p:nvPr/>
        </p:nvSpPr>
        <p:spPr>
          <a:xfrm>
            <a:off x="2056440" y="1602029"/>
            <a:ext cx="312725" cy="156362"/>
          </a:xfrm>
          <a:prstGeom prst="rect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47753" y="1471727"/>
            <a:ext cx="330098" cy="130302"/>
          </a:xfrm>
          <a:prstGeom prst="triangl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0983" y="1436980"/>
            <a:ext cx="31272" cy="95555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0" name="Text 8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· Facility · Production</a:t>
            </a:r>
            <a:endParaRPr lang="en-US" sz="500" dirty="0"/>
          </a:p>
        </p:txBody>
      </p:sp>
      <p:sp>
        <p:nvSpPr>
          <p:cNvPr id="12" name="Shape 10"/>
          <p:cNvSpPr/>
          <p:nvPr/>
        </p:nvSpPr>
        <p:spPr>
          <a:xfrm>
            <a:off x="3165881" y="1584655"/>
            <a:ext cx="260604" cy="121615"/>
          </a:xfrm>
          <a:prstGeom prst="rect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6485" y="1628089"/>
            <a:ext cx="86868" cy="78181"/>
          </a:xfrm>
          <a:prstGeom prst="rect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97154" y="1694109"/>
            <a:ext cx="76444" cy="76444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4829" y="1694109"/>
            <a:ext cx="76444" cy="76444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Supply Chain · Distribution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4284010" y="1489100"/>
            <a:ext cx="295351" cy="295351"/>
          </a:xfrm>
          <a:prstGeom prst="cub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· Inventory · Product</a:t>
            </a:r>
            <a:endParaRPr lang="en-US" sz="500" dirty="0"/>
          </a:p>
        </p:txBody>
      </p:sp>
      <p:sp>
        <p:nvSpPr>
          <p:cNvPr id="21" name="Shape 19"/>
          <p:cNvSpPr/>
          <p:nvPr/>
        </p:nvSpPr>
        <p:spPr>
          <a:xfrm>
            <a:off x="5419512" y="14804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71632" y="1567282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5502905" y="1532534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71632" y="1645463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5502905" y="1610716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71632" y="1723644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5502905" y="1688897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· Inspection · Checklist</a:t>
            </a:r>
            <a:endParaRPr lang="en-US" sz="500" dirty="0"/>
          </a:p>
        </p:txBody>
      </p:sp>
      <p:sp>
        <p:nvSpPr>
          <p:cNvPr id="30" name="Shape 28"/>
          <p:cNvSpPr/>
          <p:nvPr/>
        </p:nvSpPr>
        <p:spPr>
          <a:xfrm rot="2700000">
            <a:off x="6555014" y="1612453"/>
            <a:ext cx="191110" cy="48646"/>
          </a:xfrm>
          <a:prstGeom prst="rect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6792" y="1502999"/>
            <a:ext cx="76444" cy="76444"/>
          </a:xfrm>
          <a:prstGeom prst="ellipse">
            <a:avLst/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07901" y="1694109"/>
            <a:ext cx="76444" cy="76444"/>
          </a:xfrm>
          <a:prstGeom prst="ellipse">
            <a:avLst/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· Repair · Service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7690515" y="1567282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6" name="Shape 34"/>
          <p:cNvSpPr/>
          <p:nvPr/>
        </p:nvSpPr>
        <p:spPr>
          <a:xfrm>
            <a:off x="7690515" y="1662836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7" name="Shape 35"/>
          <p:cNvSpPr/>
          <p:nvPr/>
        </p:nvSpPr>
        <p:spPr>
          <a:xfrm>
            <a:off x="7786070" y="1567282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8" name="Shape 36"/>
          <p:cNvSpPr/>
          <p:nvPr/>
        </p:nvSpPr>
        <p:spPr>
          <a:xfrm>
            <a:off x="7786070" y="1662836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9" name="Text 37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 · Work Cells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8747836" y="1480414"/>
            <a:ext cx="243230" cy="312725"/>
          </a:xfrm>
          <a:prstGeom prst="ca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· Storage · Silo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9839904" y="151516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39904" y="1593342"/>
            <a:ext cx="277978" cy="91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09399" y="1480414"/>
            <a:ext cx="17374" cy="52121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31014" y="1480414"/>
            <a:ext cx="17374" cy="52121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48" name="Text 46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Schedule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Schedule · Planning</a:t>
            </a:r>
            <a:endParaRPr lang="en-US" sz="500" dirty="0"/>
          </a:p>
        </p:txBody>
      </p:sp>
      <p:sp>
        <p:nvSpPr>
          <p:cNvPr id="50" name="Shape 48"/>
          <p:cNvSpPr/>
          <p:nvPr/>
        </p:nvSpPr>
        <p:spPr>
          <a:xfrm>
            <a:off x="10923285" y="15064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984093" y="15759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D4AF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Dashboard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Performance · OEE Dashboard</a:t>
            </a:r>
            <a:endParaRPr lang="en-US" sz="500" dirty="0"/>
          </a:p>
        </p:txBody>
      </p:sp>
      <p:sp>
        <p:nvSpPr>
          <p:cNvPr id="54" name="Shape 52"/>
          <p:cNvSpPr/>
          <p:nvPr/>
        </p:nvSpPr>
        <p:spPr>
          <a:xfrm>
            <a:off x="964372" y="2351227"/>
            <a:ext cx="277978" cy="277978"/>
          </a:xfrm>
          <a:prstGeom prst="octago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Hazard · Compliance</a:t>
            </a:r>
            <a:endParaRPr lang="en-US" sz="500" dirty="0"/>
          </a:p>
        </p:txBody>
      </p:sp>
      <p:sp>
        <p:nvSpPr>
          <p:cNvPr id="57" name="Shape 55"/>
          <p:cNvSpPr/>
          <p:nvPr/>
        </p:nvSpPr>
        <p:spPr>
          <a:xfrm>
            <a:off x="2065127" y="2342540"/>
            <a:ext cx="295351" cy="295351"/>
          </a:xfrm>
          <a:prstGeom prst="irregularSeal1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Certification · Standards</a:t>
            </a:r>
            <a:endParaRPr lang="en-US" sz="500" dirty="0"/>
          </a:p>
        </p:txBody>
      </p:sp>
      <p:sp>
        <p:nvSpPr>
          <p:cNvPr id="60" name="Shape 58"/>
          <p:cNvSpPr/>
          <p:nvPr/>
        </p:nvSpPr>
        <p:spPr>
          <a:xfrm>
            <a:off x="3178043" y="2424196"/>
            <a:ext cx="132039" cy="132039"/>
          </a:xfrm>
          <a:prstGeom prst="ellipse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04870" y="2490216"/>
            <a:ext cx="147676" cy="914"/>
          </a:xfrm>
          <a:prstGeom prst="line">
            <a:avLst/>
          </a:prstGeom>
          <a:noFill/>
          <a:ln w="20320">
            <a:solidFill>
              <a:srgbClr val="D4AF5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09112" y="2490216"/>
            <a:ext cx="914" cy="4343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47334" y="2490216"/>
            <a:ext cx="914" cy="4343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Access · Security</a:t>
            </a:r>
            <a:endParaRPr lang="en-US" sz="500" dirty="0"/>
          </a:p>
        </p:txBody>
      </p:sp>
      <p:sp>
        <p:nvSpPr>
          <p:cNvPr id="66" name="Shape 64"/>
          <p:cNvSpPr/>
          <p:nvPr/>
        </p:nvSpPr>
        <p:spPr>
          <a:xfrm>
            <a:off x="4327444" y="238076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306595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438635" y="238076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417786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· Labor · Shift Teams</a:t>
            </a:r>
            <a:endParaRPr lang="en-US" sz="500" dirty="0"/>
          </a:p>
        </p:txBody>
      </p:sp>
      <p:sp>
        <p:nvSpPr>
          <p:cNvPr id="72" name="Shape 70"/>
          <p:cNvSpPr/>
          <p:nvPr/>
        </p:nvSpPr>
        <p:spPr>
          <a:xfrm>
            <a:off x="5384764" y="2385974"/>
            <a:ext cx="312725" cy="208483"/>
          </a:xfrm>
          <a:prstGeom prst="chevro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· Sequence · Workflow</a:t>
            </a:r>
            <a:endParaRPr lang="en-US" sz="500" dirty="0"/>
          </a:p>
        </p:txBody>
      </p:sp>
      <p:sp>
        <p:nvSpPr>
          <p:cNvPr id="75" name="Shape 73"/>
          <p:cNvSpPr/>
          <p:nvPr/>
        </p:nvSpPr>
        <p:spPr>
          <a:xfrm>
            <a:off x="6546327" y="2333854"/>
            <a:ext cx="208483" cy="312725"/>
          </a:xfrm>
          <a:prstGeom prst="verticalScroll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· Traveler · Routing</a:t>
            </a:r>
            <a:endParaRPr lang="en-US" sz="500" dirty="0"/>
          </a:p>
        </p:txBody>
      </p:sp>
      <p:sp>
        <p:nvSpPr>
          <p:cNvPr id="78" name="Shape 76"/>
          <p:cNvSpPr/>
          <p:nvPr/>
        </p:nvSpPr>
        <p:spPr>
          <a:xfrm>
            <a:off x="7612334" y="2342540"/>
            <a:ext cx="295351" cy="295351"/>
          </a:xfrm>
          <a:prstGeom prst="cube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· SKU · Stock</a:t>
            </a:r>
            <a:endParaRPr lang="en-US" sz="500" dirty="0"/>
          </a:p>
        </p:txBody>
      </p:sp>
      <p:sp>
        <p:nvSpPr>
          <p:cNvPr id="81" name="Shape 79"/>
          <p:cNvSpPr/>
          <p:nvPr/>
        </p:nvSpPr>
        <p:spPr>
          <a:xfrm flipV="1">
            <a:off x="8773897" y="2464156"/>
            <a:ext cx="191110" cy="173736"/>
          </a:xfrm>
          <a:prstGeom prst="trapezoid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47836" y="2438095"/>
            <a:ext cx="243230" cy="2779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83" name="Text 81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Reduction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Reduction · Scrap · Lean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9822531" y="2333854"/>
            <a:ext cx="312725" cy="312725"/>
          </a:xfrm>
          <a:prstGeom prst="gear9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Operations · Machinery</a:t>
            </a:r>
            <a:endParaRPr lang="en-US" sz="500" dirty="0"/>
          </a:p>
        </p:txBody>
      </p:sp>
      <p:sp>
        <p:nvSpPr>
          <p:cNvPr id="88" name="Shape 86"/>
          <p:cNvSpPr/>
          <p:nvPr/>
        </p:nvSpPr>
        <p:spPr>
          <a:xfrm>
            <a:off x="10931972" y="2455469"/>
            <a:ext cx="312725" cy="156362"/>
          </a:xfrm>
          <a:prstGeom prst="rec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923285" y="2325167"/>
            <a:ext cx="330098" cy="130302"/>
          </a:xfrm>
          <a:prstGeom prst="triangl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166516" y="2290420"/>
            <a:ext cx="31272" cy="9555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91" name="Text 89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· Facility · Production</a:t>
            </a:r>
            <a:endParaRPr lang="en-US" sz="500" dirty="0"/>
          </a:p>
        </p:txBody>
      </p:sp>
      <p:sp>
        <p:nvSpPr>
          <p:cNvPr id="93" name="Shape 91"/>
          <p:cNvSpPr/>
          <p:nvPr/>
        </p:nvSpPr>
        <p:spPr>
          <a:xfrm>
            <a:off x="946998" y="3291535"/>
            <a:ext cx="260604" cy="121615"/>
          </a:xfrm>
          <a:prstGeom prst="rec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207602" y="3334969"/>
            <a:ext cx="86868" cy="78181"/>
          </a:xfrm>
          <a:prstGeom prst="rec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78271" y="3400989"/>
            <a:ext cx="76444" cy="76444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25946" y="3400989"/>
            <a:ext cx="76444" cy="76444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Supply Chain · Distribution</a:t>
            </a:r>
            <a:endParaRPr lang="en-US" sz="500" dirty="0"/>
          </a:p>
        </p:txBody>
      </p:sp>
      <p:sp>
        <p:nvSpPr>
          <p:cNvPr id="99" name="Shape 97"/>
          <p:cNvSpPr/>
          <p:nvPr/>
        </p:nvSpPr>
        <p:spPr>
          <a:xfrm>
            <a:off x="2065127" y="3195980"/>
            <a:ext cx="295351" cy="295351"/>
          </a:xfrm>
          <a:prstGeom prst="cub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· Inventory · Product</a:t>
            </a:r>
            <a:endParaRPr lang="en-US" sz="500" dirty="0"/>
          </a:p>
        </p:txBody>
      </p:sp>
      <p:sp>
        <p:nvSpPr>
          <p:cNvPr id="102" name="Shape 100"/>
          <p:cNvSpPr/>
          <p:nvPr/>
        </p:nvSpPr>
        <p:spPr>
          <a:xfrm>
            <a:off x="3200629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252749" y="327416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3284022" y="323941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252749" y="335234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3284022" y="331759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252749" y="343052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284022" y="339577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· Inspection · Checklist</a:t>
            </a:r>
            <a:endParaRPr lang="en-US" sz="500" dirty="0"/>
          </a:p>
        </p:txBody>
      </p:sp>
      <p:sp>
        <p:nvSpPr>
          <p:cNvPr id="111" name="Shape 109"/>
          <p:cNvSpPr/>
          <p:nvPr/>
        </p:nvSpPr>
        <p:spPr>
          <a:xfrm rot="2700000">
            <a:off x="4336131" y="3319333"/>
            <a:ext cx="191110" cy="48646"/>
          </a:xfrm>
          <a:prstGeom prst="rec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97909" y="3209879"/>
            <a:ext cx="76444" cy="76444"/>
          </a:xfrm>
          <a:prstGeom prst="ellipse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489018" y="3400989"/>
            <a:ext cx="76444" cy="76444"/>
          </a:xfrm>
          <a:prstGeom prst="ellipse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· Repair · Service</a:t>
            </a:r>
            <a:endParaRPr lang="en-US" sz="500" dirty="0"/>
          </a:p>
        </p:txBody>
      </p:sp>
      <p:sp>
        <p:nvSpPr>
          <p:cNvPr id="116" name="Shape 114"/>
          <p:cNvSpPr/>
          <p:nvPr/>
        </p:nvSpPr>
        <p:spPr>
          <a:xfrm>
            <a:off x="5471632" y="327416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471632" y="336971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567187" y="327416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567187" y="336971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20" name="Text 118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 · Work Cells</a:t>
            </a:r>
            <a:endParaRPr lang="en-US" sz="500" dirty="0"/>
          </a:p>
        </p:txBody>
      </p:sp>
      <p:sp>
        <p:nvSpPr>
          <p:cNvPr id="122" name="Shape 120"/>
          <p:cNvSpPr/>
          <p:nvPr/>
        </p:nvSpPr>
        <p:spPr>
          <a:xfrm>
            <a:off x="6528953" y="318729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· Storage · Silo</a:t>
            </a:r>
            <a:endParaRPr lang="en-US" sz="500" dirty="0"/>
          </a:p>
        </p:txBody>
      </p:sp>
      <p:sp>
        <p:nvSpPr>
          <p:cNvPr id="125" name="Shape 123"/>
          <p:cNvSpPr/>
          <p:nvPr/>
        </p:nvSpPr>
        <p:spPr>
          <a:xfrm>
            <a:off x="7621021" y="322204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621021" y="3300222"/>
            <a:ext cx="277978" cy="91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690515" y="318729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28" name="Shape 126"/>
          <p:cNvSpPr/>
          <p:nvPr/>
        </p:nvSpPr>
        <p:spPr>
          <a:xfrm>
            <a:off x="7812131" y="318729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29" name="Text 127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Schedule</a:t>
            </a:r>
            <a:endParaRPr lang="en-US" sz="650" dirty="0"/>
          </a:p>
        </p:txBody>
      </p:sp>
      <p:sp>
        <p:nvSpPr>
          <p:cNvPr id="130" name="Text 128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Schedule · Planning</a:t>
            </a:r>
            <a:endParaRPr lang="en-US" sz="500" dirty="0"/>
          </a:p>
        </p:txBody>
      </p:sp>
      <p:sp>
        <p:nvSpPr>
          <p:cNvPr id="131" name="Shape 129"/>
          <p:cNvSpPr/>
          <p:nvPr/>
        </p:nvSpPr>
        <p:spPr>
          <a:xfrm>
            <a:off x="8704402" y="321335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765210" y="328284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Dashboard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Performance · OEE Dashboard</a:t>
            </a:r>
            <a:endParaRPr lang="en-US" sz="500" dirty="0"/>
          </a:p>
        </p:txBody>
      </p:sp>
      <p:sp>
        <p:nvSpPr>
          <p:cNvPr id="135" name="Shape 133"/>
          <p:cNvSpPr/>
          <p:nvPr/>
        </p:nvSpPr>
        <p:spPr>
          <a:xfrm>
            <a:off x="9839904" y="3204667"/>
            <a:ext cx="277978" cy="277978"/>
          </a:xfrm>
          <a:prstGeom prst="octag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Hazard · Compliance</a:t>
            </a:r>
            <a:endParaRPr lang="en-US" sz="500" dirty="0"/>
          </a:p>
        </p:txBody>
      </p:sp>
      <p:sp>
        <p:nvSpPr>
          <p:cNvPr id="138" name="Shape 136"/>
          <p:cNvSpPr/>
          <p:nvPr/>
        </p:nvSpPr>
        <p:spPr>
          <a:xfrm>
            <a:off x="10940659" y="3195980"/>
            <a:ext cx="295351" cy="295351"/>
          </a:xfrm>
          <a:prstGeom prst="irregularSeal1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650" dirty="0"/>
          </a:p>
        </p:txBody>
      </p:sp>
      <p:sp>
        <p:nvSpPr>
          <p:cNvPr id="140" name="Text 138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Certification · Standards</a:t>
            </a:r>
            <a:endParaRPr lang="en-US" sz="500" dirty="0"/>
          </a:p>
        </p:txBody>
      </p:sp>
      <p:sp>
        <p:nvSpPr>
          <p:cNvPr id="141" name="Shape 139"/>
          <p:cNvSpPr/>
          <p:nvPr/>
        </p:nvSpPr>
        <p:spPr>
          <a:xfrm>
            <a:off x="959160" y="4131076"/>
            <a:ext cx="132039" cy="132039"/>
          </a:xfrm>
          <a:prstGeom prst="ellips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85987" y="4197096"/>
            <a:ext cx="147676" cy="914"/>
          </a:xfrm>
          <a:prstGeom prst="line">
            <a:avLst/>
          </a:prstGeom>
          <a:noFill/>
          <a:ln w="20320">
            <a:solidFill>
              <a:srgbClr val="8DA0C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90229" y="419709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228451" y="419709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650" dirty="0"/>
          </a:p>
        </p:txBody>
      </p:sp>
      <p:sp>
        <p:nvSpPr>
          <p:cNvPr id="146" name="Text 144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Access · Security</a:t>
            </a:r>
            <a:endParaRPr lang="en-US" sz="500" dirty="0"/>
          </a:p>
        </p:txBody>
      </p:sp>
      <p:sp>
        <p:nvSpPr>
          <p:cNvPr id="147" name="Shape 145"/>
          <p:cNvSpPr/>
          <p:nvPr/>
        </p:nvSpPr>
        <p:spPr>
          <a:xfrm>
            <a:off x="2108561" y="408764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087712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219752" y="408764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198903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650" dirty="0"/>
          </a:p>
        </p:txBody>
      </p:sp>
      <p:sp>
        <p:nvSpPr>
          <p:cNvPr id="152" name="Text 150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· Labor · Shift Teams</a:t>
            </a:r>
            <a:endParaRPr lang="en-US" sz="500" dirty="0"/>
          </a:p>
        </p:txBody>
      </p:sp>
      <p:sp>
        <p:nvSpPr>
          <p:cNvPr id="153" name="Shape 151"/>
          <p:cNvSpPr/>
          <p:nvPr/>
        </p:nvSpPr>
        <p:spPr>
          <a:xfrm>
            <a:off x="3165881" y="4092854"/>
            <a:ext cx="312725" cy="208483"/>
          </a:xfrm>
          <a:prstGeom prst="chevr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650" dirty="0"/>
          </a:p>
        </p:txBody>
      </p:sp>
      <p:sp>
        <p:nvSpPr>
          <p:cNvPr id="155" name="Text 153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· Sequence · Workflow</a:t>
            </a:r>
            <a:endParaRPr lang="en-US" sz="500" dirty="0"/>
          </a:p>
        </p:txBody>
      </p:sp>
      <p:sp>
        <p:nvSpPr>
          <p:cNvPr id="156" name="Shape 154"/>
          <p:cNvSpPr/>
          <p:nvPr/>
        </p:nvSpPr>
        <p:spPr>
          <a:xfrm>
            <a:off x="4327444" y="4040734"/>
            <a:ext cx="208483" cy="312725"/>
          </a:xfrm>
          <a:prstGeom prst="verticalScroll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</a:t>
            </a:r>
            <a:endParaRPr lang="en-US" sz="650" dirty="0"/>
          </a:p>
        </p:txBody>
      </p:sp>
      <p:sp>
        <p:nvSpPr>
          <p:cNvPr id="158" name="Text 156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· Traveler · Routing</a:t>
            </a:r>
            <a:endParaRPr lang="en-US" sz="500" dirty="0"/>
          </a:p>
        </p:txBody>
      </p:sp>
      <p:sp>
        <p:nvSpPr>
          <p:cNvPr id="159" name="Shape 157"/>
          <p:cNvSpPr/>
          <p:nvPr/>
        </p:nvSpPr>
        <p:spPr>
          <a:xfrm>
            <a:off x="5393451" y="4049420"/>
            <a:ext cx="295351" cy="295351"/>
          </a:xfrm>
          <a:prstGeom prst="cub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650" dirty="0"/>
          </a:p>
        </p:txBody>
      </p:sp>
      <p:sp>
        <p:nvSpPr>
          <p:cNvPr id="161" name="Text 159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· SKU · Stock</a:t>
            </a:r>
            <a:endParaRPr lang="en-US" sz="500" dirty="0"/>
          </a:p>
        </p:txBody>
      </p:sp>
      <p:sp>
        <p:nvSpPr>
          <p:cNvPr id="162" name="Shape 160"/>
          <p:cNvSpPr/>
          <p:nvPr/>
        </p:nvSpPr>
        <p:spPr>
          <a:xfrm flipV="1">
            <a:off x="6555014" y="4171036"/>
            <a:ext cx="191110" cy="173736"/>
          </a:xfrm>
          <a:prstGeom prst="trapezoid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528953" y="4144975"/>
            <a:ext cx="243230" cy="2779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64" name="Text 162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Reduction</a:t>
            </a:r>
            <a:endParaRPr lang="en-US" sz="650" dirty="0"/>
          </a:p>
        </p:txBody>
      </p:sp>
      <p:sp>
        <p:nvSpPr>
          <p:cNvPr id="165" name="Text 163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Reduction · Scrap · Lean</a:t>
            </a:r>
            <a:endParaRPr lang="en-US" sz="500" dirty="0"/>
          </a:p>
        </p:txBody>
      </p:sp>
      <p:sp>
        <p:nvSpPr>
          <p:cNvPr id="166" name="Shape 164"/>
          <p:cNvSpPr/>
          <p:nvPr/>
        </p:nvSpPr>
        <p:spPr>
          <a:xfrm>
            <a:off x="7603647" y="4040734"/>
            <a:ext cx="312725" cy="312725"/>
          </a:xfrm>
          <a:prstGeom prst="gear9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Operations · Machinery</a:t>
            </a:r>
            <a:endParaRPr lang="en-US" sz="500" dirty="0"/>
          </a:p>
        </p:txBody>
      </p:sp>
      <p:sp>
        <p:nvSpPr>
          <p:cNvPr id="169" name="Shape 167"/>
          <p:cNvSpPr/>
          <p:nvPr/>
        </p:nvSpPr>
        <p:spPr>
          <a:xfrm>
            <a:off x="8713089" y="4162349"/>
            <a:ext cx="312725" cy="156362"/>
          </a:xfrm>
          <a:prstGeom prst="rec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704402" y="4032047"/>
            <a:ext cx="330098" cy="130302"/>
          </a:xfrm>
          <a:prstGeom prst="triangl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947633" y="3997300"/>
            <a:ext cx="31272" cy="9555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72" name="Text 170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650" dirty="0"/>
          </a:p>
        </p:txBody>
      </p:sp>
      <p:sp>
        <p:nvSpPr>
          <p:cNvPr id="173" name="Text 171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· Facility · Production</a:t>
            </a:r>
            <a:endParaRPr lang="en-US" sz="500" dirty="0"/>
          </a:p>
        </p:txBody>
      </p:sp>
      <p:sp>
        <p:nvSpPr>
          <p:cNvPr id="174" name="Shape 172"/>
          <p:cNvSpPr/>
          <p:nvPr/>
        </p:nvSpPr>
        <p:spPr>
          <a:xfrm>
            <a:off x="9822531" y="4144975"/>
            <a:ext cx="260604" cy="121615"/>
          </a:xfrm>
          <a:prstGeom prst="rec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083135" y="4188409"/>
            <a:ext cx="86868" cy="78181"/>
          </a:xfrm>
          <a:prstGeom prst="rec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9853803" y="4254429"/>
            <a:ext cx="76444" cy="76444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001479" y="4254429"/>
            <a:ext cx="76444" cy="76444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650" dirty="0"/>
          </a:p>
        </p:txBody>
      </p:sp>
      <p:sp>
        <p:nvSpPr>
          <p:cNvPr id="179" name="Text 177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Supply Chain · Distribution</a:t>
            </a:r>
            <a:endParaRPr lang="en-US" sz="500" dirty="0"/>
          </a:p>
        </p:txBody>
      </p:sp>
      <p:sp>
        <p:nvSpPr>
          <p:cNvPr id="180" name="Shape 178"/>
          <p:cNvSpPr/>
          <p:nvPr/>
        </p:nvSpPr>
        <p:spPr>
          <a:xfrm>
            <a:off x="10940659" y="4049420"/>
            <a:ext cx="295351" cy="295351"/>
          </a:xfrm>
          <a:prstGeom prst="cub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· Inventory · Product</a:t>
            </a:r>
            <a:endParaRPr lang="en-US" sz="500" dirty="0"/>
          </a:p>
        </p:txBody>
      </p:sp>
      <p:sp>
        <p:nvSpPr>
          <p:cNvPr id="183" name="Shape 181"/>
          <p:cNvSpPr/>
          <p:nvPr/>
        </p:nvSpPr>
        <p:spPr>
          <a:xfrm>
            <a:off x="981746" y="489417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033866" y="498104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flipV="1">
            <a:off x="1065139" y="494629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33866" y="505922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1065139" y="502447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33866" y="513740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1065139" y="510265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650" dirty="0"/>
          </a:p>
        </p:txBody>
      </p:sp>
      <p:sp>
        <p:nvSpPr>
          <p:cNvPr id="191" name="Text 189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· Inspection · Checklist</a:t>
            </a:r>
            <a:endParaRPr lang="en-US" sz="500" dirty="0"/>
          </a:p>
        </p:txBody>
      </p:sp>
      <p:sp>
        <p:nvSpPr>
          <p:cNvPr id="192" name="Shape 190"/>
          <p:cNvSpPr/>
          <p:nvPr/>
        </p:nvSpPr>
        <p:spPr>
          <a:xfrm rot="2700000">
            <a:off x="2117247" y="5026213"/>
            <a:ext cx="191110" cy="48646"/>
          </a:xfrm>
          <a:prstGeom prst="rec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079026" y="4916759"/>
            <a:ext cx="76444" cy="76444"/>
          </a:xfrm>
          <a:prstGeom prst="ellipse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2270135" y="5107869"/>
            <a:ext cx="76444" cy="76444"/>
          </a:xfrm>
          <a:prstGeom prst="ellipse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650" dirty="0"/>
          </a:p>
        </p:txBody>
      </p:sp>
      <p:sp>
        <p:nvSpPr>
          <p:cNvPr id="196" name="Text 194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· Repair · Service</a:t>
            </a:r>
            <a:endParaRPr lang="en-US" sz="500" dirty="0"/>
          </a:p>
        </p:txBody>
      </p:sp>
      <p:sp>
        <p:nvSpPr>
          <p:cNvPr id="197" name="Shape 195"/>
          <p:cNvSpPr/>
          <p:nvPr/>
        </p:nvSpPr>
        <p:spPr>
          <a:xfrm>
            <a:off x="3252749" y="498104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98" name="Shape 196"/>
          <p:cNvSpPr/>
          <p:nvPr/>
        </p:nvSpPr>
        <p:spPr>
          <a:xfrm>
            <a:off x="3252749" y="507659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99" name="Shape 197"/>
          <p:cNvSpPr/>
          <p:nvPr/>
        </p:nvSpPr>
        <p:spPr>
          <a:xfrm>
            <a:off x="3348304" y="498104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00" name="Shape 198"/>
          <p:cNvSpPr/>
          <p:nvPr/>
        </p:nvSpPr>
        <p:spPr>
          <a:xfrm>
            <a:off x="3348304" y="507659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01" name="Text 199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</a:t>
            </a:r>
            <a:endParaRPr lang="en-US" sz="650" dirty="0"/>
          </a:p>
        </p:txBody>
      </p:sp>
      <p:sp>
        <p:nvSpPr>
          <p:cNvPr id="202" name="Text 200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 · Work Cells</a:t>
            </a:r>
            <a:endParaRPr lang="en-US" sz="500" dirty="0"/>
          </a:p>
        </p:txBody>
      </p:sp>
      <p:sp>
        <p:nvSpPr>
          <p:cNvPr id="203" name="Shape 201"/>
          <p:cNvSpPr/>
          <p:nvPr/>
        </p:nvSpPr>
        <p:spPr>
          <a:xfrm>
            <a:off x="4310070" y="489417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650" dirty="0"/>
          </a:p>
        </p:txBody>
      </p:sp>
      <p:sp>
        <p:nvSpPr>
          <p:cNvPr id="205" name="Text 203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· Storage · Silo</a:t>
            </a:r>
            <a:endParaRPr lang="en-US" sz="500" dirty="0"/>
          </a:p>
        </p:txBody>
      </p:sp>
      <p:sp>
        <p:nvSpPr>
          <p:cNvPr id="206" name="Shape 204"/>
          <p:cNvSpPr/>
          <p:nvPr/>
        </p:nvSpPr>
        <p:spPr>
          <a:xfrm>
            <a:off x="5402138" y="492892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5402138" y="5007102"/>
            <a:ext cx="277978" cy="91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5471632" y="489417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09" name="Shape 207"/>
          <p:cNvSpPr/>
          <p:nvPr/>
        </p:nvSpPr>
        <p:spPr>
          <a:xfrm>
            <a:off x="5593248" y="489417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10" name="Text 208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Schedule</a:t>
            </a:r>
            <a:endParaRPr lang="en-US" sz="650" dirty="0"/>
          </a:p>
        </p:txBody>
      </p:sp>
      <p:sp>
        <p:nvSpPr>
          <p:cNvPr id="211" name="Text 209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Schedule · Planning</a:t>
            </a:r>
            <a:endParaRPr lang="en-US" sz="500" dirty="0"/>
          </a:p>
        </p:txBody>
      </p:sp>
      <p:sp>
        <p:nvSpPr>
          <p:cNvPr id="212" name="Shape 210"/>
          <p:cNvSpPr/>
          <p:nvPr/>
        </p:nvSpPr>
        <p:spPr>
          <a:xfrm>
            <a:off x="6485519" y="492023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546327" y="498972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Dashboard</a:t>
            </a:r>
            <a:endParaRPr lang="en-US" sz="650" dirty="0"/>
          </a:p>
        </p:txBody>
      </p:sp>
      <p:sp>
        <p:nvSpPr>
          <p:cNvPr id="215" name="Text 213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Performance · OEE Dashboard</a:t>
            </a:r>
            <a:endParaRPr lang="en-US" sz="500" dirty="0"/>
          </a:p>
        </p:txBody>
      </p:sp>
      <p:sp>
        <p:nvSpPr>
          <p:cNvPr id="216" name="Shape 214"/>
          <p:cNvSpPr/>
          <p:nvPr/>
        </p:nvSpPr>
        <p:spPr>
          <a:xfrm>
            <a:off x="7621021" y="4911547"/>
            <a:ext cx="277978" cy="277978"/>
          </a:xfrm>
          <a:prstGeom prst="octag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650" dirty="0"/>
          </a:p>
        </p:txBody>
      </p:sp>
      <p:sp>
        <p:nvSpPr>
          <p:cNvPr id="218" name="Text 216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Hazard · Compliance</a:t>
            </a:r>
            <a:endParaRPr lang="en-US" sz="500" dirty="0"/>
          </a:p>
        </p:txBody>
      </p:sp>
      <p:sp>
        <p:nvSpPr>
          <p:cNvPr id="219" name="Shape 217"/>
          <p:cNvSpPr/>
          <p:nvPr/>
        </p:nvSpPr>
        <p:spPr>
          <a:xfrm>
            <a:off x="8721776" y="4902860"/>
            <a:ext cx="295351" cy="295351"/>
          </a:xfrm>
          <a:prstGeom prst="irregularSeal1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650" dirty="0"/>
          </a:p>
        </p:txBody>
      </p:sp>
      <p:sp>
        <p:nvSpPr>
          <p:cNvPr id="221" name="Text 219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Certification · Standards</a:t>
            </a:r>
            <a:endParaRPr lang="en-US" sz="500" dirty="0"/>
          </a:p>
        </p:txBody>
      </p:sp>
      <p:sp>
        <p:nvSpPr>
          <p:cNvPr id="222" name="Shape 220"/>
          <p:cNvSpPr/>
          <p:nvPr/>
        </p:nvSpPr>
        <p:spPr>
          <a:xfrm>
            <a:off x="9834692" y="4984516"/>
            <a:ext cx="132039" cy="132039"/>
          </a:xfrm>
          <a:prstGeom prst="ellips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961519" y="5050536"/>
            <a:ext cx="147676" cy="914"/>
          </a:xfrm>
          <a:prstGeom prst="line">
            <a:avLst/>
          </a:prstGeom>
          <a:noFill/>
          <a:ln w="20320">
            <a:solidFill>
              <a:srgbClr val="8DA0C2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065761" y="505053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103983" y="505053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650" dirty="0"/>
          </a:p>
        </p:txBody>
      </p:sp>
      <p:sp>
        <p:nvSpPr>
          <p:cNvPr id="227" name="Text 225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Access · Security</a:t>
            </a:r>
            <a:endParaRPr lang="en-US" sz="500" dirty="0"/>
          </a:p>
        </p:txBody>
      </p:sp>
      <p:sp>
        <p:nvSpPr>
          <p:cNvPr id="228" name="Shape 226"/>
          <p:cNvSpPr/>
          <p:nvPr/>
        </p:nvSpPr>
        <p:spPr>
          <a:xfrm>
            <a:off x="10984093" y="494108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963245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095284" y="494108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74436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650" dirty="0"/>
          </a:p>
        </p:txBody>
      </p:sp>
      <p:sp>
        <p:nvSpPr>
          <p:cNvPr id="233" name="Text 231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· Labor · Shift Teams</a:t>
            </a:r>
            <a:endParaRPr lang="en-US" sz="500" dirty="0"/>
          </a:p>
        </p:txBody>
      </p:sp>
      <p:sp>
        <p:nvSpPr>
          <p:cNvPr id="234" name="Shape 232"/>
          <p:cNvSpPr/>
          <p:nvPr/>
        </p:nvSpPr>
        <p:spPr>
          <a:xfrm>
            <a:off x="946998" y="5799734"/>
            <a:ext cx="312725" cy="208483"/>
          </a:xfrm>
          <a:prstGeom prst="chevr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650" dirty="0"/>
          </a:p>
        </p:txBody>
      </p:sp>
      <p:sp>
        <p:nvSpPr>
          <p:cNvPr id="236" name="Text 234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· Sequence · Workflow</a:t>
            </a:r>
            <a:endParaRPr lang="en-US" sz="500" dirty="0"/>
          </a:p>
        </p:txBody>
      </p:sp>
      <p:sp>
        <p:nvSpPr>
          <p:cNvPr id="237" name="Shape 235"/>
          <p:cNvSpPr/>
          <p:nvPr/>
        </p:nvSpPr>
        <p:spPr>
          <a:xfrm>
            <a:off x="2108561" y="5747614"/>
            <a:ext cx="208483" cy="312725"/>
          </a:xfrm>
          <a:prstGeom prst="verticalScroll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</a:t>
            </a:r>
            <a:endParaRPr lang="en-US" sz="650" dirty="0"/>
          </a:p>
        </p:txBody>
      </p:sp>
      <p:sp>
        <p:nvSpPr>
          <p:cNvPr id="239" name="Text 237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· Traveler · Routing</a:t>
            </a:r>
            <a:endParaRPr lang="en-US" sz="500" dirty="0"/>
          </a:p>
        </p:txBody>
      </p:sp>
      <p:sp>
        <p:nvSpPr>
          <p:cNvPr id="240" name="Shape 238"/>
          <p:cNvSpPr/>
          <p:nvPr/>
        </p:nvSpPr>
        <p:spPr>
          <a:xfrm>
            <a:off x="3174568" y="5756300"/>
            <a:ext cx="295351" cy="295351"/>
          </a:xfrm>
          <a:prstGeom prst="cub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650" dirty="0"/>
          </a:p>
        </p:txBody>
      </p:sp>
      <p:sp>
        <p:nvSpPr>
          <p:cNvPr id="242" name="Text 240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· SKU · Stock</a:t>
            </a:r>
            <a:endParaRPr lang="en-US" sz="500" dirty="0"/>
          </a:p>
        </p:txBody>
      </p:sp>
      <p:sp>
        <p:nvSpPr>
          <p:cNvPr id="243" name="Shape 241"/>
          <p:cNvSpPr/>
          <p:nvPr/>
        </p:nvSpPr>
        <p:spPr>
          <a:xfrm flipV="1">
            <a:off x="4336131" y="5877916"/>
            <a:ext cx="191110" cy="173736"/>
          </a:xfrm>
          <a:prstGeom prst="trapezoid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4310070" y="5851855"/>
            <a:ext cx="243230" cy="2779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45" name="Text 243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Reduction</a:t>
            </a:r>
            <a:endParaRPr lang="en-US" sz="650" dirty="0"/>
          </a:p>
        </p:txBody>
      </p:sp>
      <p:sp>
        <p:nvSpPr>
          <p:cNvPr id="246" name="Text 244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Reduction · Scrap · Lean</a:t>
            </a:r>
            <a:endParaRPr lang="en-US" sz="500" dirty="0"/>
          </a:p>
        </p:txBody>
      </p:sp>
      <p:sp>
        <p:nvSpPr>
          <p:cNvPr id="247" name="Shape 245"/>
          <p:cNvSpPr/>
          <p:nvPr/>
        </p:nvSpPr>
        <p:spPr>
          <a:xfrm>
            <a:off x="5384764" y="5747614"/>
            <a:ext cx="312725" cy="312725"/>
          </a:xfrm>
          <a:prstGeom prst="gear9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650" dirty="0"/>
          </a:p>
        </p:txBody>
      </p:sp>
      <p:sp>
        <p:nvSpPr>
          <p:cNvPr id="249" name="Text 247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Operations · Machinery</a:t>
            </a:r>
            <a:endParaRPr lang="en-US" sz="500" dirty="0"/>
          </a:p>
        </p:txBody>
      </p:sp>
      <p:sp>
        <p:nvSpPr>
          <p:cNvPr id="250" name="Shape 248"/>
          <p:cNvSpPr/>
          <p:nvPr/>
        </p:nvSpPr>
        <p:spPr>
          <a:xfrm>
            <a:off x="6494206" y="5869229"/>
            <a:ext cx="312725" cy="156362"/>
          </a:xfrm>
          <a:prstGeom prst="rec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6485519" y="5738927"/>
            <a:ext cx="330098" cy="130302"/>
          </a:xfrm>
          <a:prstGeom prst="triangl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728750" y="5704180"/>
            <a:ext cx="31272" cy="9555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53" name="Text 251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650" dirty="0"/>
          </a:p>
        </p:txBody>
      </p:sp>
      <p:sp>
        <p:nvSpPr>
          <p:cNvPr id="254" name="Text 252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· Facility · Production</a:t>
            </a:r>
            <a:endParaRPr lang="en-US" sz="500" dirty="0"/>
          </a:p>
        </p:txBody>
      </p:sp>
      <p:sp>
        <p:nvSpPr>
          <p:cNvPr id="255" name="Shape 253"/>
          <p:cNvSpPr/>
          <p:nvPr/>
        </p:nvSpPr>
        <p:spPr>
          <a:xfrm>
            <a:off x="7603647" y="5851855"/>
            <a:ext cx="260604" cy="121615"/>
          </a:xfrm>
          <a:prstGeom prst="rec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7864251" y="5895289"/>
            <a:ext cx="86868" cy="78181"/>
          </a:xfrm>
          <a:prstGeom prst="rec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7634920" y="5961309"/>
            <a:ext cx="76444" cy="76444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782596" y="5961309"/>
            <a:ext cx="76444" cy="76444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650" dirty="0"/>
          </a:p>
        </p:txBody>
      </p:sp>
      <p:sp>
        <p:nvSpPr>
          <p:cNvPr id="260" name="Text 258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Supply Chain · Distribution</a:t>
            </a:r>
            <a:endParaRPr lang="en-US" sz="500" dirty="0"/>
          </a:p>
        </p:txBody>
      </p:sp>
      <p:sp>
        <p:nvSpPr>
          <p:cNvPr id="261" name="Shape 259"/>
          <p:cNvSpPr/>
          <p:nvPr/>
        </p:nvSpPr>
        <p:spPr>
          <a:xfrm>
            <a:off x="8721776" y="5756300"/>
            <a:ext cx="295351" cy="295351"/>
          </a:xfrm>
          <a:prstGeom prst="cub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650" dirty="0"/>
          </a:p>
        </p:txBody>
      </p:sp>
      <p:sp>
        <p:nvSpPr>
          <p:cNvPr id="263" name="Text 261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· Inventory · Product</a:t>
            </a:r>
            <a:endParaRPr lang="en-US" sz="500" dirty="0"/>
          </a:p>
        </p:txBody>
      </p:sp>
      <p:sp>
        <p:nvSpPr>
          <p:cNvPr id="264" name="Shape 262"/>
          <p:cNvSpPr/>
          <p:nvPr/>
        </p:nvSpPr>
        <p:spPr>
          <a:xfrm>
            <a:off x="9857278" y="57476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909399" y="583448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flipV="1">
            <a:off x="9940671" y="579973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9909399" y="591266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 flipV="1">
            <a:off x="9940671" y="587791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9909399" y="599084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 flipV="1">
            <a:off x="9940671" y="595609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650" dirty="0"/>
          </a:p>
        </p:txBody>
      </p:sp>
      <p:sp>
        <p:nvSpPr>
          <p:cNvPr id="272" name="Text 270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· Inspection · Checklist</a:t>
            </a:r>
            <a:endParaRPr lang="en-US" sz="500" dirty="0"/>
          </a:p>
        </p:txBody>
      </p:sp>
      <p:sp>
        <p:nvSpPr>
          <p:cNvPr id="273" name="Shape 271"/>
          <p:cNvSpPr/>
          <p:nvPr/>
        </p:nvSpPr>
        <p:spPr>
          <a:xfrm rot="2700000">
            <a:off x="10992780" y="5879653"/>
            <a:ext cx="191110" cy="48646"/>
          </a:xfrm>
          <a:prstGeom prst="rec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954558" y="5770199"/>
            <a:ext cx="76444" cy="76444"/>
          </a:xfrm>
          <a:prstGeom prst="ellipse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1145667" y="5961309"/>
            <a:ext cx="76444" cy="76444"/>
          </a:xfrm>
          <a:prstGeom prst="ellipse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650" dirty="0"/>
          </a:p>
        </p:txBody>
      </p:sp>
      <p:sp>
        <p:nvSpPr>
          <p:cNvPr id="277" name="Text 275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· Repair · Service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Telecom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38312" y="1523848"/>
            <a:ext cx="330098" cy="225857"/>
          </a:xfrm>
          <a:prstGeom prst="cloud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Infrastructure · SaaS</a:t>
            </a:r>
            <a:endParaRPr lang="en-US" sz="500" dirty="0"/>
          </a:p>
        </p:txBody>
      </p:sp>
      <p:sp>
        <p:nvSpPr>
          <p:cNvPr id="7" name="Shape 5"/>
          <p:cNvSpPr/>
          <p:nvPr/>
        </p:nvSpPr>
        <p:spPr>
          <a:xfrm>
            <a:off x="2191954" y="1711482"/>
            <a:ext cx="41697" cy="41697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8" name="Shape 6"/>
          <p:cNvSpPr/>
          <p:nvPr/>
        </p:nvSpPr>
        <p:spPr>
          <a:xfrm>
            <a:off x="2125934" y="1645463"/>
            <a:ext cx="173736" cy="17373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65127" y="1584655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04319" y="1523848"/>
            <a:ext cx="416966" cy="41696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· Network · Telecom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3174568" y="1489100"/>
            <a:ext cx="295351" cy="295351"/>
          </a:xfrm>
          <a:prstGeom prst="roundRect">
            <a:avLst>
              <a:gd name="adj" fmla="val 24768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6689" y="1558595"/>
            <a:ext cx="191110" cy="17374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3226689" y="1628089"/>
            <a:ext cx="191110" cy="17374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6" name="Shape 14"/>
          <p:cNvSpPr/>
          <p:nvPr/>
        </p:nvSpPr>
        <p:spPr>
          <a:xfrm>
            <a:off x="3226689" y="1697584"/>
            <a:ext cx="191110" cy="17374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7" name="Text 15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IT · Digital</a:t>
            </a:r>
            <a:endParaRPr lang="en-US" sz="500" dirty="0"/>
          </a:p>
        </p:txBody>
      </p:sp>
      <p:sp>
        <p:nvSpPr>
          <p:cNvPr id="19" name="Shape 17"/>
          <p:cNvSpPr/>
          <p:nvPr/>
        </p:nvSpPr>
        <p:spPr>
          <a:xfrm>
            <a:off x="4327444" y="1471727"/>
            <a:ext cx="208483" cy="208483"/>
          </a:xfrm>
          <a:prstGeom prst="ellips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79565" y="1671523"/>
            <a:ext cx="104242" cy="60808"/>
          </a:xfrm>
          <a:prstGeom prst="rect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· Technology · R&amp;D</a:t>
            </a:r>
            <a:endParaRPr lang="en-US" sz="500" dirty="0"/>
          </a:p>
        </p:txBody>
      </p:sp>
      <p:sp>
        <p:nvSpPr>
          <p:cNvPr id="23" name="Shape 21"/>
          <p:cNvSpPr/>
          <p:nvPr/>
        </p:nvSpPr>
        <p:spPr>
          <a:xfrm>
            <a:off x="5393451" y="148910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· Wireless · Telecom</a:t>
            </a:r>
            <a:endParaRPr lang="en-US" sz="500" dirty="0"/>
          </a:p>
        </p:txBody>
      </p:sp>
      <p:sp>
        <p:nvSpPr>
          <p:cNvPr id="26" name="Shape 24"/>
          <p:cNvSpPr/>
          <p:nvPr/>
        </p:nvSpPr>
        <p:spPr>
          <a:xfrm>
            <a:off x="6581074" y="1567282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1074" y="1662836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6629" y="1567282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9" name="Shape 27"/>
          <p:cNvSpPr/>
          <p:nvPr/>
        </p:nvSpPr>
        <p:spPr>
          <a:xfrm>
            <a:off x="6676629" y="1662836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0" name="Text 28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· Applications · Platforms</a:t>
            </a:r>
            <a:endParaRPr lang="en-US" sz="500" dirty="0"/>
          </a:p>
        </p:txBody>
      </p:sp>
      <p:sp>
        <p:nvSpPr>
          <p:cNvPr id="32" name="Shape 30"/>
          <p:cNvSpPr/>
          <p:nvPr/>
        </p:nvSpPr>
        <p:spPr>
          <a:xfrm>
            <a:off x="7647081" y="161940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7041" y="147172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42636" y="1680210"/>
            <a:ext cx="34747" cy="34747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35" name="Text 33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· Data Protection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8725251" y="1570756"/>
            <a:ext cx="132039" cy="132039"/>
          </a:xfrm>
          <a:prstGeom prst="ellipse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52078" y="1636776"/>
            <a:ext cx="147676" cy="914"/>
          </a:xfrm>
          <a:prstGeom prst="line">
            <a:avLst/>
          </a:prstGeom>
          <a:noFill/>
          <a:ln w="20320">
            <a:solidFill>
              <a:srgbClr val="D4AF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56319" y="1636776"/>
            <a:ext cx="914" cy="4343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94541" y="1636776"/>
            <a:ext cx="914" cy="4343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· Access Management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9857278" y="1480414"/>
            <a:ext cx="243230" cy="312725"/>
          </a:xfrm>
          <a:prstGeom prst="ca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· Data Center · Storage</a:t>
            </a:r>
            <a:endParaRPr lang="en-US" sz="500" dirty="0"/>
          </a:p>
        </p:txBody>
      </p:sp>
      <p:sp>
        <p:nvSpPr>
          <p:cNvPr id="46" name="Shape 44"/>
          <p:cNvSpPr/>
          <p:nvPr/>
        </p:nvSpPr>
        <p:spPr>
          <a:xfrm>
            <a:off x="10923285" y="15064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984093" y="15759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D4AF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Dashboard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Monitoring · Dashboard · Uptime</a:t>
            </a:r>
            <a:endParaRPr lang="en-US" sz="500" dirty="0"/>
          </a:p>
        </p:txBody>
      </p:sp>
      <p:sp>
        <p:nvSpPr>
          <p:cNvPr id="50" name="Shape 48"/>
          <p:cNvSpPr/>
          <p:nvPr/>
        </p:nvSpPr>
        <p:spPr>
          <a:xfrm>
            <a:off x="946998" y="2359914"/>
            <a:ext cx="312725" cy="260604"/>
          </a:xfrm>
          <a:prstGeom prst="leftRightCircularArrow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· Data Exchange</a:t>
            </a:r>
            <a:endParaRPr lang="en-US" sz="500" dirty="0"/>
          </a:p>
        </p:txBody>
      </p:sp>
      <p:sp>
        <p:nvSpPr>
          <p:cNvPr id="53" name="Shape 51"/>
          <p:cNvSpPr/>
          <p:nvPr/>
        </p:nvSpPr>
        <p:spPr>
          <a:xfrm>
            <a:off x="2065127" y="2351227"/>
            <a:ext cx="295351" cy="277978"/>
          </a:xfrm>
          <a:prstGeom prst="hexago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Node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Node · Infrastructure</a:t>
            </a:r>
            <a:endParaRPr lang="en-US" sz="500" dirty="0"/>
          </a:p>
        </p:txBody>
      </p:sp>
      <p:sp>
        <p:nvSpPr>
          <p:cNvPr id="56" name="Shape 54"/>
          <p:cNvSpPr/>
          <p:nvPr/>
        </p:nvSpPr>
        <p:spPr>
          <a:xfrm>
            <a:off x="3174568" y="2403348"/>
            <a:ext cx="295351" cy="173736"/>
          </a:xfrm>
          <a:prstGeom prst="roundRect">
            <a:avLst>
              <a:gd name="adj" fmla="val 42105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61436" y="2429408"/>
            <a:ext cx="121615" cy="121615"/>
          </a:xfrm>
          <a:prstGeom prst="ellipse">
            <a:avLst/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48304" y="2365126"/>
            <a:ext cx="69494" cy="38222"/>
          </a:xfrm>
          <a:prstGeom prst="rect">
            <a:avLst/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 · Streaming · Content</a:t>
            </a:r>
            <a:endParaRPr lang="en-US" sz="500" dirty="0"/>
          </a:p>
        </p:txBody>
      </p:sp>
      <p:sp>
        <p:nvSpPr>
          <p:cNvPr id="61" name="Shape 59"/>
          <p:cNvSpPr/>
          <p:nvPr/>
        </p:nvSpPr>
        <p:spPr>
          <a:xfrm>
            <a:off x="4362191" y="232516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D4AF5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16049" y="2587508"/>
            <a:ext cx="31272" cy="31272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63" name="Text 61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Devices · Telecom</a:t>
            </a:r>
            <a:endParaRPr lang="en-US" sz="500" dirty="0"/>
          </a:p>
        </p:txBody>
      </p:sp>
      <p:sp>
        <p:nvSpPr>
          <p:cNvPr id="65" name="Shape 63"/>
          <p:cNvSpPr/>
          <p:nvPr/>
        </p:nvSpPr>
        <p:spPr>
          <a:xfrm>
            <a:off x="5419512" y="233385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71632" y="2420722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5502905" y="2385974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71632" y="2498903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5502905" y="2464156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71632" y="2577084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5502905" y="2542337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· Release Checklist · CI/CD</a:t>
            </a:r>
            <a:endParaRPr lang="en-US" sz="500" dirty="0"/>
          </a:p>
        </p:txBody>
      </p:sp>
      <p:sp>
        <p:nvSpPr>
          <p:cNvPr id="74" name="Shape 72"/>
          <p:cNvSpPr/>
          <p:nvPr/>
        </p:nvSpPr>
        <p:spPr>
          <a:xfrm>
            <a:off x="6546327" y="238076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525478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657518" y="238076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36669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· Help Desk</a:t>
            </a:r>
            <a:endParaRPr lang="en-US" sz="500" dirty="0"/>
          </a:p>
        </p:txBody>
      </p:sp>
      <p:sp>
        <p:nvSpPr>
          <p:cNvPr id="80" name="Shape 78"/>
          <p:cNvSpPr/>
          <p:nvPr/>
        </p:nvSpPr>
        <p:spPr>
          <a:xfrm>
            <a:off x="7603647" y="2377288"/>
            <a:ext cx="312725" cy="225857"/>
          </a:xfrm>
          <a:prstGeom prst="wedgeRoundRectCallout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· Messaging · Chat</a:t>
            </a:r>
            <a:endParaRPr lang="en-US" sz="500" dirty="0"/>
          </a:p>
        </p:txBody>
      </p:sp>
      <p:sp>
        <p:nvSpPr>
          <p:cNvPr id="83" name="Shape 81"/>
          <p:cNvSpPr/>
          <p:nvPr/>
        </p:nvSpPr>
        <p:spPr>
          <a:xfrm>
            <a:off x="8695715" y="2403348"/>
            <a:ext cx="347472" cy="173736"/>
          </a:xfrm>
          <a:prstGeom prst="wave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· Throughput · Capacity</a:t>
            </a:r>
            <a:endParaRPr lang="en-US" sz="500" dirty="0"/>
          </a:p>
        </p:txBody>
      </p:sp>
      <p:sp>
        <p:nvSpPr>
          <p:cNvPr id="86" name="Shape 84"/>
          <p:cNvSpPr/>
          <p:nvPr/>
        </p:nvSpPr>
        <p:spPr>
          <a:xfrm>
            <a:off x="9813844" y="2377288"/>
            <a:ext cx="330098" cy="225857"/>
          </a:xfrm>
          <a:prstGeom prst="cloud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Infrastructure · SaaS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11067486" y="2564922"/>
            <a:ext cx="41697" cy="41697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90" name="Shape 88"/>
          <p:cNvSpPr/>
          <p:nvPr/>
        </p:nvSpPr>
        <p:spPr>
          <a:xfrm>
            <a:off x="11001466" y="2498903"/>
            <a:ext cx="173736" cy="17373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940659" y="2438095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879851" y="2377288"/>
            <a:ext cx="416966" cy="41696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· Network · Telecom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955685" y="3195980"/>
            <a:ext cx="295351" cy="295351"/>
          </a:xfrm>
          <a:prstGeom prst="roundRect">
            <a:avLst>
              <a:gd name="adj" fmla="val 24768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07806" y="3265475"/>
            <a:ext cx="191110" cy="17374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97" name="Shape 95"/>
          <p:cNvSpPr/>
          <p:nvPr/>
        </p:nvSpPr>
        <p:spPr>
          <a:xfrm>
            <a:off x="1007806" y="3334969"/>
            <a:ext cx="191110" cy="17374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98" name="Shape 96"/>
          <p:cNvSpPr/>
          <p:nvPr/>
        </p:nvSpPr>
        <p:spPr>
          <a:xfrm>
            <a:off x="1007806" y="3404464"/>
            <a:ext cx="191110" cy="17374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99" name="Text 97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IT · Digital</a:t>
            </a:r>
            <a:endParaRPr lang="en-US" sz="500" dirty="0"/>
          </a:p>
        </p:txBody>
      </p:sp>
      <p:sp>
        <p:nvSpPr>
          <p:cNvPr id="101" name="Shape 99"/>
          <p:cNvSpPr/>
          <p:nvPr/>
        </p:nvSpPr>
        <p:spPr>
          <a:xfrm>
            <a:off x="2108561" y="3178607"/>
            <a:ext cx="208483" cy="208483"/>
          </a:xfrm>
          <a:prstGeom prst="ellips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160681" y="3378403"/>
            <a:ext cx="104242" cy="60808"/>
          </a:xfrm>
          <a:prstGeom prst="rect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· Technology · R&amp;D</a:t>
            </a:r>
            <a:endParaRPr lang="en-US" sz="500" dirty="0"/>
          </a:p>
        </p:txBody>
      </p:sp>
      <p:sp>
        <p:nvSpPr>
          <p:cNvPr id="105" name="Shape 103"/>
          <p:cNvSpPr/>
          <p:nvPr/>
        </p:nvSpPr>
        <p:spPr>
          <a:xfrm>
            <a:off x="3174568" y="319598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· Wireless · Telecom</a:t>
            </a:r>
            <a:endParaRPr lang="en-US" sz="500" dirty="0"/>
          </a:p>
        </p:txBody>
      </p:sp>
      <p:sp>
        <p:nvSpPr>
          <p:cNvPr id="108" name="Shape 106"/>
          <p:cNvSpPr/>
          <p:nvPr/>
        </p:nvSpPr>
        <p:spPr>
          <a:xfrm>
            <a:off x="4362191" y="327416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09" name="Shape 107"/>
          <p:cNvSpPr/>
          <p:nvPr/>
        </p:nvSpPr>
        <p:spPr>
          <a:xfrm>
            <a:off x="4362191" y="336971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10" name="Shape 108"/>
          <p:cNvSpPr/>
          <p:nvPr/>
        </p:nvSpPr>
        <p:spPr>
          <a:xfrm>
            <a:off x="4457746" y="327416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11" name="Shape 109"/>
          <p:cNvSpPr/>
          <p:nvPr/>
        </p:nvSpPr>
        <p:spPr>
          <a:xfrm>
            <a:off x="4457746" y="336971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12" name="Text 110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· Applications · Platforms</a:t>
            </a:r>
            <a:endParaRPr lang="en-US" sz="500" dirty="0"/>
          </a:p>
        </p:txBody>
      </p:sp>
      <p:sp>
        <p:nvSpPr>
          <p:cNvPr id="114" name="Shape 112"/>
          <p:cNvSpPr/>
          <p:nvPr/>
        </p:nvSpPr>
        <p:spPr>
          <a:xfrm>
            <a:off x="5428198" y="332628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468158" y="317860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523753" y="3387090"/>
            <a:ext cx="34747" cy="34747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17" name="Text 115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650" dirty="0"/>
          </a:p>
        </p:txBody>
      </p:sp>
      <p:sp>
        <p:nvSpPr>
          <p:cNvPr id="118" name="Text 116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· Data Protection</a:t>
            </a:r>
            <a:endParaRPr lang="en-US" sz="500" dirty="0"/>
          </a:p>
        </p:txBody>
      </p:sp>
      <p:sp>
        <p:nvSpPr>
          <p:cNvPr id="119" name="Shape 117"/>
          <p:cNvSpPr/>
          <p:nvPr/>
        </p:nvSpPr>
        <p:spPr>
          <a:xfrm>
            <a:off x="6506367" y="3277636"/>
            <a:ext cx="132039" cy="132039"/>
          </a:xfrm>
          <a:prstGeom prst="ellips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3195" y="3343656"/>
            <a:ext cx="147676" cy="914"/>
          </a:xfrm>
          <a:prstGeom prst="line">
            <a:avLst/>
          </a:prstGeom>
          <a:noFill/>
          <a:ln w="20320">
            <a:solidFill>
              <a:srgbClr val="8DA0C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737436" y="334365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775658" y="334365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· Access Management</a:t>
            </a:r>
            <a:endParaRPr lang="en-US" sz="500" dirty="0"/>
          </a:p>
        </p:txBody>
      </p:sp>
      <p:sp>
        <p:nvSpPr>
          <p:cNvPr id="125" name="Shape 123"/>
          <p:cNvSpPr/>
          <p:nvPr/>
        </p:nvSpPr>
        <p:spPr>
          <a:xfrm>
            <a:off x="7638395" y="318729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· Data Center · Storage</a:t>
            </a:r>
            <a:endParaRPr lang="en-US" sz="500" dirty="0"/>
          </a:p>
        </p:txBody>
      </p:sp>
      <p:sp>
        <p:nvSpPr>
          <p:cNvPr id="128" name="Shape 126"/>
          <p:cNvSpPr/>
          <p:nvPr/>
        </p:nvSpPr>
        <p:spPr>
          <a:xfrm>
            <a:off x="8704402" y="321335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765210" y="328284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Dashboard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Monitoring · Dashboard · Uptime</a:t>
            </a:r>
            <a:endParaRPr lang="en-US" sz="500" dirty="0"/>
          </a:p>
        </p:txBody>
      </p:sp>
      <p:sp>
        <p:nvSpPr>
          <p:cNvPr id="132" name="Shape 130"/>
          <p:cNvSpPr/>
          <p:nvPr/>
        </p:nvSpPr>
        <p:spPr>
          <a:xfrm>
            <a:off x="9822531" y="3213354"/>
            <a:ext cx="312725" cy="260604"/>
          </a:xfrm>
          <a:prstGeom prst="leftRightCircularArrow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· Data Exchange</a:t>
            </a:r>
            <a:endParaRPr lang="en-US" sz="500" dirty="0"/>
          </a:p>
        </p:txBody>
      </p:sp>
      <p:sp>
        <p:nvSpPr>
          <p:cNvPr id="135" name="Shape 133"/>
          <p:cNvSpPr/>
          <p:nvPr/>
        </p:nvSpPr>
        <p:spPr>
          <a:xfrm>
            <a:off x="10940659" y="3204667"/>
            <a:ext cx="295351" cy="277978"/>
          </a:xfrm>
          <a:prstGeom prst="hexag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Node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Node · Infrastructure</a:t>
            </a:r>
            <a:endParaRPr lang="en-US" sz="500" dirty="0"/>
          </a:p>
        </p:txBody>
      </p:sp>
      <p:sp>
        <p:nvSpPr>
          <p:cNvPr id="138" name="Shape 136"/>
          <p:cNvSpPr/>
          <p:nvPr/>
        </p:nvSpPr>
        <p:spPr>
          <a:xfrm>
            <a:off x="955685" y="4110228"/>
            <a:ext cx="295351" cy="173736"/>
          </a:xfrm>
          <a:prstGeom prst="roundRect">
            <a:avLst>
              <a:gd name="adj" fmla="val 42105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42553" y="4136288"/>
            <a:ext cx="121615" cy="121615"/>
          </a:xfrm>
          <a:prstGeom prst="ellipse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129421" y="4072006"/>
            <a:ext cx="69494" cy="38222"/>
          </a:xfrm>
          <a:prstGeom prst="rect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 · Streaming · Content</a:t>
            </a:r>
            <a:endParaRPr lang="en-US" sz="500" dirty="0"/>
          </a:p>
        </p:txBody>
      </p:sp>
      <p:sp>
        <p:nvSpPr>
          <p:cNvPr id="143" name="Shape 141"/>
          <p:cNvSpPr/>
          <p:nvPr/>
        </p:nvSpPr>
        <p:spPr>
          <a:xfrm>
            <a:off x="2143308" y="403204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8DA0C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197166" y="4294388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45" name="Text 143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650" dirty="0"/>
          </a:p>
        </p:txBody>
      </p:sp>
      <p:sp>
        <p:nvSpPr>
          <p:cNvPr id="146" name="Text 144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Devices · Telecom</a:t>
            </a:r>
            <a:endParaRPr lang="en-US" sz="500" dirty="0"/>
          </a:p>
        </p:txBody>
      </p:sp>
      <p:sp>
        <p:nvSpPr>
          <p:cNvPr id="147" name="Shape 145"/>
          <p:cNvSpPr/>
          <p:nvPr/>
        </p:nvSpPr>
        <p:spPr>
          <a:xfrm>
            <a:off x="3200629" y="404073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252749" y="412760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flipV="1">
            <a:off x="3284022" y="409285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252749" y="420578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flipV="1">
            <a:off x="3284022" y="417103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252749" y="428396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flipV="1">
            <a:off x="3284022" y="424921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650" dirty="0"/>
          </a:p>
        </p:txBody>
      </p:sp>
      <p:sp>
        <p:nvSpPr>
          <p:cNvPr id="155" name="Text 153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· Release Checklist · CI/CD</a:t>
            </a:r>
            <a:endParaRPr lang="en-US" sz="500" dirty="0"/>
          </a:p>
        </p:txBody>
      </p:sp>
      <p:sp>
        <p:nvSpPr>
          <p:cNvPr id="156" name="Shape 154"/>
          <p:cNvSpPr/>
          <p:nvPr/>
        </p:nvSpPr>
        <p:spPr>
          <a:xfrm>
            <a:off x="4327444" y="408764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306595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438635" y="408764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417786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</a:t>
            </a:r>
            <a:endParaRPr lang="en-US" sz="650" dirty="0"/>
          </a:p>
        </p:txBody>
      </p:sp>
      <p:sp>
        <p:nvSpPr>
          <p:cNvPr id="161" name="Text 159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· Help Desk</a:t>
            </a:r>
            <a:endParaRPr lang="en-US" sz="500" dirty="0"/>
          </a:p>
        </p:txBody>
      </p:sp>
      <p:sp>
        <p:nvSpPr>
          <p:cNvPr id="162" name="Shape 160"/>
          <p:cNvSpPr/>
          <p:nvPr/>
        </p:nvSpPr>
        <p:spPr>
          <a:xfrm>
            <a:off x="5384764" y="4084168"/>
            <a:ext cx="312725" cy="225857"/>
          </a:xfrm>
          <a:prstGeom prst="wedgeRoundRectCallou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650" dirty="0"/>
          </a:p>
        </p:txBody>
      </p:sp>
      <p:sp>
        <p:nvSpPr>
          <p:cNvPr id="164" name="Text 162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· Messaging · Chat</a:t>
            </a:r>
            <a:endParaRPr lang="en-US" sz="500" dirty="0"/>
          </a:p>
        </p:txBody>
      </p:sp>
      <p:sp>
        <p:nvSpPr>
          <p:cNvPr id="165" name="Shape 163"/>
          <p:cNvSpPr/>
          <p:nvPr/>
        </p:nvSpPr>
        <p:spPr>
          <a:xfrm>
            <a:off x="6476832" y="4110228"/>
            <a:ext cx="347472" cy="173736"/>
          </a:xfrm>
          <a:prstGeom prst="wav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650" dirty="0"/>
          </a:p>
        </p:txBody>
      </p:sp>
      <p:sp>
        <p:nvSpPr>
          <p:cNvPr id="167" name="Text 165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· Throughput · Capacity</a:t>
            </a:r>
            <a:endParaRPr lang="en-US" sz="500" dirty="0"/>
          </a:p>
        </p:txBody>
      </p:sp>
      <p:sp>
        <p:nvSpPr>
          <p:cNvPr id="168" name="Shape 166"/>
          <p:cNvSpPr/>
          <p:nvPr/>
        </p:nvSpPr>
        <p:spPr>
          <a:xfrm>
            <a:off x="7594961" y="4084168"/>
            <a:ext cx="330098" cy="225857"/>
          </a:xfrm>
          <a:prstGeom prst="cloud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650" dirty="0"/>
          </a:p>
        </p:txBody>
      </p:sp>
      <p:sp>
        <p:nvSpPr>
          <p:cNvPr id="170" name="Text 168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Infrastructure · SaaS</a:t>
            </a:r>
            <a:endParaRPr lang="en-US" sz="500" dirty="0"/>
          </a:p>
        </p:txBody>
      </p:sp>
      <p:sp>
        <p:nvSpPr>
          <p:cNvPr id="171" name="Shape 169"/>
          <p:cNvSpPr/>
          <p:nvPr/>
        </p:nvSpPr>
        <p:spPr>
          <a:xfrm>
            <a:off x="8848603" y="4271802"/>
            <a:ext cx="41697" cy="41697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782583" y="4205783"/>
            <a:ext cx="173736" cy="17373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721776" y="4144975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660968" y="4084168"/>
            <a:ext cx="416966" cy="41696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650" dirty="0"/>
          </a:p>
        </p:txBody>
      </p:sp>
      <p:sp>
        <p:nvSpPr>
          <p:cNvPr id="176" name="Text 174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· Network · Telecom</a:t>
            </a:r>
            <a:endParaRPr lang="en-US" sz="500" dirty="0"/>
          </a:p>
        </p:txBody>
      </p:sp>
      <p:sp>
        <p:nvSpPr>
          <p:cNvPr id="177" name="Shape 175"/>
          <p:cNvSpPr/>
          <p:nvPr/>
        </p:nvSpPr>
        <p:spPr>
          <a:xfrm>
            <a:off x="9831217" y="4049420"/>
            <a:ext cx="295351" cy="295351"/>
          </a:xfrm>
          <a:prstGeom prst="roundRect">
            <a:avLst>
              <a:gd name="adj" fmla="val 24768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883338" y="4118915"/>
            <a:ext cx="191110" cy="17374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79" name="Shape 177"/>
          <p:cNvSpPr/>
          <p:nvPr/>
        </p:nvSpPr>
        <p:spPr>
          <a:xfrm>
            <a:off x="9883338" y="4188409"/>
            <a:ext cx="191110" cy="17374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80" name="Shape 178"/>
          <p:cNvSpPr/>
          <p:nvPr/>
        </p:nvSpPr>
        <p:spPr>
          <a:xfrm>
            <a:off x="9883338" y="4257904"/>
            <a:ext cx="191110" cy="17374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81" name="Text 179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IT · Digital</a:t>
            </a:r>
            <a:endParaRPr lang="en-US" sz="500" dirty="0"/>
          </a:p>
        </p:txBody>
      </p:sp>
      <p:sp>
        <p:nvSpPr>
          <p:cNvPr id="183" name="Shape 181"/>
          <p:cNvSpPr/>
          <p:nvPr/>
        </p:nvSpPr>
        <p:spPr>
          <a:xfrm>
            <a:off x="10984093" y="4032047"/>
            <a:ext cx="208483" cy="208483"/>
          </a:xfrm>
          <a:prstGeom prst="ellips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1036214" y="4231843"/>
            <a:ext cx="104242" cy="60808"/>
          </a:xfrm>
          <a:prstGeom prst="rect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650" dirty="0"/>
          </a:p>
        </p:txBody>
      </p:sp>
      <p:sp>
        <p:nvSpPr>
          <p:cNvPr id="186" name="Text 184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· Technology · R&amp;D</a:t>
            </a:r>
            <a:endParaRPr lang="en-US" sz="500" dirty="0"/>
          </a:p>
        </p:txBody>
      </p:sp>
      <p:sp>
        <p:nvSpPr>
          <p:cNvPr id="187" name="Shape 185"/>
          <p:cNvSpPr/>
          <p:nvPr/>
        </p:nvSpPr>
        <p:spPr>
          <a:xfrm>
            <a:off x="955685" y="490286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650" dirty="0"/>
          </a:p>
        </p:txBody>
      </p:sp>
      <p:sp>
        <p:nvSpPr>
          <p:cNvPr id="189" name="Text 187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· Wireless · Telecom</a:t>
            </a:r>
            <a:endParaRPr lang="en-US" sz="500" dirty="0"/>
          </a:p>
        </p:txBody>
      </p:sp>
      <p:sp>
        <p:nvSpPr>
          <p:cNvPr id="190" name="Shape 188"/>
          <p:cNvSpPr/>
          <p:nvPr/>
        </p:nvSpPr>
        <p:spPr>
          <a:xfrm>
            <a:off x="2143308" y="498104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91" name="Shape 189"/>
          <p:cNvSpPr/>
          <p:nvPr/>
        </p:nvSpPr>
        <p:spPr>
          <a:xfrm>
            <a:off x="2143308" y="507659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92" name="Shape 190"/>
          <p:cNvSpPr/>
          <p:nvPr/>
        </p:nvSpPr>
        <p:spPr>
          <a:xfrm>
            <a:off x="2238863" y="498104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93" name="Shape 191"/>
          <p:cNvSpPr/>
          <p:nvPr/>
        </p:nvSpPr>
        <p:spPr>
          <a:xfrm>
            <a:off x="2238863" y="507659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94" name="Text 192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650" dirty="0"/>
          </a:p>
        </p:txBody>
      </p:sp>
      <p:sp>
        <p:nvSpPr>
          <p:cNvPr id="195" name="Text 193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· Applications · Platforms</a:t>
            </a:r>
            <a:endParaRPr lang="en-US" sz="500" dirty="0"/>
          </a:p>
        </p:txBody>
      </p:sp>
      <p:sp>
        <p:nvSpPr>
          <p:cNvPr id="196" name="Shape 194"/>
          <p:cNvSpPr/>
          <p:nvPr/>
        </p:nvSpPr>
        <p:spPr>
          <a:xfrm>
            <a:off x="3209315" y="503316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249275" y="488548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304870" y="5093970"/>
            <a:ext cx="34747" cy="34747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99" name="Text 197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650" dirty="0"/>
          </a:p>
        </p:txBody>
      </p:sp>
      <p:sp>
        <p:nvSpPr>
          <p:cNvPr id="200" name="Text 198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· Data Protection</a:t>
            </a:r>
            <a:endParaRPr lang="en-US" sz="500" dirty="0"/>
          </a:p>
        </p:txBody>
      </p:sp>
      <p:sp>
        <p:nvSpPr>
          <p:cNvPr id="201" name="Shape 199"/>
          <p:cNvSpPr/>
          <p:nvPr/>
        </p:nvSpPr>
        <p:spPr>
          <a:xfrm>
            <a:off x="4287484" y="4984516"/>
            <a:ext cx="132039" cy="132039"/>
          </a:xfrm>
          <a:prstGeom prst="ellips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414312" y="5050536"/>
            <a:ext cx="147676" cy="914"/>
          </a:xfrm>
          <a:prstGeom prst="line">
            <a:avLst/>
          </a:prstGeom>
          <a:noFill/>
          <a:ln w="20320">
            <a:solidFill>
              <a:srgbClr val="8DA0C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518553" y="505053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4556775" y="505053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650" dirty="0"/>
          </a:p>
        </p:txBody>
      </p:sp>
      <p:sp>
        <p:nvSpPr>
          <p:cNvPr id="206" name="Text 204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· Access Management</a:t>
            </a:r>
            <a:endParaRPr lang="en-US" sz="500" dirty="0"/>
          </a:p>
        </p:txBody>
      </p:sp>
      <p:sp>
        <p:nvSpPr>
          <p:cNvPr id="207" name="Shape 205"/>
          <p:cNvSpPr/>
          <p:nvPr/>
        </p:nvSpPr>
        <p:spPr>
          <a:xfrm>
            <a:off x="5419512" y="489417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650" dirty="0"/>
          </a:p>
        </p:txBody>
      </p:sp>
      <p:sp>
        <p:nvSpPr>
          <p:cNvPr id="209" name="Text 207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· Data Center · Storage</a:t>
            </a:r>
            <a:endParaRPr lang="en-US" sz="500" dirty="0"/>
          </a:p>
        </p:txBody>
      </p:sp>
      <p:sp>
        <p:nvSpPr>
          <p:cNvPr id="210" name="Shape 208"/>
          <p:cNvSpPr/>
          <p:nvPr/>
        </p:nvSpPr>
        <p:spPr>
          <a:xfrm>
            <a:off x="6485519" y="492023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546327" y="498972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Dashboard</a:t>
            </a:r>
            <a:endParaRPr lang="en-US" sz="650" dirty="0"/>
          </a:p>
        </p:txBody>
      </p:sp>
      <p:sp>
        <p:nvSpPr>
          <p:cNvPr id="213" name="Text 211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Monitoring · Dashboard · Uptime</a:t>
            </a:r>
            <a:endParaRPr lang="en-US" sz="500" dirty="0"/>
          </a:p>
        </p:txBody>
      </p:sp>
      <p:sp>
        <p:nvSpPr>
          <p:cNvPr id="214" name="Shape 212"/>
          <p:cNvSpPr/>
          <p:nvPr/>
        </p:nvSpPr>
        <p:spPr>
          <a:xfrm>
            <a:off x="7603647" y="4920234"/>
            <a:ext cx="312725" cy="260604"/>
          </a:xfrm>
          <a:prstGeom prst="leftRightCircularArrow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650" dirty="0"/>
          </a:p>
        </p:txBody>
      </p:sp>
      <p:sp>
        <p:nvSpPr>
          <p:cNvPr id="216" name="Text 214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· Data Exchange</a:t>
            </a:r>
            <a:endParaRPr lang="en-US" sz="500" dirty="0"/>
          </a:p>
        </p:txBody>
      </p:sp>
      <p:sp>
        <p:nvSpPr>
          <p:cNvPr id="217" name="Shape 215"/>
          <p:cNvSpPr/>
          <p:nvPr/>
        </p:nvSpPr>
        <p:spPr>
          <a:xfrm>
            <a:off x="8721776" y="4911547"/>
            <a:ext cx="295351" cy="277978"/>
          </a:xfrm>
          <a:prstGeom prst="hexag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Node</a:t>
            </a:r>
            <a:endParaRPr lang="en-US" sz="650" dirty="0"/>
          </a:p>
        </p:txBody>
      </p:sp>
      <p:sp>
        <p:nvSpPr>
          <p:cNvPr id="219" name="Text 217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Node · Infrastructure</a:t>
            </a:r>
            <a:endParaRPr lang="en-US" sz="500" dirty="0"/>
          </a:p>
        </p:txBody>
      </p:sp>
      <p:sp>
        <p:nvSpPr>
          <p:cNvPr id="220" name="Shape 218"/>
          <p:cNvSpPr/>
          <p:nvPr/>
        </p:nvSpPr>
        <p:spPr>
          <a:xfrm>
            <a:off x="9831217" y="4963668"/>
            <a:ext cx="295351" cy="173736"/>
          </a:xfrm>
          <a:prstGeom prst="roundRect">
            <a:avLst>
              <a:gd name="adj" fmla="val 42105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9918085" y="4989728"/>
            <a:ext cx="121615" cy="121615"/>
          </a:xfrm>
          <a:prstGeom prst="ellipse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004953" y="4925446"/>
            <a:ext cx="69494" cy="38222"/>
          </a:xfrm>
          <a:prstGeom prst="rect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</a:t>
            </a:r>
            <a:endParaRPr lang="en-US" sz="650" dirty="0"/>
          </a:p>
        </p:txBody>
      </p:sp>
      <p:sp>
        <p:nvSpPr>
          <p:cNvPr id="224" name="Text 222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 · Streaming · Content</a:t>
            </a:r>
            <a:endParaRPr lang="en-US" sz="500" dirty="0"/>
          </a:p>
        </p:txBody>
      </p:sp>
      <p:sp>
        <p:nvSpPr>
          <p:cNvPr id="225" name="Shape 223"/>
          <p:cNvSpPr/>
          <p:nvPr/>
        </p:nvSpPr>
        <p:spPr>
          <a:xfrm>
            <a:off x="11018840" y="488548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8DA0C2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1072698" y="5147828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27" name="Text 225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650" dirty="0"/>
          </a:p>
        </p:txBody>
      </p:sp>
      <p:sp>
        <p:nvSpPr>
          <p:cNvPr id="228" name="Text 226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Devices · Telecom</a:t>
            </a:r>
            <a:endParaRPr lang="en-US" sz="500" dirty="0"/>
          </a:p>
        </p:txBody>
      </p:sp>
      <p:sp>
        <p:nvSpPr>
          <p:cNvPr id="229" name="Shape 227"/>
          <p:cNvSpPr/>
          <p:nvPr/>
        </p:nvSpPr>
        <p:spPr>
          <a:xfrm>
            <a:off x="981746" y="57476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33866" y="583448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flipV="1">
            <a:off x="1065139" y="579973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33866" y="591266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 flipV="1">
            <a:off x="1065139" y="587791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33866" y="599084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 flipV="1">
            <a:off x="1065139" y="595609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650" dirty="0"/>
          </a:p>
        </p:txBody>
      </p:sp>
      <p:sp>
        <p:nvSpPr>
          <p:cNvPr id="237" name="Text 235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· Release Checklist · CI/CD</a:t>
            </a:r>
            <a:endParaRPr lang="en-US" sz="500" dirty="0"/>
          </a:p>
        </p:txBody>
      </p:sp>
      <p:sp>
        <p:nvSpPr>
          <p:cNvPr id="238" name="Shape 236"/>
          <p:cNvSpPr/>
          <p:nvPr/>
        </p:nvSpPr>
        <p:spPr>
          <a:xfrm>
            <a:off x="2108561" y="579452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2087712" y="58952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2219752" y="579452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198903" y="58952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</a:t>
            </a:r>
            <a:endParaRPr lang="en-US" sz="650" dirty="0"/>
          </a:p>
        </p:txBody>
      </p:sp>
      <p:sp>
        <p:nvSpPr>
          <p:cNvPr id="243" name="Text 241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· Help Desk</a:t>
            </a:r>
            <a:endParaRPr lang="en-US" sz="500" dirty="0"/>
          </a:p>
        </p:txBody>
      </p:sp>
      <p:sp>
        <p:nvSpPr>
          <p:cNvPr id="244" name="Shape 242"/>
          <p:cNvSpPr/>
          <p:nvPr/>
        </p:nvSpPr>
        <p:spPr>
          <a:xfrm>
            <a:off x="3165881" y="5791048"/>
            <a:ext cx="312725" cy="225857"/>
          </a:xfrm>
          <a:prstGeom prst="wedgeRoundRectCallou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650" dirty="0"/>
          </a:p>
        </p:txBody>
      </p:sp>
      <p:sp>
        <p:nvSpPr>
          <p:cNvPr id="246" name="Text 244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· Messaging · Chat</a:t>
            </a:r>
            <a:endParaRPr lang="en-US" sz="500" dirty="0"/>
          </a:p>
        </p:txBody>
      </p:sp>
      <p:sp>
        <p:nvSpPr>
          <p:cNvPr id="247" name="Shape 245"/>
          <p:cNvSpPr/>
          <p:nvPr/>
        </p:nvSpPr>
        <p:spPr>
          <a:xfrm>
            <a:off x="4257949" y="5817108"/>
            <a:ext cx="347472" cy="173736"/>
          </a:xfrm>
          <a:prstGeom prst="wav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650" dirty="0"/>
          </a:p>
        </p:txBody>
      </p:sp>
      <p:sp>
        <p:nvSpPr>
          <p:cNvPr id="249" name="Text 247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· Throughput · Capacity</a:t>
            </a:r>
            <a:endParaRPr lang="en-US" sz="500" dirty="0"/>
          </a:p>
        </p:txBody>
      </p:sp>
      <p:sp>
        <p:nvSpPr>
          <p:cNvPr id="250" name="Shape 248"/>
          <p:cNvSpPr/>
          <p:nvPr/>
        </p:nvSpPr>
        <p:spPr>
          <a:xfrm>
            <a:off x="5376078" y="5791048"/>
            <a:ext cx="330098" cy="225857"/>
          </a:xfrm>
          <a:prstGeom prst="cloud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650" dirty="0"/>
          </a:p>
        </p:txBody>
      </p:sp>
      <p:sp>
        <p:nvSpPr>
          <p:cNvPr id="252" name="Text 250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Infrastructure · SaaS</a:t>
            </a:r>
            <a:endParaRPr lang="en-US" sz="500" dirty="0"/>
          </a:p>
        </p:txBody>
      </p:sp>
      <p:sp>
        <p:nvSpPr>
          <p:cNvPr id="253" name="Shape 251"/>
          <p:cNvSpPr/>
          <p:nvPr/>
        </p:nvSpPr>
        <p:spPr>
          <a:xfrm>
            <a:off x="6629720" y="5978682"/>
            <a:ext cx="41697" cy="41697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54" name="Shape 252"/>
          <p:cNvSpPr/>
          <p:nvPr/>
        </p:nvSpPr>
        <p:spPr>
          <a:xfrm>
            <a:off x="6563700" y="5912663"/>
            <a:ext cx="173736" cy="17373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6502893" y="5851855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6442085" y="5791048"/>
            <a:ext cx="416966" cy="41696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650" dirty="0"/>
          </a:p>
        </p:txBody>
      </p:sp>
      <p:sp>
        <p:nvSpPr>
          <p:cNvPr id="258" name="Text 256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· Network · Telecom</a:t>
            </a:r>
            <a:endParaRPr lang="en-US" sz="500" dirty="0"/>
          </a:p>
        </p:txBody>
      </p:sp>
      <p:sp>
        <p:nvSpPr>
          <p:cNvPr id="259" name="Shape 257"/>
          <p:cNvSpPr/>
          <p:nvPr/>
        </p:nvSpPr>
        <p:spPr>
          <a:xfrm>
            <a:off x="7612334" y="5756300"/>
            <a:ext cx="295351" cy="295351"/>
          </a:xfrm>
          <a:prstGeom prst="roundRect">
            <a:avLst>
              <a:gd name="adj" fmla="val 24768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664455" y="5825795"/>
            <a:ext cx="191110" cy="17374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61" name="Shape 259"/>
          <p:cNvSpPr/>
          <p:nvPr/>
        </p:nvSpPr>
        <p:spPr>
          <a:xfrm>
            <a:off x="7664455" y="5895289"/>
            <a:ext cx="191110" cy="17374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62" name="Shape 260"/>
          <p:cNvSpPr/>
          <p:nvPr/>
        </p:nvSpPr>
        <p:spPr>
          <a:xfrm>
            <a:off x="7664455" y="5964784"/>
            <a:ext cx="191110" cy="17374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63" name="Text 261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264" name="Text 262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IT · Digital</a:t>
            </a:r>
            <a:endParaRPr lang="en-US" sz="500" dirty="0"/>
          </a:p>
        </p:txBody>
      </p:sp>
      <p:sp>
        <p:nvSpPr>
          <p:cNvPr id="265" name="Shape 263"/>
          <p:cNvSpPr/>
          <p:nvPr/>
        </p:nvSpPr>
        <p:spPr>
          <a:xfrm>
            <a:off x="8765210" y="5738927"/>
            <a:ext cx="208483" cy="208483"/>
          </a:xfrm>
          <a:prstGeom prst="ellips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8817331" y="5938723"/>
            <a:ext cx="104242" cy="60808"/>
          </a:xfrm>
          <a:prstGeom prst="rect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650" dirty="0"/>
          </a:p>
        </p:txBody>
      </p:sp>
      <p:sp>
        <p:nvSpPr>
          <p:cNvPr id="268" name="Text 266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· Technology · R&amp;D</a:t>
            </a:r>
            <a:endParaRPr lang="en-US" sz="500" dirty="0"/>
          </a:p>
        </p:txBody>
      </p:sp>
      <p:sp>
        <p:nvSpPr>
          <p:cNvPr id="269" name="Shape 267"/>
          <p:cNvSpPr/>
          <p:nvPr/>
        </p:nvSpPr>
        <p:spPr>
          <a:xfrm>
            <a:off x="9831217" y="575630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650" dirty="0"/>
          </a:p>
        </p:txBody>
      </p:sp>
      <p:sp>
        <p:nvSpPr>
          <p:cNvPr id="271" name="Text 269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· Wireless · Telecom</a:t>
            </a:r>
            <a:endParaRPr lang="en-US" sz="500" dirty="0"/>
          </a:p>
        </p:txBody>
      </p:sp>
      <p:sp>
        <p:nvSpPr>
          <p:cNvPr id="272" name="Shape 270"/>
          <p:cNvSpPr/>
          <p:nvPr/>
        </p:nvSpPr>
        <p:spPr>
          <a:xfrm>
            <a:off x="11018840" y="583448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73" name="Shape 271"/>
          <p:cNvSpPr/>
          <p:nvPr/>
        </p:nvSpPr>
        <p:spPr>
          <a:xfrm>
            <a:off x="11018840" y="593003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74" name="Shape 272"/>
          <p:cNvSpPr/>
          <p:nvPr/>
        </p:nvSpPr>
        <p:spPr>
          <a:xfrm>
            <a:off x="11114395" y="583448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75" name="Shape 273"/>
          <p:cNvSpPr/>
          <p:nvPr/>
        </p:nvSpPr>
        <p:spPr>
          <a:xfrm>
            <a:off x="11114395" y="593003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76" name="Text 274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650" dirty="0"/>
          </a:p>
        </p:txBody>
      </p:sp>
      <p:sp>
        <p:nvSpPr>
          <p:cNvPr id="277" name="Text 275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· Applications · Platforms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&amp; Utilities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5685" y="1489100"/>
            <a:ext cx="295351" cy="295351"/>
          </a:xfrm>
          <a:prstGeom prst="sun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· Solar · Energy</a:t>
            </a:r>
            <a:endParaRPr lang="en-US" sz="500" dirty="0"/>
          </a:p>
        </p:txBody>
      </p:sp>
      <p:sp>
        <p:nvSpPr>
          <p:cNvPr id="7" name="Shape 5"/>
          <p:cNvSpPr/>
          <p:nvPr/>
        </p:nvSpPr>
        <p:spPr>
          <a:xfrm>
            <a:off x="2117247" y="1471727"/>
            <a:ext cx="191110" cy="330098"/>
          </a:xfrm>
          <a:prstGeom prst="lightningBolt">
            <a:avLst/>
          </a:prstGeom>
          <a:solidFill>
            <a:srgbClr val="D4AF5A"/>
          </a:solidFill>
          <a:ln/>
        </p:spPr>
      </p:sp>
      <p:sp>
        <p:nvSpPr>
          <p:cNvPr id="8" name="Text 6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· Utilities · Electricity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 rot="2700000">
            <a:off x="3191942" y="1489100"/>
            <a:ext cx="191110" cy="260604"/>
          </a:xfrm>
          <a:prstGeom prst="teardrop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3500000">
            <a:off x="3261436" y="1523848"/>
            <a:ext cx="191110" cy="260604"/>
          </a:xfrm>
          <a:prstGeom prst="teardrop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· Environment · ESG</a:t>
            </a:r>
            <a:endParaRPr lang="en-US" sz="500" dirty="0"/>
          </a:p>
        </p:txBody>
      </p:sp>
      <p:sp>
        <p:nvSpPr>
          <p:cNvPr id="14" name="Shape 12"/>
          <p:cNvSpPr/>
          <p:nvPr/>
        </p:nvSpPr>
        <p:spPr>
          <a:xfrm>
            <a:off x="4301383" y="1549908"/>
            <a:ext cx="260604" cy="173736"/>
          </a:xfrm>
          <a:prstGeom prst="roundRect">
            <a:avLst>
              <a:gd name="adj" fmla="val 63158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61987" y="1605504"/>
            <a:ext cx="20848" cy="62545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6" name="Text 14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 · Battery · Grid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5471632" y="1567282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9" name="Shape 17"/>
          <p:cNvSpPr/>
          <p:nvPr/>
        </p:nvSpPr>
        <p:spPr>
          <a:xfrm>
            <a:off x="5471632" y="1662836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5567187" y="1567282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1" name="Shape 19"/>
          <p:cNvSpPr/>
          <p:nvPr/>
        </p:nvSpPr>
        <p:spPr>
          <a:xfrm>
            <a:off x="5567187" y="1662836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2" name="Text 20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· Distribution Network</a:t>
            </a:r>
            <a:endParaRPr lang="en-US" sz="500" dirty="0"/>
          </a:p>
        </p:txBody>
      </p:sp>
      <p:sp>
        <p:nvSpPr>
          <p:cNvPr id="24" name="Shape 22"/>
          <p:cNvSpPr/>
          <p:nvPr/>
        </p:nvSpPr>
        <p:spPr>
          <a:xfrm>
            <a:off x="6485519" y="15064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46327" y="15759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D4AF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Dashboard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Monitoring · Dashboard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7621021" y="151516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1021" y="1593342"/>
            <a:ext cx="277978" cy="91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90515" y="1480414"/>
            <a:ext cx="17374" cy="52121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1" name="Shape 29"/>
          <p:cNvSpPr/>
          <p:nvPr/>
        </p:nvSpPr>
        <p:spPr>
          <a:xfrm>
            <a:off x="7812131" y="1480414"/>
            <a:ext cx="17374" cy="52121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 · Outage Planning</a:t>
            </a:r>
            <a:endParaRPr lang="en-US" sz="500" dirty="0"/>
          </a:p>
        </p:txBody>
      </p:sp>
      <p:sp>
        <p:nvSpPr>
          <p:cNvPr id="34" name="Shape 32"/>
          <p:cNvSpPr/>
          <p:nvPr/>
        </p:nvSpPr>
        <p:spPr>
          <a:xfrm>
            <a:off x="8730463" y="1497787"/>
            <a:ext cx="277978" cy="277978"/>
          </a:xfrm>
          <a:prstGeom prst="octago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Compliance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Regulatory Compliance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9857278" y="1480414"/>
            <a:ext cx="243230" cy="312725"/>
          </a:xfrm>
          <a:prstGeom prst="ca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· Fuel Storage</a:t>
            </a:r>
            <a:endParaRPr lang="en-US" sz="500" dirty="0"/>
          </a:p>
        </p:txBody>
      </p:sp>
      <p:sp>
        <p:nvSpPr>
          <p:cNvPr id="40" name="Shape 38"/>
          <p:cNvSpPr/>
          <p:nvPr/>
        </p:nvSpPr>
        <p:spPr>
          <a:xfrm rot="10800000">
            <a:off x="10992780" y="1497787"/>
            <a:ext cx="191110" cy="277978"/>
          </a:xfrm>
          <a:prstGeom prst="teardrop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Site · Facility Location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981746" y="233385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3866" y="2420722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1065139" y="2385974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3866" y="2498903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065139" y="2464156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33866" y="2577084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065139" y="2542337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· Compliance Checklist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2108561" y="238076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87712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19752" y="238076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198903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Crews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Crews · Technicians</a:t>
            </a:r>
            <a:endParaRPr lang="en-US" sz="500" dirty="0"/>
          </a:p>
        </p:txBody>
      </p:sp>
      <p:sp>
        <p:nvSpPr>
          <p:cNvPr id="58" name="Shape 56"/>
          <p:cNvSpPr/>
          <p:nvPr/>
        </p:nvSpPr>
        <p:spPr>
          <a:xfrm>
            <a:off x="3165881" y="2385974"/>
            <a:ext cx="312725" cy="208483"/>
          </a:xfrm>
          <a:prstGeom prst="chevro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· Transmission Flow</a:t>
            </a:r>
            <a:endParaRPr lang="en-US" sz="500" dirty="0"/>
          </a:p>
        </p:txBody>
      </p:sp>
      <p:sp>
        <p:nvSpPr>
          <p:cNvPr id="61" name="Shape 59"/>
          <p:cNvSpPr/>
          <p:nvPr/>
        </p:nvSpPr>
        <p:spPr>
          <a:xfrm>
            <a:off x="4336131" y="2359914"/>
            <a:ext cx="191110" cy="260604"/>
          </a:xfrm>
          <a:prstGeom prst="teardrop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Utility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Utility · Resource Management</a:t>
            </a:r>
            <a:endParaRPr lang="en-US" sz="500" dirty="0"/>
          </a:p>
        </p:txBody>
      </p:sp>
      <p:sp>
        <p:nvSpPr>
          <p:cNvPr id="64" name="Shape 62"/>
          <p:cNvSpPr/>
          <p:nvPr/>
        </p:nvSpPr>
        <p:spPr>
          <a:xfrm>
            <a:off x="5393451" y="2342540"/>
            <a:ext cx="295351" cy="295351"/>
          </a:xfrm>
          <a:prstGeom prst="irregularSeal1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Certification · ESG Rating</a:t>
            </a:r>
            <a:endParaRPr lang="en-US" sz="500" dirty="0"/>
          </a:p>
        </p:txBody>
      </p:sp>
      <p:sp>
        <p:nvSpPr>
          <p:cNvPr id="67" name="Shape 65"/>
          <p:cNvSpPr/>
          <p:nvPr/>
        </p:nvSpPr>
        <p:spPr>
          <a:xfrm rot="2700000">
            <a:off x="6555014" y="2465893"/>
            <a:ext cx="191110" cy="48646"/>
          </a:xfrm>
          <a:prstGeom prst="rect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16792" y="2356439"/>
            <a:ext cx="76444" cy="76444"/>
          </a:xfrm>
          <a:prstGeom prst="ellipse">
            <a:avLst/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07901" y="2547549"/>
            <a:ext cx="76444" cy="76444"/>
          </a:xfrm>
          <a:prstGeom prst="ellipse">
            <a:avLst/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Maintenance · Service</a:t>
            </a:r>
            <a:endParaRPr lang="en-US" sz="500" dirty="0"/>
          </a:p>
        </p:txBody>
      </p:sp>
      <p:sp>
        <p:nvSpPr>
          <p:cNvPr id="72" name="Shape 70"/>
          <p:cNvSpPr/>
          <p:nvPr/>
        </p:nvSpPr>
        <p:spPr>
          <a:xfrm>
            <a:off x="7586274" y="2403348"/>
            <a:ext cx="347472" cy="173736"/>
          </a:xfrm>
          <a:prstGeom prst="wave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Load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Load · Demand · Capacity</a:t>
            </a:r>
            <a:endParaRPr lang="en-US" sz="500" dirty="0"/>
          </a:p>
        </p:txBody>
      </p:sp>
      <p:sp>
        <p:nvSpPr>
          <p:cNvPr id="75" name="Shape 73"/>
          <p:cNvSpPr/>
          <p:nvPr/>
        </p:nvSpPr>
        <p:spPr>
          <a:xfrm>
            <a:off x="8721776" y="2342540"/>
            <a:ext cx="295351" cy="295351"/>
          </a:xfrm>
          <a:prstGeom prst="sun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· Solar · Energy</a:t>
            </a:r>
            <a:endParaRPr lang="en-US" sz="500" dirty="0"/>
          </a:p>
        </p:txBody>
      </p:sp>
      <p:sp>
        <p:nvSpPr>
          <p:cNvPr id="78" name="Shape 76"/>
          <p:cNvSpPr/>
          <p:nvPr/>
        </p:nvSpPr>
        <p:spPr>
          <a:xfrm>
            <a:off x="9883338" y="2325167"/>
            <a:ext cx="191110" cy="330098"/>
          </a:xfrm>
          <a:prstGeom prst="lightningBolt">
            <a:avLst/>
          </a:prstGeom>
          <a:solidFill>
            <a:srgbClr val="8DA0C2"/>
          </a:solidFill>
          <a:ln/>
        </p:spPr>
      </p:sp>
      <p:sp>
        <p:nvSpPr>
          <p:cNvPr id="79" name="Text 77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· Utilities · Electricity</a:t>
            </a:r>
            <a:endParaRPr lang="en-US" sz="500" dirty="0"/>
          </a:p>
        </p:txBody>
      </p:sp>
      <p:sp>
        <p:nvSpPr>
          <p:cNvPr id="81" name="Shape 79"/>
          <p:cNvSpPr/>
          <p:nvPr/>
        </p:nvSpPr>
        <p:spPr>
          <a:xfrm rot="2700000">
            <a:off x="10958032" y="2342540"/>
            <a:ext cx="191110" cy="260604"/>
          </a:xfrm>
          <a:prstGeom prst="teardrop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13500000">
            <a:off x="11027527" y="2377288"/>
            <a:ext cx="191110" cy="260604"/>
          </a:xfrm>
          <a:prstGeom prst="teardrop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· Environment · ESG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973059" y="3256788"/>
            <a:ext cx="260604" cy="173736"/>
          </a:xfrm>
          <a:prstGeom prst="roundRect">
            <a:avLst>
              <a:gd name="adj" fmla="val 63158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233663" y="3312384"/>
            <a:ext cx="20848" cy="6254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87" name="Text 85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 · Battery · Grid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2143308" y="327416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90" name="Shape 88"/>
          <p:cNvSpPr/>
          <p:nvPr/>
        </p:nvSpPr>
        <p:spPr>
          <a:xfrm>
            <a:off x="2143308" y="336971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91" name="Shape 89"/>
          <p:cNvSpPr/>
          <p:nvPr/>
        </p:nvSpPr>
        <p:spPr>
          <a:xfrm>
            <a:off x="2238863" y="327416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92" name="Shape 90"/>
          <p:cNvSpPr/>
          <p:nvPr/>
        </p:nvSpPr>
        <p:spPr>
          <a:xfrm>
            <a:off x="2238863" y="336971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93" name="Text 91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· Distribution Network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3157195" y="321335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18002" y="328284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Dashboard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Monitoring · Dashboard</a:t>
            </a:r>
            <a:endParaRPr lang="en-US" sz="500" dirty="0"/>
          </a:p>
        </p:txBody>
      </p:sp>
      <p:sp>
        <p:nvSpPr>
          <p:cNvPr id="99" name="Shape 97"/>
          <p:cNvSpPr/>
          <p:nvPr/>
        </p:nvSpPr>
        <p:spPr>
          <a:xfrm>
            <a:off x="4292697" y="322204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292697" y="3300222"/>
            <a:ext cx="277978" cy="91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362191" y="318729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483806" y="318729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03" name="Text 101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 · Outage Planning</a:t>
            </a:r>
            <a:endParaRPr lang="en-US" sz="500" dirty="0"/>
          </a:p>
        </p:txBody>
      </p:sp>
      <p:sp>
        <p:nvSpPr>
          <p:cNvPr id="105" name="Shape 103"/>
          <p:cNvSpPr/>
          <p:nvPr/>
        </p:nvSpPr>
        <p:spPr>
          <a:xfrm>
            <a:off x="5402138" y="3204667"/>
            <a:ext cx="277978" cy="277978"/>
          </a:xfrm>
          <a:prstGeom prst="octag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Compliance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Regulatory Compliance</a:t>
            </a:r>
            <a:endParaRPr lang="en-US" sz="500" dirty="0"/>
          </a:p>
        </p:txBody>
      </p:sp>
      <p:sp>
        <p:nvSpPr>
          <p:cNvPr id="108" name="Shape 106"/>
          <p:cNvSpPr/>
          <p:nvPr/>
        </p:nvSpPr>
        <p:spPr>
          <a:xfrm>
            <a:off x="6528953" y="318729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· Fuel Storage</a:t>
            </a:r>
            <a:endParaRPr lang="en-US" sz="500" dirty="0"/>
          </a:p>
        </p:txBody>
      </p:sp>
      <p:sp>
        <p:nvSpPr>
          <p:cNvPr id="111" name="Shape 109"/>
          <p:cNvSpPr/>
          <p:nvPr/>
        </p:nvSpPr>
        <p:spPr>
          <a:xfrm rot="10800000">
            <a:off x="7664455" y="3204667"/>
            <a:ext cx="191110" cy="277978"/>
          </a:xfrm>
          <a:prstGeom prst="teardrop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Site · Facility Location</a:t>
            </a:r>
            <a:endParaRPr lang="en-US" sz="500" dirty="0"/>
          </a:p>
        </p:txBody>
      </p:sp>
      <p:sp>
        <p:nvSpPr>
          <p:cNvPr id="114" name="Shape 112"/>
          <p:cNvSpPr/>
          <p:nvPr/>
        </p:nvSpPr>
        <p:spPr>
          <a:xfrm>
            <a:off x="8747836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799957" y="327416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8831229" y="323941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799957" y="335234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8831229" y="331759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799957" y="343052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8831229" y="339577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· Compliance Checklist</a:t>
            </a:r>
            <a:endParaRPr lang="en-US" sz="500" dirty="0"/>
          </a:p>
        </p:txBody>
      </p:sp>
      <p:sp>
        <p:nvSpPr>
          <p:cNvPr id="123" name="Shape 121"/>
          <p:cNvSpPr/>
          <p:nvPr/>
        </p:nvSpPr>
        <p:spPr>
          <a:xfrm>
            <a:off x="9874651" y="323420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853803" y="333496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985842" y="323420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964994" y="333496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Crews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Crews · Technicians</a:t>
            </a:r>
            <a:endParaRPr lang="en-US" sz="500" dirty="0"/>
          </a:p>
        </p:txBody>
      </p:sp>
      <p:sp>
        <p:nvSpPr>
          <p:cNvPr id="129" name="Shape 127"/>
          <p:cNvSpPr/>
          <p:nvPr/>
        </p:nvSpPr>
        <p:spPr>
          <a:xfrm>
            <a:off x="10931972" y="3239414"/>
            <a:ext cx="312725" cy="208483"/>
          </a:xfrm>
          <a:prstGeom prst="chevr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· Transmission Flow</a:t>
            </a:r>
            <a:endParaRPr lang="en-US" sz="500" dirty="0"/>
          </a:p>
        </p:txBody>
      </p:sp>
      <p:sp>
        <p:nvSpPr>
          <p:cNvPr id="132" name="Shape 130"/>
          <p:cNvSpPr/>
          <p:nvPr/>
        </p:nvSpPr>
        <p:spPr>
          <a:xfrm>
            <a:off x="1007806" y="4066794"/>
            <a:ext cx="191110" cy="260604"/>
          </a:xfrm>
          <a:prstGeom prst="teardrop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Utility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Utility · Resource Management</a:t>
            </a:r>
            <a:endParaRPr lang="en-US" sz="500" dirty="0"/>
          </a:p>
        </p:txBody>
      </p:sp>
      <p:sp>
        <p:nvSpPr>
          <p:cNvPr id="135" name="Shape 133"/>
          <p:cNvSpPr/>
          <p:nvPr/>
        </p:nvSpPr>
        <p:spPr>
          <a:xfrm>
            <a:off x="2065127" y="4049420"/>
            <a:ext cx="295351" cy="295351"/>
          </a:xfrm>
          <a:prstGeom prst="irregularSeal1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Certification · ESG Rating</a:t>
            </a:r>
            <a:endParaRPr lang="en-US" sz="500" dirty="0"/>
          </a:p>
        </p:txBody>
      </p:sp>
      <p:sp>
        <p:nvSpPr>
          <p:cNvPr id="138" name="Shape 136"/>
          <p:cNvSpPr/>
          <p:nvPr/>
        </p:nvSpPr>
        <p:spPr>
          <a:xfrm rot="2700000">
            <a:off x="3226689" y="4172773"/>
            <a:ext cx="191110" cy="48646"/>
          </a:xfrm>
          <a:prstGeom prst="rec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188467" y="4063319"/>
            <a:ext cx="76444" cy="76444"/>
          </a:xfrm>
          <a:prstGeom prst="ellipse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379577" y="4254429"/>
            <a:ext cx="76444" cy="76444"/>
          </a:xfrm>
          <a:prstGeom prst="ellipse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Maintenance · Service</a:t>
            </a:r>
            <a:endParaRPr lang="en-US" sz="500" dirty="0"/>
          </a:p>
        </p:txBody>
      </p:sp>
      <p:sp>
        <p:nvSpPr>
          <p:cNvPr id="143" name="Shape 141"/>
          <p:cNvSpPr/>
          <p:nvPr/>
        </p:nvSpPr>
        <p:spPr>
          <a:xfrm>
            <a:off x="4257949" y="4110228"/>
            <a:ext cx="347472" cy="173736"/>
          </a:xfrm>
          <a:prstGeom prst="wav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Load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Load · Demand · Capacity</a:t>
            </a:r>
            <a:endParaRPr lang="en-US" sz="500" dirty="0"/>
          </a:p>
        </p:txBody>
      </p:sp>
      <p:sp>
        <p:nvSpPr>
          <p:cNvPr id="146" name="Shape 144"/>
          <p:cNvSpPr/>
          <p:nvPr/>
        </p:nvSpPr>
        <p:spPr>
          <a:xfrm>
            <a:off x="5393451" y="4049420"/>
            <a:ext cx="295351" cy="295351"/>
          </a:xfrm>
          <a:prstGeom prst="sun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650" dirty="0"/>
          </a:p>
        </p:txBody>
      </p:sp>
      <p:sp>
        <p:nvSpPr>
          <p:cNvPr id="148" name="Text 146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· Solar · Energy</a:t>
            </a:r>
            <a:endParaRPr lang="en-US" sz="500" dirty="0"/>
          </a:p>
        </p:txBody>
      </p:sp>
      <p:sp>
        <p:nvSpPr>
          <p:cNvPr id="149" name="Shape 147"/>
          <p:cNvSpPr/>
          <p:nvPr/>
        </p:nvSpPr>
        <p:spPr>
          <a:xfrm>
            <a:off x="6555014" y="4032047"/>
            <a:ext cx="191110" cy="330098"/>
          </a:xfrm>
          <a:prstGeom prst="lightningBolt">
            <a:avLst/>
          </a:prstGeom>
          <a:solidFill>
            <a:srgbClr val="8DA0C2"/>
          </a:solidFill>
          <a:ln/>
        </p:spPr>
      </p:sp>
      <p:sp>
        <p:nvSpPr>
          <p:cNvPr id="150" name="Text 148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650" dirty="0"/>
          </a:p>
        </p:txBody>
      </p:sp>
      <p:sp>
        <p:nvSpPr>
          <p:cNvPr id="151" name="Text 149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· Utilities · Electricity</a:t>
            </a:r>
            <a:endParaRPr lang="en-US" sz="500" dirty="0"/>
          </a:p>
        </p:txBody>
      </p:sp>
      <p:sp>
        <p:nvSpPr>
          <p:cNvPr id="152" name="Shape 150"/>
          <p:cNvSpPr/>
          <p:nvPr/>
        </p:nvSpPr>
        <p:spPr>
          <a:xfrm rot="2700000">
            <a:off x="7629708" y="4049420"/>
            <a:ext cx="191110" cy="260604"/>
          </a:xfrm>
          <a:prstGeom prst="teardrop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13500000">
            <a:off x="7699202" y="4084168"/>
            <a:ext cx="191110" cy="260604"/>
          </a:xfrm>
          <a:prstGeom prst="teardrop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650" dirty="0"/>
          </a:p>
        </p:txBody>
      </p:sp>
      <p:sp>
        <p:nvSpPr>
          <p:cNvPr id="155" name="Text 153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· Environment · ESG</a:t>
            </a:r>
            <a:endParaRPr lang="en-US" sz="500" dirty="0"/>
          </a:p>
        </p:txBody>
      </p:sp>
      <p:sp>
        <p:nvSpPr>
          <p:cNvPr id="156" name="Shape 154"/>
          <p:cNvSpPr/>
          <p:nvPr/>
        </p:nvSpPr>
        <p:spPr>
          <a:xfrm>
            <a:off x="8739149" y="4110228"/>
            <a:ext cx="260604" cy="173736"/>
          </a:xfrm>
          <a:prstGeom prst="roundRect">
            <a:avLst>
              <a:gd name="adj" fmla="val 63158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999753" y="4165824"/>
            <a:ext cx="20848" cy="6254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58" name="Text 156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650" dirty="0"/>
          </a:p>
        </p:txBody>
      </p:sp>
      <p:sp>
        <p:nvSpPr>
          <p:cNvPr id="159" name="Text 157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 · Battery · Grid</a:t>
            </a:r>
            <a:endParaRPr lang="en-US" sz="500" dirty="0"/>
          </a:p>
        </p:txBody>
      </p:sp>
      <p:sp>
        <p:nvSpPr>
          <p:cNvPr id="160" name="Shape 158"/>
          <p:cNvSpPr/>
          <p:nvPr/>
        </p:nvSpPr>
        <p:spPr>
          <a:xfrm>
            <a:off x="9909399" y="412760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61" name="Shape 159"/>
          <p:cNvSpPr/>
          <p:nvPr/>
        </p:nvSpPr>
        <p:spPr>
          <a:xfrm>
            <a:off x="9909399" y="422315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0004953" y="412760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0004953" y="422315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64" name="Text 162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</a:t>
            </a:r>
            <a:endParaRPr lang="en-US" sz="650" dirty="0"/>
          </a:p>
        </p:txBody>
      </p:sp>
      <p:sp>
        <p:nvSpPr>
          <p:cNvPr id="165" name="Text 163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· Distribution Network</a:t>
            </a:r>
            <a:endParaRPr lang="en-US" sz="500" dirty="0"/>
          </a:p>
        </p:txBody>
      </p:sp>
      <p:sp>
        <p:nvSpPr>
          <p:cNvPr id="166" name="Shape 164"/>
          <p:cNvSpPr/>
          <p:nvPr/>
        </p:nvSpPr>
        <p:spPr>
          <a:xfrm>
            <a:off x="10923285" y="406679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984093" y="413628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Dashboard</a:t>
            </a:r>
            <a:endParaRPr lang="en-US" sz="650" dirty="0"/>
          </a:p>
        </p:txBody>
      </p:sp>
      <p:sp>
        <p:nvSpPr>
          <p:cNvPr id="169" name="Text 167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Monitoring · Dashboard</a:t>
            </a:r>
            <a:endParaRPr lang="en-US" sz="500" dirty="0"/>
          </a:p>
        </p:txBody>
      </p:sp>
      <p:sp>
        <p:nvSpPr>
          <p:cNvPr id="170" name="Shape 168"/>
          <p:cNvSpPr/>
          <p:nvPr/>
        </p:nvSpPr>
        <p:spPr>
          <a:xfrm>
            <a:off x="964372" y="492892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64372" y="5007102"/>
            <a:ext cx="277978" cy="91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033866" y="489417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73" name="Shape 171"/>
          <p:cNvSpPr/>
          <p:nvPr/>
        </p:nvSpPr>
        <p:spPr>
          <a:xfrm>
            <a:off x="1155482" y="489417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74" name="Text 172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</a:t>
            </a:r>
            <a:endParaRPr lang="en-US" sz="650" dirty="0"/>
          </a:p>
        </p:txBody>
      </p:sp>
      <p:sp>
        <p:nvSpPr>
          <p:cNvPr id="175" name="Text 173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 · Outage Planning</a:t>
            </a:r>
            <a:endParaRPr lang="en-US" sz="500" dirty="0"/>
          </a:p>
        </p:txBody>
      </p:sp>
      <p:sp>
        <p:nvSpPr>
          <p:cNvPr id="176" name="Shape 174"/>
          <p:cNvSpPr/>
          <p:nvPr/>
        </p:nvSpPr>
        <p:spPr>
          <a:xfrm>
            <a:off x="2073813" y="4911547"/>
            <a:ext cx="277978" cy="277978"/>
          </a:xfrm>
          <a:prstGeom prst="octag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Compliance</a:t>
            </a:r>
            <a:endParaRPr lang="en-US" sz="650" dirty="0"/>
          </a:p>
        </p:txBody>
      </p:sp>
      <p:sp>
        <p:nvSpPr>
          <p:cNvPr id="178" name="Text 176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Regulatory Compliance</a:t>
            </a:r>
            <a:endParaRPr lang="en-US" sz="500" dirty="0"/>
          </a:p>
        </p:txBody>
      </p:sp>
      <p:sp>
        <p:nvSpPr>
          <p:cNvPr id="179" name="Shape 177"/>
          <p:cNvSpPr/>
          <p:nvPr/>
        </p:nvSpPr>
        <p:spPr>
          <a:xfrm>
            <a:off x="3200629" y="489417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</a:t>
            </a:r>
            <a:endParaRPr lang="en-US" sz="650" dirty="0"/>
          </a:p>
        </p:txBody>
      </p:sp>
      <p:sp>
        <p:nvSpPr>
          <p:cNvPr id="181" name="Text 179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· Fuel Storage</a:t>
            </a:r>
            <a:endParaRPr lang="en-US" sz="500" dirty="0"/>
          </a:p>
        </p:txBody>
      </p:sp>
      <p:sp>
        <p:nvSpPr>
          <p:cNvPr id="182" name="Shape 180"/>
          <p:cNvSpPr/>
          <p:nvPr/>
        </p:nvSpPr>
        <p:spPr>
          <a:xfrm rot="10800000">
            <a:off x="4336131" y="4911547"/>
            <a:ext cx="191110" cy="277978"/>
          </a:xfrm>
          <a:prstGeom prst="teardrop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650" dirty="0"/>
          </a:p>
        </p:txBody>
      </p:sp>
      <p:sp>
        <p:nvSpPr>
          <p:cNvPr id="184" name="Text 182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Site · Facility Location</a:t>
            </a:r>
            <a:endParaRPr lang="en-US" sz="500" dirty="0"/>
          </a:p>
        </p:txBody>
      </p:sp>
      <p:sp>
        <p:nvSpPr>
          <p:cNvPr id="185" name="Shape 183"/>
          <p:cNvSpPr/>
          <p:nvPr/>
        </p:nvSpPr>
        <p:spPr>
          <a:xfrm>
            <a:off x="5419512" y="489417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471632" y="498104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5502905" y="494629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5471632" y="505922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5502905" y="502447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471632" y="513740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flipV="1">
            <a:off x="5502905" y="510265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650" dirty="0"/>
          </a:p>
        </p:txBody>
      </p:sp>
      <p:sp>
        <p:nvSpPr>
          <p:cNvPr id="193" name="Text 191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· Compliance Checklist</a:t>
            </a:r>
            <a:endParaRPr lang="en-US" sz="500" dirty="0"/>
          </a:p>
        </p:txBody>
      </p:sp>
      <p:sp>
        <p:nvSpPr>
          <p:cNvPr id="194" name="Shape 192"/>
          <p:cNvSpPr/>
          <p:nvPr/>
        </p:nvSpPr>
        <p:spPr>
          <a:xfrm>
            <a:off x="6546327" y="494108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525478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657518" y="494108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636669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Crews</a:t>
            </a:r>
            <a:endParaRPr lang="en-US" sz="650" dirty="0"/>
          </a:p>
        </p:txBody>
      </p:sp>
      <p:sp>
        <p:nvSpPr>
          <p:cNvPr id="199" name="Text 197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Crews · Technicians</a:t>
            </a:r>
            <a:endParaRPr lang="en-US" sz="500" dirty="0"/>
          </a:p>
        </p:txBody>
      </p:sp>
      <p:sp>
        <p:nvSpPr>
          <p:cNvPr id="200" name="Shape 198"/>
          <p:cNvSpPr/>
          <p:nvPr/>
        </p:nvSpPr>
        <p:spPr>
          <a:xfrm>
            <a:off x="7603647" y="4946294"/>
            <a:ext cx="312725" cy="208483"/>
          </a:xfrm>
          <a:prstGeom prst="chevr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650" dirty="0"/>
          </a:p>
        </p:txBody>
      </p:sp>
      <p:sp>
        <p:nvSpPr>
          <p:cNvPr id="202" name="Text 200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· Transmission Flow</a:t>
            </a:r>
            <a:endParaRPr lang="en-US" sz="500" dirty="0"/>
          </a:p>
        </p:txBody>
      </p:sp>
      <p:sp>
        <p:nvSpPr>
          <p:cNvPr id="203" name="Shape 201"/>
          <p:cNvSpPr/>
          <p:nvPr/>
        </p:nvSpPr>
        <p:spPr>
          <a:xfrm>
            <a:off x="8773897" y="4920234"/>
            <a:ext cx="191110" cy="260604"/>
          </a:xfrm>
          <a:prstGeom prst="teardrop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Utility</a:t>
            </a:r>
            <a:endParaRPr lang="en-US" sz="650" dirty="0"/>
          </a:p>
        </p:txBody>
      </p:sp>
      <p:sp>
        <p:nvSpPr>
          <p:cNvPr id="205" name="Text 203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Utility · Resource Management</a:t>
            </a:r>
            <a:endParaRPr lang="en-US" sz="500" dirty="0"/>
          </a:p>
        </p:txBody>
      </p:sp>
      <p:sp>
        <p:nvSpPr>
          <p:cNvPr id="206" name="Shape 204"/>
          <p:cNvSpPr/>
          <p:nvPr/>
        </p:nvSpPr>
        <p:spPr>
          <a:xfrm>
            <a:off x="9831217" y="4902860"/>
            <a:ext cx="295351" cy="295351"/>
          </a:xfrm>
          <a:prstGeom prst="irregularSeal1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650" dirty="0"/>
          </a:p>
        </p:txBody>
      </p:sp>
      <p:sp>
        <p:nvSpPr>
          <p:cNvPr id="208" name="Text 206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Certification · ESG Rating</a:t>
            </a:r>
            <a:endParaRPr lang="en-US" sz="500" dirty="0"/>
          </a:p>
        </p:txBody>
      </p:sp>
      <p:sp>
        <p:nvSpPr>
          <p:cNvPr id="209" name="Shape 207"/>
          <p:cNvSpPr/>
          <p:nvPr/>
        </p:nvSpPr>
        <p:spPr>
          <a:xfrm rot="2700000">
            <a:off x="10992780" y="5026213"/>
            <a:ext cx="191110" cy="48646"/>
          </a:xfrm>
          <a:prstGeom prst="rec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954558" y="4916759"/>
            <a:ext cx="76444" cy="76444"/>
          </a:xfrm>
          <a:prstGeom prst="ellipse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1145667" y="5107869"/>
            <a:ext cx="76444" cy="76444"/>
          </a:xfrm>
          <a:prstGeom prst="ellipse">
            <a:avLst/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650" dirty="0"/>
          </a:p>
        </p:txBody>
      </p:sp>
      <p:sp>
        <p:nvSpPr>
          <p:cNvPr id="213" name="Text 211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Maintenance · Service</a:t>
            </a:r>
            <a:endParaRPr lang="en-US" sz="500" dirty="0"/>
          </a:p>
        </p:txBody>
      </p:sp>
      <p:sp>
        <p:nvSpPr>
          <p:cNvPr id="214" name="Shape 212"/>
          <p:cNvSpPr/>
          <p:nvPr/>
        </p:nvSpPr>
        <p:spPr>
          <a:xfrm>
            <a:off x="929625" y="5817108"/>
            <a:ext cx="347472" cy="173736"/>
          </a:xfrm>
          <a:prstGeom prst="wav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Load</a:t>
            </a:r>
            <a:endParaRPr lang="en-US" sz="650" dirty="0"/>
          </a:p>
        </p:txBody>
      </p:sp>
      <p:sp>
        <p:nvSpPr>
          <p:cNvPr id="216" name="Text 214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Load · Demand · Capacity</a:t>
            </a:r>
            <a:endParaRPr lang="en-US" sz="500" dirty="0"/>
          </a:p>
        </p:txBody>
      </p:sp>
      <p:sp>
        <p:nvSpPr>
          <p:cNvPr id="217" name="Shape 215"/>
          <p:cNvSpPr/>
          <p:nvPr/>
        </p:nvSpPr>
        <p:spPr>
          <a:xfrm>
            <a:off x="2065127" y="5756300"/>
            <a:ext cx="295351" cy="295351"/>
          </a:xfrm>
          <a:prstGeom prst="sun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650" dirty="0"/>
          </a:p>
        </p:txBody>
      </p:sp>
      <p:sp>
        <p:nvSpPr>
          <p:cNvPr id="219" name="Text 217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· Solar · Energy</a:t>
            </a:r>
            <a:endParaRPr lang="en-US" sz="500" dirty="0"/>
          </a:p>
        </p:txBody>
      </p:sp>
      <p:sp>
        <p:nvSpPr>
          <p:cNvPr id="220" name="Shape 218"/>
          <p:cNvSpPr/>
          <p:nvPr/>
        </p:nvSpPr>
        <p:spPr>
          <a:xfrm>
            <a:off x="3226689" y="5738927"/>
            <a:ext cx="191110" cy="330098"/>
          </a:xfrm>
          <a:prstGeom prst="lightningBolt">
            <a:avLst/>
          </a:prstGeom>
          <a:solidFill>
            <a:srgbClr val="8DA0C2"/>
          </a:solidFill>
          <a:ln/>
        </p:spPr>
      </p:sp>
      <p:sp>
        <p:nvSpPr>
          <p:cNvPr id="221" name="Text 219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650" dirty="0"/>
          </a:p>
        </p:txBody>
      </p:sp>
      <p:sp>
        <p:nvSpPr>
          <p:cNvPr id="222" name="Text 220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· Utilities · Electricity</a:t>
            </a:r>
            <a:endParaRPr lang="en-US" sz="500" dirty="0"/>
          </a:p>
        </p:txBody>
      </p:sp>
      <p:sp>
        <p:nvSpPr>
          <p:cNvPr id="223" name="Shape 221"/>
          <p:cNvSpPr/>
          <p:nvPr/>
        </p:nvSpPr>
        <p:spPr>
          <a:xfrm rot="2700000">
            <a:off x="4301383" y="5756300"/>
            <a:ext cx="191110" cy="260604"/>
          </a:xfrm>
          <a:prstGeom prst="teardrop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rot="13500000">
            <a:off x="4370878" y="5791048"/>
            <a:ext cx="191110" cy="260604"/>
          </a:xfrm>
          <a:prstGeom prst="teardrop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650" dirty="0"/>
          </a:p>
        </p:txBody>
      </p:sp>
      <p:sp>
        <p:nvSpPr>
          <p:cNvPr id="226" name="Text 224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· Environment · ESG</a:t>
            </a:r>
            <a:endParaRPr lang="en-US" sz="500" dirty="0"/>
          </a:p>
        </p:txBody>
      </p:sp>
      <p:sp>
        <p:nvSpPr>
          <p:cNvPr id="227" name="Shape 225"/>
          <p:cNvSpPr/>
          <p:nvPr/>
        </p:nvSpPr>
        <p:spPr>
          <a:xfrm>
            <a:off x="5410825" y="5817108"/>
            <a:ext cx="260604" cy="173736"/>
          </a:xfrm>
          <a:prstGeom prst="roundRect">
            <a:avLst>
              <a:gd name="adj" fmla="val 63158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5671429" y="5872704"/>
            <a:ext cx="20848" cy="6254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29" name="Text 227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650" dirty="0"/>
          </a:p>
        </p:txBody>
      </p:sp>
      <p:sp>
        <p:nvSpPr>
          <p:cNvPr id="230" name="Text 228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 · Battery · Grid</a:t>
            </a:r>
            <a:endParaRPr lang="en-US" sz="500" dirty="0"/>
          </a:p>
        </p:txBody>
      </p:sp>
      <p:sp>
        <p:nvSpPr>
          <p:cNvPr id="231" name="Shape 229"/>
          <p:cNvSpPr/>
          <p:nvPr/>
        </p:nvSpPr>
        <p:spPr>
          <a:xfrm>
            <a:off x="6581074" y="583448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32" name="Shape 230"/>
          <p:cNvSpPr/>
          <p:nvPr/>
        </p:nvSpPr>
        <p:spPr>
          <a:xfrm>
            <a:off x="6581074" y="593003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33" name="Shape 231"/>
          <p:cNvSpPr/>
          <p:nvPr/>
        </p:nvSpPr>
        <p:spPr>
          <a:xfrm>
            <a:off x="6676629" y="583448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34" name="Shape 232"/>
          <p:cNvSpPr/>
          <p:nvPr/>
        </p:nvSpPr>
        <p:spPr>
          <a:xfrm>
            <a:off x="6676629" y="593003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35" name="Text 233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</a:t>
            </a:r>
            <a:endParaRPr lang="en-US" sz="650" dirty="0"/>
          </a:p>
        </p:txBody>
      </p:sp>
      <p:sp>
        <p:nvSpPr>
          <p:cNvPr id="236" name="Text 234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· Distribution Network</a:t>
            </a:r>
            <a:endParaRPr lang="en-US" sz="500" dirty="0"/>
          </a:p>
        </p:txBody>
      </p:sp>
      <p:sp>
        <p:nvSpPr>
          <p:cNvPr id="237" name="Shape 235"/>
          <p:cNvSpPr/>
          <p:nvPr/>
        </p:nvSpPr>
        <p:spPr>
          <a:xfrm>
            <a:off x="7594961" y="57736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7655768" y="58431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Dashboard</a:t>
            </a:r>
            <a:endParaRPr lang="en-US" sz="650" dirty="0"/>
          </a:p>
        </p:txBody>
      </p:sp>
      <p:sp>
        <p:nvSpPr>
          <p:cNvPr id="240" name="Text 238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Monitoring · Dashboard</a:t>
            </a:r>
            <a:endParaRPr lang="en-US" sz="500" dirty="0"/>
          </a:p>
        </p:txBody>
      </p:sp>
      <p:sp>
        <p:nvSpPr>
          <p:cNvPr id="241" name="Shape 239"/>
          <p:cNvSpPr/>
          <p:nvPr/>
        </p:nvSpPr>
        <p:spPr>
          <a:xfrm>
            <a:off x="8730463" y="578236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30463" y="5860542"/>
            <a:ext cx="277978" cy="91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99957" y="574761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44" name="Shape 242"/>
          <p:cNvSpPr/>
          <p:nvPr/>
        </p:nvSpPr>
        <p:spPr>
          <a:xfrm>
            <a:off x="8921572" y="574761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45" name="Text 243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</a:t>
            </a:r>
            <a:endParaRPr lang="en-US" sz="650" dirty="0"/>
          </a:p>
        </p:txBody>
      </p:sp>
      <p:sp>
        <p:nvSpPr>
          <p:cNvPr id="246" name="Text 244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 · Outage Planning</a:t>
            </a:r>
            <a:endParaRPr lang="en-US" sz="500" dirty="0"/>
          </a:p>
        </p:txBody>
      </p:sp>
      <p:sp>
        <p:nvSpPr>
          <p:cNvPr id="247" name="Shape 245"/>
          <p:cNvSpPr/>
          <p:nvPr/>
        </p:nvSpPr>
        <p:spPr>
          <a:xfrm>
            <a:off x="9839904" y="5764987"/>
            <a:ext cx="277978" cy="277978"/>
          </a:xfrm>
          <a:prstGeom prst="octag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Compliance</a:t>
            </a:r>
            <a:endParaRPr lang="en-US" sz="650" dirty="0"/>
          </a:p>
        </p:txBody>
      </p:sp>
      <p:sp>
        <p:nvSpPr>
          <p:cNvPr id="249" name="Text 247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Regulatory Compliance</a:t>
            </a:r>
            <a:endParaRPr lang="en-US" sz="500" dirty="0"/>
          </a:p>
        </p:txBody>
      </p:sp>
      <p:sp>
        <p:nvSpPr>
          <p:cNvPr id="250" name="Shape 248"/>
          <p:cNvSpPr/>
          <p:nvPr/>
        </p:nvSpPr>
        <p:spPr>
          <a:xfrm>
            <a:off x="10966719" y="574761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</a:t>
            </a:r>
            <a:endParaRPr lang="en-US" sz="650" dirty="0"/>
          </a:p>
        </p:txBody>
      </p:sp>
      <p:sp>
        <p:nvSpPr>
          <p:cNvPr id="252" name="Text 250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· Fuel Storage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Services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46998" y="1480414"/>
            <a:ext cx="312725" cy="312725"/>
          </a:xfrm>
          <a:prstGeom prst="ellips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493" y="1549908"/>
            <a:ext cx="173736" cy="173736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9038" y="1612453"/>
            <a:ext cx="48646" cy="48646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Focus · Goals</a:t>
            </a:r>
            <a:endParaRPr lang="en-US" sz="500" dirty="0"/>
          </a:p>
        </p:txBody>
      </p:sp>
      <p:sp>
        <p:nvSpPr>
          <p:cNvPr id="9" name="Shape 7"/>
          <p:cNvSpPr/>
          <p:nvPr/>
        </p:nvSpPr>
        <p:spPr>
          <a:xfrm>
            <a:off x="2065127" y="1575968"/>
            <a:ext cx="295351" cy="182423"/>
          </a:xfrm>
          <a:prstGeom prst="roundRect">
            <a:avLst>
              <a:gd name="adj" fmla="val 50125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3308" y="1471727"/>
            <a:ext cx="138989" cy="138989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· Consulting · Professional Services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3174568" y="148910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Analytics · Reporting</a:t>
            </a:r>
            <a:endParaRPr lang="en-US" sz="500" dirty="0"/>
          </a:p>
        </p:txBody>
      </p:sp>
      <p:sp>
        <p:nvSpPr>
          <p:cNvPr id="16" name="Shape 14"/>
          <p:cNvSpPr/>
          <p:nvPr/>
        </p:nvSpPr>
        <p:spPr>
          <a:xfrm>
            <a:off x="4275323" y="1536009"/>
            <a:ext cx="201534" cy="201534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6514" y="1536009"/>
            <a:ext cx="201534" cy="201534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· Collaboration · Alliance</a:t>
            </a:r>
            <a:endParaRPr lang="en-US" sz="500" dirty="0"/>
          </a:p>
        </p:txBody>
      </p:sp>
      <p:sp>
        <p:nvSpPr>
          <p:cNvPr id="20" name="Shape 18"/>
          <p:cNvSpPr/>
          <p:nvPr/>
        </p:nvSpPr>
        <p:spPr>
          <a:xfrm>
            <a:off x="5436885" y="148041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0319" y="1575968"/>
            <a:ext cx="121615" cy="914"/>
          </a:xfrm>
          <a:prstGeom prst="line">
            <a:avLst/>
          </a:prstGeom>
          <a:noFill/>
          <a:ln w="13970">
            <a:solidFill>
              <a:srgbClr val="D4AF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0319" y="1636776"/>
            <a:ext cx="121615" cy="914"/>
          </a:xfrm>
          <a:prstGeom prst="line">
            <a:avLst/>
          </a:prstGeom>
          <a:noFill/>
          <a:ln w="13970">
            <a:solidFill>
              <a:srgbClr val="D4AF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0319" y="1697584"/>
            <a:ext cx="121615" cy="914"/>
          </a:xfrm>
          <a:prstGeom prst="line">
            <a:avLst/>
          </a:prstGeom>
          <a:noFill/>
          <a:ln w="13970">
            <a:solidFill>
              <a:srgbClr val="D4AF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Statement of Work</a:t>
            </a:r>
            <a:endParaRPr lang="en-US" sz="500" dirty="0"/>
          </a:p>
        </p:txBody>
      </p:sp>
      <p:sp>
        <p:nvSpPr>
          <p:cNvPr id="26" name="Shape 24"/>
          <p:cNvSpPr/>
          <p:nvPr/>
        </p:nvSpPr>
        <p:spPr>
          <a:xfrm>
            <a:off x="6528953" y="14804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1074" y="1567282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612346" y="1532534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1074" y="1645463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612346" y="1610716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1074" y="1723644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612346" y="1688897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Plan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Plan · Milestones · Checklist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7621021" y="151516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21021" y="1593342"/>
            <a:ext cx="277978" cy="91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90515" y="1480414"/>
            <a:ext cx="17374" cy="52121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8" name="Shape 36"/>
          <p:cNvSpPr/>
          <p:nvPr/>
        </p:nvSpPr>
        <p:spPr>
          <a:xfrm>
            <a:off x="7812131" y="1480414"/>
            <a:ext cx="17374" cy="52121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9" name="Text 37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· Scheduling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8765210" y="152732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44361" y="16280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76401" y="152732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55553" y="16280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Team · Stakeholders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9813844" y="15064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74651" y="15759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D4AF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Reporting · Dashboard</a:t>
            </a:r>
            <a:endParaRPr lang="en-US" sz="500" dirty="0"/>
          </a:p>
        </p:txBody>
      </p:sp>
      <p:sp>
        <p:nvSpPr>
          <p:cNvPr id="51" name="Shape 49"/>
          <p:cNvSpPr/>
          <p:nvPr/>
        </p:nvSpPr>
        <p:spPr>
          <a:xfrm>
            <a:off x="10931972" y="1523848"/>
            <a:ext cx="312725" cy="225857"/>
          </a:xfrm>
          <a:prstGeom prst="wedgeRoundRectCallout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· Advisory Discussion</a:t>
            </a:r>
            <a:endParaRPr lang="en-US" sz="500" dirty="0"/>
          </a:p>
        </p:txBody>
      </p:sp>
      <p:sp>
        <p:nvSpPr>
          <p:cNvPr id="54" name="Shape 52"/>
          <p:cNvSpPr/>
          <p:nvPr/>
        </p:nvSpPr>
        <p:spPr>
          <a:xfrm>
            <a:off x="955685" y="2342540"/>
            <a:ext cx="295351" cy="295351"/>
          </a:xfrm>
          <a:prstGeom prst="irregularSeal1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· Accreditation</a:t>
            </a:r>
            <a:endParaRPr lang="en-US" sz="500" dirty="0"/>
          </a:p>
        </p:txBody>
      </p:sp>
      <p:sp>
        <p:nvSpPr>
          <p:cNvPr id="57" name="Shape 55"/>
          <p:cNvSpPr/>
          <p:nvPr/>
        </p:nvSpPr>
        <p:spPr>
          <a:xfrm>
            <a:off x="2065127" y="2342540"/>
            <a:ext cx="295351" cy="295351"/>
          </a:xfrm>
          <a:prstGeom prst="star5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 · NPS · Rating</a:t>
            </a:r>
            <a:endParaRPr lang="en-US" sz="500" dirty="0"/>
          </a:p>
        </p:txBody>
      </p:sp>
      <p:sp>
        <p:nvSpPr>
          <p:cNvPr id="60" name="Shape 58"/>
          <p:cNvSpPr/>
          <p:nvPr/>
        </p:nvSpPr>
        <p:spPr>
          <a:xfrm>
            <a:off x="3165881" y="2385974"/>
            <a:ext cx="312725" cy="208483"/>
          </a:xfrm>
          <a:prstGeom prst="chevro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Next Steps · Direction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4292697" y="2351227"/>
            <a:ext cx="277978" cy="277978"/>
          </a:xfrm>
          <a:prstGeom prst="diamond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· Focus Areas</a:t>
            </a:r>
            <a:endParaRPr lang="en-US" sz="500" dirty="0"/>
          </a:p>
        </p:txBody>
      </p:sp>
      <p:sp>
        <p:nvSpPr>
          <p:cNvPr id="66" name="Shape 64"/>
          <p:cNvSpPr/>
          <p:nvPr/>
        </p:nvSpPr>
        <p:spPr>
          <a:xfrm>
            <a:off x="5376078" y="2377288"/>
            <a:ext cx="330098" cy="225857"/>
          </a:xfrm>
          <a:prstGeom prst="ribbon2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· Awards · Distinction</a:t>
            </a:r>
            <a:endParaRPr lang="en-US" sz="500" dirty="0"/>
          </a:p>
        </p:txBody>
      </p:sp>
      <p:sp>
        <p:nvSpPr>
          <p:cNvPr id="69" name="Shape 67"/>
          <p:cNvSpPr/>
          <p:nvPr/>
        </p:nvSpPr>
        <p:spPr>
          <a:xfrm>
            <a:off x="6581074" y="232516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D4AF5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34932" y="2587508"/>
            <a:ext cx="31272" cy="31272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71" name="Text 69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Line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Relationship · Contact</a:t>
            </a:r>
            <a:endParaRPr lang="en-US" sz="500" dirty="0"/>
          </a:p>
        </p:txBody>
      </p:sp>
      <p:sp>
        <p:nvSpPr>
          <p:cNvPr id="73" name="Shape 71"/>
          <p:cNvSpPr/>
          <p:nvPr/>
        </p:nvSpPr>
        <p:spPr>
          <a:xfrm>
            <a:off x="7673142" y="2333854"/>
            <a:ext cx="173736" cy="312725"/>
          </a:xfrm>
          <a:prstGeom prst="bracePair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Alignment · Grouping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8721776" y="2394661"/>
            <a:ext cx="295351" cy="191110"/>
          </a:xfrm>
          <a:prstGeom prst="rect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721776" y="2394661"/>
            <a:ext cx="147676" cy="112928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8869451" y="2394661"/>
            <a:ext cx="147676" cy="112928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Correspondence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Correspondence · Updates</a:t>
            </a:r>
            <a:endParaRPr lang="en-US" sz="500" dirty="0"/>
          </a:p>
        </p:txBody>
      </p:sp>
      <p:sp>
        <p:nvSpPr>
          <p:cNvPr id="81" name="Shape 79"/>
          <p:cNvSpPr/>
          <p:nvPr/>
        </p:nvSpPr>
        <p:spPr>
          <a:xfrm>
            <a:off x="9822531" y="2333854"/>
            <a:ext cx="312725" cy="312725"/>
          </a:xfrm>
          <a:prstGeom prst="ellips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892025" y="2403348"/>
            <a:ext cx="173736" cy="173736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954570" y="2465893"/>
            <a:ext cx="48646" cy="48646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84" name="Text 82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Focus · Goals</a:t>
            </a:r>
            <a:endParaRPr lang="en-US" sz="500" dirty="0"/>
          </a:p>
        </p:txBody>
      </p:sp>
      <p:sp>
        <p:nvSpPr>
          <p:cNvPr id="86" name="Shape 84"/>
          <p:cNvSpPr/>
          <p:nvPr/>
        </p:nvSpPr>
        <p:spPr>
          <a:xfrm>
            <a:off x="10940659" y="2429408"/>
            <a:ext cx="295351" cy="182423"/>
          </a:xfrm>
          <a:prstGeom prst="roundRect">
            <a:avLst>
              <a:gd name="adj" fmla="val 50125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018840" y="2325167"/>
            <a:ext cx="138989" cy="138989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· Consulting · Professional Services</a:t>
            </a:r>
            <a:endParaRPr lang="en-US" sz="500" dirty="0"/>
          </a:p>
        </p:txBody>
      </p:sp>
      <p:sp>
        <p:nvSpPr>
          <p:cNvPr id="90" name="Shape 88"/>
          <p:cNvSpPr/>
          <p:nvPr/>
        </p:nvSpPr>
        <p:spPr>
          <a:xfrm>
            <a:off x="955685" y="319598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Analytics · Reporting</a:t>
            </a:r>
            <a:endParaRPr lang="en-US" sz="500" dirty="0"/>
          </a:p>
        </p:txBody>
      </p:sp>
      <p:sp>
        <p:nvSpPr>
          <p:cNvPr id="93" name="Shape 91"/>
          <p:cNvSpPr/>
          <p:nvPr/>
        </p:nvSpPr>
        <p:spPr>
          <a:xfrm>
            <a:off x="2056440" y="3242889"/>
            <a:ext cx="201534" cy="201534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167631" y="3242889"/>
            <a:ext cx="201534" cy="201534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· Collaboration · Alliance</a:t>
            </a:r>
            <a:endParaRPr lang="en-US" sz="500" dirty="0"/>
          </a:p>
        </p:txBody>
      </p:sp>
      <p:sp>
        <p:nvSpPr>
          <p:cNvPr id="97" name="Shape 95"/>
          <p:cNvSpPr/>
          <p:nvPr/>
        </p:nvSpPr>
        <p:spPr>
          <a:xfrm>
            <a:off x="3218002" y="318729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261436" y="3282848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261436" y="3343656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261436" y="3404464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Statement of Work</a:t>
            </a:r>
            <a:endParaRPr lang="en-US" sz="500" dirty="0"/>
          </a:p>
        </p:txBody>
      </p:sp>
      <p:sp>
        <p:nvSpPr>
          <p:cNvPr id="103" name="Shape 101"/>
          <p:cNvSpPr/>
          <p:nvPr/>
        </p:nvSpPr>
        <p:spPr>
          <a:xfrm>
            <a:off x="4310070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362191" y="327416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4393463" y="323941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362191" y="335234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4393463" y="331759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362191" y="343052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4393463" y="339577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Plan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Plan · Milestones · Checklist</a:t>
            </a:r>
            <a:endParaRPr lang="en-US" sz="500" dirty="0"/>
          </a:p>
        </p:txBody>
      </p:sp>
      <p:sp>
        <p:nvSpPr>
          <p:cNvPr id="112" name="Shape 110"/>
          <p:cNvSpPr/>
          <p:nvPr/>
        </p:nvSpPr>
        <p:spPr>
          <a:xfrm>
            <a:off x="5402138" y="322204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402138" y="3300222"/>
            <a:ext cx="277978" cy="91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471632" y="318729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593248" y="318729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16" name="Text 114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· Scheduling</a:t>
            </a:r>
            <a:endParaRPr lang="en-US" sz="500" dirty="0"/>
          </a:p>
        </p:txBody>
      </p:sp>
      <p:sp>
        <p:nvSpPr>
          <p:cNvPr id="118" name="Shape 116"/>
          <p:cNvSpPr/>
          <p:nvPr/>
        </p:nvSpPr>
        <p:spPr>
          <a:xfrm>
            <a:off x="6546327" y="323420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525478" y="333496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57518" y="323420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636669" y="333496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Team · Stakeholders</a:t>
            </a:r>
            <a:endParaRPr lang="en-US" sz="500" dirty="0"/>
          </a:p>
        </p:txBody>
      </p:sp>
      <p:sp>
        <p:nvSpPr>
          <p:cNvPr id="124" name="Shape 122"/>
          <p:cNvSpPr/>
          <p:nvPr/>
        </p:nvSpPr>
        <p:spPr>
          <a:xfrm>
            <a:off x="7594961" y="321335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655768" y="328284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Reporting · Dashboard</a:t>
            </a:r>
            <a:endParaRPr lang="en-US" sz="500" dirty="0"/>
          </a:p>
        </p:txBody>
      </p:sp>
      <p:sp>
        <p:nvSpPr>
          <p:cNvPr id="128" name="Shape 126"/>
          <p:cNvSpPr/>
          <p:nvPr/>
        </p:nvSpPr>
        <p:spPr>
          <a:xfrm>
            <a:off x="8713089" y="3230728"/>
            <a:ext cx="312725" cy="225857"/>
          </a:xfrm>
          <a:prstGeom prst="wedgeRoundRectCallou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650" dirty="0"/>
          </a:p>
        </p:txBody>
      </p:sp>
      <p:sp>
        <p:nvSpPr>
          <p:cNvPr id="130" name="Text 128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· Advisory Discussion</a:t>
            </a:r>
            <a:endParaRPr lang="en-US" sz="500" dirty="0"/>
          </a:p>
        </p:txBody>
      </p:sp>
      <p:sp>
        <p:nvSpPr>
          <p:cNvPr id="131" name="Shape 129"/>
          <p:cNvSpPr/>
          <p:nvPr/>
        </p:nvSpPr>
        <p:spPr>
          <a:xfrm>
            <a:off x="9831217" y="3195980"/>
            <a:ext cx="295351" cy="295351"/>
          </a:xfrm>
          <a:prstGeom prst="irregularSeal1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650" dirty="0"/>
          </a:p>
        </p:txBody>
      </p:sp>
      <p:sp>
        <p:nvSpPr>
          <p:cNvPr id="133" name="Text 131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· Accreditation</a:t>
            </a:r>
            <a:endParaRPr lang="en-US" sz="500" dirty="0"/>
          </a:p>
        </p:txBody>
      </p:sp>
      <p:sp>
        <p:nvSpPr>
          <p:cNvPr id="134" name="Shape 132"/>
          <p:cNvSpPr/>
          <p:nvPr/>
        </p:nvSpPr>
        <p:spPr>
          <a:xfrm>
            <a:off x="10940659" y="3195980"/>
            <a:ext cx="295351" cy="295351"/>
          </a:xfrm>
          <a:prstGeom prst="star5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650" dirty="0"/>
          </a:p>
        </p:txBody>
      </p:sp>
      <p:sp>
        <p:nvSpPr>
          <p:cNvPr id="136" name="Text 134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 · NPS · Rating</a:t>
            </a:r>
            <a:endParaRPr lang="en-US" sz="500" dirty="0"/>
          </a:p>
        </p:txBody>
      </p:sp>
      <p:sp>
        <p:nvSpPr>
          <p:cNvPr id="137" name="Shape 135"/>
          <p:cNvSpPr/>
          <p:nvPr/>
        </p:nvSpPr>
        <p:spPr>
          <a:xfrm>
            <a:off x="946998" y="4092854"/>
            <a:ext cx="312725" cy="208483"/>
          </a:xfrm>
          <a:prstGeom prst="chevr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Next Steps · Direction</a:t>
            </a:r>
            <a:endParaRPr lang="en-US" sz="500" dirty="0"/>
          </a:p>
        </p:txBody>
      </p:sp>
      <p:sp>
        <p:nvSpPr>
          <p:cNvPr id="140" name="Shape 138"/>
          <p:cNvSpPr/>
          <p:nvPr/>
        </p:nvSpPr>
        <p:spPr>
          <a:xfrm>
            <a:off x="2073813" y="4058107"/>
            <a:ext cx="277978" cy="277978"/>
          </a:xfrm>
          <a:prstGeom prst="diamond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· Focus Areas</a:t>
            </a:r>
            <a:endParaRPr lang="en-US" sz="500" dirty="0"/>
          </a:p>
        </p:txBody>
      </p:sp>
      <p:sp>
        <p:nvSpPr>
          <p:cNvPr id="143" name="Shape 141"/>
          <p:cNvSpPr/>
          <p:nvPr/>
        </p:nvSpPr>
        <p:spPr>
          <a:xfrm>
            <a:off x="3157195" y="4084168"/>
            <a:ext cx="330098" cy="225857"/>
          </a:xfrm>
          <a:prstGeom prst="ribbon2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· Awards · Distinction</a:t>
            </a:r>
            <a:endParaRPr lang="en-US" sz="500" dirty="0"/>
          </a:p>
        </p:txBody>
      </p:sp>
      <p:sp>
        <p:nvSpPr>
          <p:cNvPr id="146" name="Shape 144"/>
          <p:cNvSpPr/>
          <p:nvPr/>
        </p:nvSpPr>
        <p:spPr>
          <a:xfrm>
            <a:off x="4362191" y="403204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8DA0C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416049" y="4294388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48" name="Text 146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Line</a:t>
            </a:r>
            <a:endParaRPr lang="en-US" sz="650" dirty="0"/>
          </a:p>
        </p:txBody>
      </p:sp>
      <p:sp>
        <p:nvSpPr>
          <p:cNvPr id="149" name="Text 147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Relationship · Contact</a:t>
            </a:r>
            <a:endParaRPr lang="en-US" sz="500" dirty="0"/>
          </a:p>
        </p:txBody>
      </p:sp>
      <p:sp>
        <p:nvSpPr>
          <p:cNvPr id="150" name="Shape 148"/>
          <p:cNvSpPr/>
          <p:nvPr/>
        </p:nvSpPr>
        <p:spPr>
          <a:xfrm>
            <a:off x="5454259" y="4040734"/>
            <a:ext cx="173736" cy="312725"/>
          </a:xfrm>
          <a:prstGeom prst="bracePair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650" dirty="0"/>
          </a:p>
        </p:txBody>
      </p:sp>
      <p:sp>
        <p:nvSpPr>
          <p:cNvPr id="152" name="Text 150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Alignment · Grouping</a:t>
            </a:r>
            <a:endParaRPr lang="en-US" sz="500" dirty="0"/>
          </a:p>
        </p:txBody>
      </p:sp>
      <p:sp>
        <p:nvSpPr>
          <p:cNvPr id="153" name="Shape 151"/>
          <p:cNvSpPr/>
          <p:nvPr/>
        </p:nvSpPr>
        <p:spPr>
          <a:xfrm>
            <a:off x="6502893" y="4101541"/>
            <a:ext cx="295351" cy="191110"/>
          </a:xfrm>
          <a:prstGeom prst="rec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502893" y="4101541"/>
            <a:ext cx="147676" cy="112928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6650568" y="4101541"/>
            <a:ext cx="147676" cy="112928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Correspondence</a:t>
            </a:r>
            <a:endParaRPr lang="en-US" sz="650" dirty="0"/>
          </a:p>
        </p:txBody>
      </p:sp>
      <p:sp>
        <p:nvSpPr>
          <p:cNvPr id="157" name="Text 155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Correspondence · Updates</a:t>
            </a:r>
            <a:endParaRPr lang="en-US" sz="500" dirty="0"/>
          </a:p>
        </p:txBody>
      </p:sp>
      <p:sp>
        <p:nvSpPr>
          <p:cNvPr id="158" name="Shape 156"/>
          <p:cNvSpPr/>
          <p:nvPr/>
        </p:nvSpPr>
        <p:spPr>
          <a:xfrm>
            <a:off x="7603647" y="4040734"/>
            <a:ext cx="312725" cy="312725"/>
          </a:xfrm>
          <a:prstGeom prst="ellips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673142" y="4110228"/>
            <a:ext cx="173736" cy="173736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735687" y="4172773"/>
            <a:ext cx="48646" cy="48646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61" name="Text 159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Focus · Goals</a:t>
            </a:r>
            <a:endParaRPr lang="en-US" sz="500" dirty="0"/>
          </a:p>
        </p:txBody>
      </p:sp>
      <p:sp>
        <p:nvSpPr>
          <p:cNvPr id="163" name="Shape 161"/>
          <p:cNvSpPr/>
          <p:nvPr/>
        </p:nvSpPr>
        <p:spPr>
          <a:xfrm>
            <a:off x="8721776" y="4136288"/>
            <a:ext cx="295351" cy="182423"/>
          </a:xfrm>
          <a:prstGeom prst="roundRect">
            <a:avLst>
              <a:gd name="adj" fmla="val 50125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799957" y="4032047"/>
            <a:ext cx="138989" cy="138989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· Consulting · Professional Services</a:t>
            </a:r>
            <a:endParaRPr lang="en-US" sz="500" dirty="0"/>
          </a:p>
        </p:txBody>
      </p:sp>
      <p:sp>
        <p:nvSpPr>
          <p:cNvPr id="167" name="Shape 165"/>
          <p:cNvSpPr/>
          <p:nvPr/>
        </p:nvSpPr>
        <p:spPr>
          <a:xfrm>
            <a:off x="9831217" y="404942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650" dirty="0"/>
          </a:p>
        </p:txBody>
      </p:sp>
      <p:sp>
        <p:nvSpPr>
          <p:cNvPr id="169" name="Text 167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Analytics · Reporting</a:t>
            </a:r>
            <a:endParaRPr lang="en-US" sz="500" dirty="0"/>
          </a:p>
        </p:txBody>
      </p:sp>
      <p:sp>
        <p:nvSpPr>
          <p:cNvPr id="170" name="Shape 168"/>
          <p:cNvSpPr/>
          <p:nvPr/>
        </p:nvSpPr>
        <p:spPr>
          <a:xfrm>
            <a:off x="10931972" y="4096329"/>
            <a:ext cx="201534" cy="201534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043163" y="4096329"/>
            <a:ext cx="201534" cy="201534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650" dirty="0"/>
          </a:p>
        </p:txBody>
      </p:sp>
      <p:sp>
        <p:nvSpPr>
          <p:cNvPr id="173" name="Text 171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· Collaboration · Alliance</a:t>
            </a:r>
            <a:endParaRPr lang="en-US" sz="500" dirty="0"/>
          </a:p>
        </p:txBody>
      </p:sp>
      <p:sp>
        <p:nvSpPr>
          <p:cNvPr id="174" name="Shape 172"/>
          <p:cNvSpPr/>
          <p:nvPr/>
        </p:nvSpPr>
        <p:spPr>
          <a:xfrm>
            <a:off x="999119" y="489417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42553" y="4989728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42553" y="5050536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42553" y="5111344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650" dirty="0"/>
          </a:p>
        </p:txBody>
      </p:sp>
      <p:sp>
        <p:nvSpPr>
          <p:cNvPr id="179" name="Text 177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Statement of Work</a:t>
            </a:r>
            <a:endParaRPr lang="en-US" sz="500" dirty="0"/>
          </a:p>
        </p:txBody>
      </p:sp>
      <p:sp>
        <p:nvSpPr>
          <p:cNvPr id="180" name="Shape 178"/>
          <p:cNvSpPr/>
          <p:nvPr/>
        </p:nvSpPr>
        <p:spPr>
          <a:xfrm>
            <a:off x="2091187" y="489417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143308" y="498104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flipV="1">
            <a:off x="2174580" y="494629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143308" y="505922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flipV="1">
            <a:off x="2174580" y="502447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2143308" y="513740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2174580" y="510265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Plan</a:t>
            </a:r>
            <a:endParaRPr lang="en-US" sz="650" dirty="0"/>
          </a:p>
        </p:txBody>
      </p:sp>
      <p:sp>
        <p:nvSpPr>
          <p:cNvPr id="188" name="Text 186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Plan · Milestones · Checklist</a:t>
            </a:r>
            <a:endParaRPr lang="en-US" sz="500" dirty="0"/>
          </a:p>
        </p:txBody>
      </p:sp>
      <p:sp>
        <p:nvSpPr>
          <p:cNvPr id="189" name="Shape 187"/>
          <p:cNvSpPr/>
          <p:nvPr/>
        </p:nvSpPr>
        <p:spPr>
          <a:xfrm>
            <a:off x="3183255" y="492892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183255" y="5007102"/>
            <a:ext cx="277978" cy="91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252749" y="489417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92" name="Shape 190"/>
          <p:cNvSpPr/>
          <p:nvPr/>
        </p:nvSpPr>
        <p:spPr>
          <a:xfrm>
            <a:off x="3374365" y="4894174"/>
            <a:ext cx="17374" cy="52121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93" name="Text 191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650" dirty="0"/>
          </a:p>
        </p:txBody>
      </p:sp>
      <p:sp>
        <p:nvSpPr>
          <p:cNvPr id="194" name="Text 192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· Scheduling</a:t>
            </a:r>
            <a:endParaRPr lang="en-US" sz="500" dirty="0"/>
          </a:p>
        </p:txBody>
      </p:sp>
      <p:sp>
        <p:nvSpPr>
          <p:cNvPr id="195" name="Shape 193"/>
          <p:cNvSpPr/>
          <p:nvPr/>
        </p:nvSpPr>
        <p:spPr>
          <a:xfrm>
            <a:off x="4327444" y="494108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306595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438635" y="494108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4417786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650" dirty="0"/>
          </a:p>
        </p:txBody>
      </p:sp>
      <p:sp>
        <p:nvSpPr>
          <p:cNvPr id="200" name="Text 198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Team · Stakeholders</a:t>
            </a:r>
            <a:endParaRPr lang="en-US" sz="500" dirty="0"/>
          </a:p>
        </p:txBody>
      </p:sp>
      <p:sp>
        <p:nvSpPr>
          <p:cNvPr id="201" name="Shape 199"/>
          <p:cNvSpPr/>
          <p:nvPr/>
        </p:nvSpPr>
        <p:spPr>
          <a:xfrm>
            <a:off x="5376078" y="492023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5436885" y="498972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</a:t>
            </a:r>
            <a:endParaRPr lang="en-US" sz="650" dirty="0"/>
          </a:p>
        </p:txBody>
      </p:sp>
      <p:sp>
        <p:nvSpPr>
          <p:cNvPr id="204" name="Text 202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Reporting · Dashboard</a:t>
            </a:r>
            <a:endParaRPr lang="en-US" sz="500" dirty="0"/>
          </a:p>
        </p:txBody>
      </p:sp>
      <p:sp>
        <p:nvSpPr>
          <p:cNvPr id="205" name="Shape 203"/>
          <p:cNvSpPr/>
          <p:nvPr/>
        </p:nvSpPr>
        <p:spPr>
          <a:xfrm>
            <a:off x="6494206" y="4937608"/>
            <a:ext cx="312725" cy="225857"/>
          </a:xfrm>
          <a:prstGeom prst="wedgeRoundRectCallou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· Advisory Discussion</a:t>
            </a:r>
            <a:endParaRPr lang="en-US" sz="500" dirty="0"/>
          </a:p>
        </p:txBody>
      </p:sp>
      <p:sp>
        <p:nvSpPr>
          <p:cNvPr id="208" name="Shape 206"/>
          <p:cNvSpPr/>
          <p:nvPr/>
        </p:nvSpPr>
        <p:spPr>
          <a:xfrm>
            <a:off x="7612334" y="4902860"/>
            <a:ext cx="295351" cy="295351"/>
          </a:xfrm>
          <a:prstGeom prst="irregularSeal1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650" dirty="0"/>
          </a:p>
        </p:txBody>
      </p:sp>
      <p:sp>
        <p:nvSpPr>
          <p:cNvPr id="210" name="Text 208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· Accreditation</a:t>
            </a:r>
            <a:endParaRPr lang="en-US" sz="500" dirty="0"/>
          </a:p>
        </p:txBody>
      </p:sp>
      <p:sp>
        <p:nvSpPr>
          <p:cNvPr id="211" name="Shape 209"/>
          <p:cNvSpPr/>
          <p:nvPr/>
        </p:nvSpPr>
        <p:spPr>
          <a:xfrm>
            <a:off x="8721776" y="4902860"/>
            <a:ext cx="295351" cy="295351"/>
          </a:xfrm>
          <a:prstGeom prst="star5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650" dirty="0"/>
          </a:p>
        </p:txBody>
      </p:sp>
      <p:sp>
        <p:nvSpPr>
          <p:cNvPr id="213" name="Text 211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 · NPS · Rating</a:t>
            </a:r>
            <a:endParaRPr lang="en-US" sz="500" dirty="0"/>
          </a:p>
        </p:txBody>
      </p:sp>
      <p:sp>
        <p:nvSpPr>
          <p:cNvPr id="214" name="Shape 212"/>
          <p:cNvSpPr/>
          <p:nvPr/>
        </p:nvSpPr>
        <p:spPr>
          <a:xfrm>
            <a:off x="9822531" y="4946294"/>
            <a:ext cx="312725" cy="208483"/>
          </a:xfrm>
          <a:prstGeom prst="chevr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650" dirty="0"/>
          </a:p>
        </p:txBody>
      </p:sp>
      <p:sp>
        <p:nvSpPr>
          <p:cNvPr id="216" name="Text 214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Next Steps · Direction</a:t>
            </a:r>
            <a:endParaRPr lang="en-US" sz="500" dirty="0"/>
          </a:p>
        </p:txBody>
      </p:sp>
      <p:sp>
        <p:nvSpPr>
          <p:cNvPr id="217" name="Shape 215"/>
          <p:cNvSpPr/>
          <p:nvPr/>
        </p:nvSpPr>
        <p:spPr>
          <a:xfrm>
            <a:off x="10949346" y="4911547"/>
            <a:ext cx="277978" cy="277978"/>
          </a:xfrm>
          <a:prstGeom prst="diamond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650" dirty="0"/>
          </a:p>
        </p:txBody>
      </p:sp>
      <p:sp>
        <p:nvSpPr>
          <p:cNvPr id="219" name="Text 217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· Focus Areas</a:t>
            </a:r>
            <a:endParaRPr lang="en-US" sz="500" dirty="0"/>
          </a:p>
        </p:txBody>
      </p:sp>
      <p:sp>
        <p:nvSpPr>
          <p:cNvPr id="220" name="Shape 218"/>
          <p:cNvSpPr/>
          <p:nvPr/>
        </p:nvSpPr>
        <p:spPr>
          <a:xfrm>
            <a:off x="938312" y="5791048"/>
            <a:ext cx="330098" cy="225857"/>
          </a:xfrm>
          <a:prstGeom prst="ribbon2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650" dirty="0"/>
          </a:p>
        </p:txBody>
      </p:sp>
      <p:sp>
        <p:nvSpPr>
          <p:cNvPr id="222" name="Text 220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· Awards · Distinction</a:t>
            </a:r>
            <a:endParaRPr lang="en-US" sz="500" dirty="0"/>
          </a:p>
        </p:txBody>
      </p:sp>
      <p:sp>
        <p:nvSpPr>
          <p:cNvPr id="223" name="Shape 221"/>
          <p:cNvSpPr/>
          <p:nvPr/>
        </p:nvSpPr>
        <p:spPr>
          <a:xfrm>
            <a:off x="2143308" y="573892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8DA0C2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2197166" y="6001268"/>
            <a:ext cx="31272" cy="31272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25" name="Text 223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Line</a:t>
            </a:r>
            <a:endParaRPr lang="en-US" sz="650" dirty="0"/>
          </a:p>
        </p:txBody>
      </p:sp>
      <p:sp>
        <p:nvSpPr>
          <p:cNvPr id="226" name="Text 224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Relationship · Contact</a:t>
            </a:r>
            <a:endParaRPr lang="en-US" sz="500" dirty="0"/>
          </a:p>
        </p:txBody>
      </p:sp>
      <p:sp>
        <p:nvSpPr>
          <p:cNvPr id="227" name="Shape 225"/>
          <p:cNvSpPr/>
          <p:nvPr/>
        </p:nvSpPr>
        <p:spPr>
          <a:xfrm>
            <a:off x="3235376" y="5747614"/>
            <a:ext cx="173736" cy="312725"/>
          </a:xfrm>
          <a:prstGeom prst="bracePair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650" dirty="0"/>
          </a:p>
        </p:txBody>
      </p:sp>
      <p:sp>
        <p:nvSpPr>
          <p:cNvPr id="229" name="Text 227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Alignment · Grouping</a:t>
            </a:r>
            <a:endParaRPr lang="en-US" sz="500" dirty="0"/>
          </a:p>
        </p:txBody>
      </p:sp>
      <p:sp>
        <p:nvSpPr>
          <p:cNvPr id="230" name="Shape 228"/>
          <p:cNvSpPr/>
          <p:nvPr/>
        </p:nvSpPr>
        <p:spPr>
          <a:xfrm>
            <a:off x="4284010" y="5808421"/>
            <a:ext cx="295351" cy="191110"/>
          </a:xfrm>
          <a:prstGeom prst="rect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4284010" y="5808421"/>
            <a:ext cx="147676" cy="112928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 flipV="1">
            <a:off x="4431685" y="5808421"/>
            <a:ext cx="147676" cy="112928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Correspondence</a:t>
            </a:r>
            <a:endParaRPr lang="en-US" sz="650" dirty="0"/>
          </a:p>
        </p:txBody>
      </p:sp>
      <p:sp>
        <p:nvSpPr>
          <p:cNvPr id="234" name="Text 232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Correspondence · Updates</a:t>
            </a:r>
            <a:endParaRPr lang="en-US" sz="500" dirty="0"/>
          </a:p>
        </p:txBody>
      </p:sp>
      <p:sp>
        <p:nvSpPr>
          <p:cNvPr id="235" name="Shape 233"/>
          <p:cNvSpPr/>
          <p:nvPr/>
        </p:nvSpPr>
        <p:spPr>
          <a:xfrm>
            <a:off x="5384764" y="5747614"/>
            <a:ext cx="312725" cy="312725"/>
          </a:xfrm>
          <a:prstGeom prst="ellips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5454259" y="5817108"/>
            <a:ext cx="173736" cy="173736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5516804" y="5879653"/>
            <a:ext cx="48646" cy="48646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38" name="Text 236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650" dirty="0"/>
          </a:p>
        </p:txBody>
      </p:sp>
      <p:sp>
        <p:nvSpPr>
          <p:cNvPr id="239" name="Text 237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Focus · Goals</a:t>
            </a:r>
            <a:endParaRPr lang="en-US" sz="500" dirty="0"/>
          </a:p>
        </p:txBody>
      </p:sp>
      <p:sp>
        <p:nvSpPr>
          <p:cNvPr id="240" name="Shape 238"/>
          <p:cNvSpPr/>
          <p:nvPr/>
        </p:nvSpPr>
        <p:spPr>
          <a:xfrm>
            <a:off x="6502893" y="5843168"/>
            <a:ext cx="295351" cy="182423"/>
          </a:xfrm>
          <a:prstGeom prst="roundRect">
            <a:avLst>
              <a:gd name="adj" fmla="val 50125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6581074" y="5738927"/>
            <a:ext cx="138989" cy="138989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650" dirty="0"/>
          </a:p>
        </p:txBody>
      </p:sp>
      <p:sp>
        <p:nvSpPr>
          <p:cNvPr id="243" name="Text 241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· Consulting · Professional Services</a:t>
            </a:r>
            <a:endParaRPr lang="en-US" sz="500" dirty="0"/>
          </a:p>
        </p:txBody>
      </p:sp>
      <p:sp>
        <p:nvSpPr>
          <p:cNvPr id="244" name="Shape 242"/>
          <p:cNvSpPr/>
          <p:nvPr/>
        </p:nvSpPr>
        <p:spPr>
          <a:xfrm>
            <a:off x="7612334" y="575630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650" dirty="0"/>
          </a:p>
        </p:txBody>
      </p:sp>
      <p:sp>
        <p:nvSpPr>
          <p:cNvPr id="246" name="Text 244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Analytics · Reporting</a:t>
            </a:r>
            <a:endParaRPr lang="en-US" sz="500" dirty="0"/>
          </a:p>
        </p:txBody>
      </p:sp>
      <p:sp>
        <p:nvSpPr>
          <p:cNvPr id="247" name="Shape 245"/>
          <p:cNvSpPr/>
          <p:nvPr/>
        </p:nvSpPr>
        <p:spPr>
          <a:xfrm>
            <a:off x="8713089" y="5803209"/>
            <a:ext cx="201534" cy="201534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824280" y="5803209"/>
            <a:ext cx="201534" cy="201534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650" dirty="0"/>
          </a:p>
        </p:txBody>
      </p:sp>
      <p:sp>
        <p:nvSpPr>
          <p:cNvPr id="250" name="Text 248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· Collaboration · Alliance</a:t>
            </a:r>
            <a:endParaRPr lang="en-US" sz="500" dirty="0"/>
          </a:p>
        </p:txBody>
      </p:sp>
      <p:sp>
        <p:nvSpPr>
          <p:cNvPr id="251" name="Shape 249"/>
          <p:cNvSpPr/>
          <p:nvPr/>
        </p:nvSpPr>
        <p:spPr>
          <a:xfrm>
            <a:off x="9874651" y="574761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918085" y="5843168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918085" y="5903976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918085" y="5964784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650" dirty="0"/>
          </a:p>
        </p:txBody>
      </p:sp>
      <p:sp>
        <p:nvSpPr>
          <p:cNvPr id="256" name="Text 254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Statement of Work</a:t>
            </a:r>
            <a:endParaRPr lang="en-US" sz="500" dirty="0"/>
          </a:p>
        </p:txBody>
      </p:sp>
      <p:sp>
        <p:nvSpPr>
          <p:cNvPr id="257" name="Shape 255"/>
          <p:cNvSpPr/>
          <p:nvPr/>
        </p:nvSpPr>
        <p:spPr>
          <a:xfrm>
            <a:off x="10966719" y="57476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1018840" y="583448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 flipV="1">
            <a:off x="11050113" y="579973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1018840" y="591266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 flipV="1">
            <a:off x="11050113" y="587791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1018840" y="599084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 flipV="1">
            <a:off x="11050113" y="595609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Plan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Plan · Milestones · Checklist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1746" y="1506474"/>
            <a:ext cx="243230" cy="130302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9160" y="1483888"/>
            <a:ext cx="45171" cy="45171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6" name="Shape 4"/>
          <p:cNvSpPr/>
          <p:nvPr/>
        </p:nvSpPr>
        <p:spPr>
          <a:xfrm>
            <a:off x="981746" y="1636776"/>
            <a:ext cx="243230" cy="914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9160" y="1614190"/>
            <a:ext cx="45171" cy="45171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981746" y="1636776"/>
            <a:ext cx="243230" cy="130302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9160" y="1744492"/>
            <a:ext cx="45171" cy="45171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0" name="Shape 8"/>
          <p:cNvSpPr/>
          <p:nvPr/>
        </p:nvSpPr>
        <p:spPr>
          <a:xfrm>
            <a:off x="1193703" y="1605504"/>
            <a:ext cx="62545" cy="62545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Machine Learning · Neural Network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2065127" y="1489100"/>
            <a:ext cx="295351" cy="295351"/>
          </a:xfrm>
          <a:prstGeom prst="gear6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· AI · Intelligent Process</a:t>
            </a:r>
            <a:endParaRPr lang="en-US" sz="500" dirty="0"/>
          </a:p>
        </p:txBody>
      </p:sp>
      <p:sp>
        <p:nvSpPr>
          <p:cNvPr id="16" name="Shape 14"/>
          <p:cNvSpPr/>
          <p:nvPr/>
        </p:nvSpPr>
        <p:spPr>
          <a:xfrm>
            <a:off x="3165881" y="1506474"/>
            <a:ext cx="312725" cy="225857"/>
          </a:xfrm>
          <a:prstGeom prst="wedgeRoundRectCallout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· Copilot · Chatbot</a:t>
            </a:r>
            <a:endParaRPr lang="en-US" sz="500" dirty="0"/>
          </a:p>
        </p:txBody>
      </p:sp>
      <p:sp>
        <p:nvSpPr>
          <p:cNvPr id="19" name="Shape 17"/>
          <p:cNvSpPr/>
          <p:nvPr/>
        </p:nvSpPr>
        <p:spPr>
          <a:xfrm>
            <a:off x="4266636" y="1549908"/>
            <a:ext cx="330098" cy="173736"/>
          </a:xfrm>
          <a:prstGeom prst="ellips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93463" y="1598554"/>
            <a:ext cx="76444" cy="76444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21" name="Text 19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Insight · Recognition</a:t>
            </a:r>
            <a:endParaRPr lang="en-US" sz="500" dirty="0"/>
          </a:p>
        </p:txBody>
      </p:sp>
      <p:sp>
        <p:nvSpPr>
          <p:cNvPr id="23" name="Shape 21"/>
          <p:cNvSpPr/>
          <p:nvPr/>
        </p:nvSpPr>
        <p:spPr>
          <a:xfrm>
            <a:off x="5395189" y="1688897"/>
            <a:ext cx="52121" cy="95555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4" name="Shape 22"/>
          <p:cNvSpPr/>
          <p:nvPr/>
        </p:nvSpPr>
        <p:spPr>
          <a:xfrm>
            <a:off x="5475107" y="1619402"/>
            <a:ext cx="52121" cy="165049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5555026" y="1662836"/>
            <a:ext cx="52121" cy="121615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6" name="Shape 24"/>
          <p:cNvSpPr/>
          <p:nvPr/>
        </p:nvSpPr>
        <p:spPr>
          <a:xfrm>
            <a:off x="5634944" y="1558595"/>
            <a:ext cx="52121" cy="225857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7" name="Shape 25"/>
          <p:cNvSpPr/>
          <p:nvPr/>
        </p:nvSpPr>
        <p:spPr>
          <a:xfrm flipV="1">
            <a:off x="5421249" y="1602029"/>
            <a:ext cx="79919" cy="69494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01168" y="1602029"/>
            <a:ext cx="79919" cy="43434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5581086" y="1541221"/>
            <a:ext cx="79919" cy="104242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· Forecasting</a:t>
            </a:r>
            <a:endParaRPr lang="en-US" sz="500" dirty="0"/>
          </a:p>
        </p:txBody>
      </p:sp>
      <p:sp>
        <p:nvSpPr>
          <p:cNvPr id="32" name="Shape 30"/>
          <p:cNvSpPr/>
          <p:nvPr/>
        </p:nvSpPr>
        <p:spPr>
          <a:xfrm>
            <a:off x="6581074" y="1567282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3" name="Shape 31"/>
          <p:cNvSpPr/>
          <p:nvPr/>
        </p:nvSpPr>
        <p:spPr>
          <a:xfrm>
            <a:off x="6581074" y="1662836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4" name="Shape 32"/>
          <p:cNvSpPr/>
          <p:nvPr/>
        </p:nvSpPr>
        <p:spPr>
          <a:xfrm>
            <a:off x="6676629" y="1567282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6629" y="1662836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6" name="Text 34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· Model Deployment</a:t>
            </a:r>
            <a:endParaRPr lang="en-US" sz="500" dirty="0"/>
          </a:p>
        </p:txBody>
      </p:sp>
      <p:sp>
        <p:nvSpPr>
          <p:cNvPr id="38" name="Shape 36"/>
          <p:cNvSpPr/>
          <p:nvPr/>
        </p:nvSpPr>
        <p:spPr>
          <a:xfrm>
            <a:off x="7638395" y="1480414"/>
            <a:ext cx="243230" cy="312725"/>
          </a:xfrm>
          <a:prstGeom prst="ca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· Data Lake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8747836" y="14804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99957" y="1567282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831229" y="1532534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99957" y="1645463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8831229" y="1610716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99957" y="1723644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8831229" y="1688897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· Testing Checklist</a:t>
            </a:r>
            <a:endParaRPr lang="en-US" sz="500" dirty="0"/>
          </a:p>
        </p:txBody>
      </p:sp>
      <p:sp>
        <p:nvSpPr>
          <p:cNvPr id="50" name="Shape 48"/>
          <p:cNvSpPr/>
          <p:nvPr/>
        </p:nvSpPr>
        <p:spPr>
          <a:xfrm>
            <a:off x="9831217" y="1497787"/>
            <a:ext cx="295351" cy="277978"/>
          </a:xfrm>
          <a:prstGeom prst="hexago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Node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 Node · Inference</a:t>
            </a:r>
            <a:endParaRPr lang="en-US" sz="500" dirty="0"/>
          </a:p>
        </p:txBody>
      </p:sp>
      <p:sp>
        <p:nvSpPr>
          <p:cNvPr id="53" name="Shape 51"/>
          <p:cNvSpPr/>
          <p:nvPr/>
        </p:nvSpPr>
        <p:spPr>
          <a:xfrm>
            <a:off x="10940659" y="148910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· Pattern Detection</a:t>
            </a:r>
            <a:endParaRPr lang="en-US" sz="500" dirty="0"/>
          </a:p>
        </p:txBody>
      </p:sp>
      <p:sp>
        <p:nvSpPr>
          <p:cNvPr id="56" name="Shape 54"/>
          <p:cNvSpPr/>
          <p:nvPr/>
        </p:nvSpPr>
        <p:spPr>
          <a:xfrm>
            <a:off x="946998" y="2385974"/>
            <a:ext cx="312725" cy="208483"/>
          </a:xfrm>
          <a:prstGeom prst="chevro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 · Logic Path</a:t>
            </a:r>
            <a:endParaRPr lang="en-US" sz="500" dirty="0"/>
          </a:p>
        </p:txBody>
      </p:sp>
      <p:sp>
        <p:nvSpPr>
          <p:cNvPr id="59" name="Shape 57"/>
          <p:cNvSpPr/>
          <p:nvPr/>
        </p:nvSpPr>
        <p:spPr>
          <a:xfrm>
            <a:off x="2073813" y="2351227"/>
            <a:ext cx="277978" cy="277978"/>
          </a:xfrm>
          <a:prstGeom prst="diamond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Accuracy · Confidence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3183255" y="2351227"/>
            <a:ext cx="277978" cy="277978"/>
          </a:xfrm>
          <a:prstGeom prst="su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· Innovation</a:t>
            </a:r>
            <a:endParaRPr lang="en-US" sz="500" dirty="0"/>
          </a:p>
        </p:txBody>
      </p:sp>
      <p:sp>
        <p:nvSpPr>
          <p:cNvPr id="65" name="Shape 63"/>
          <p:cNvSpPr/>
          <p:nvPr/>
        </p:nvSpPr>
        <p:spPr>
          <a:xfrm>
            <a:off x="4287484" y="2424196"/>
            <a:ext cx="132039" cy="132039"/>
          </a:xfrm>
          <a:prstGeom prst="ellipse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14312" y="2490216"/>
            <a:ext cx="147676" cy="914"/>
          </a:xfrm>
          <a:prstGeom prst="line">
            <a:avLst/>
          </a:prstGeom>
          <a:noFill/>
          <a:ln w="20320">
            <a:solidFill>
              <a:srgbClr val="D4AF5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18553" y="2490216"/>
            <a:ext cx="914" cy="4343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56775" y="2490216"/>
            <a:ext cx="914" cy="4343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· API Key</a:t>
            </a:r>
            <a:endParaRPr lang="en-US" sz="500" dirty="0"/>
          </a:p>
        </p:txBody>
      </p:sp>
      <p:sp>
        <p:nvSpPr>
          <p:cNvPr id="71" name="Shape 69"/>
          <p:cNvSpPr/>
          <p:nvPr/>
        </p:nvSpPr>
        <p:spPr>
          <a:xfrm>
            <a:off x="5436885" y="238076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16037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48076" y="238076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527228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· Oversight</a:t>
            </a:r>
            <a:endParaRPr lang="en-US" sz="500" dirty="0"/>
          </a:p>
        </p:txBody>
      </p:sp>
      <p:sp>
        <p:nvSpPr>
          <p:cNvPr id="77" name="Shape 75"/>
          <p:cNvSpPr/>
          <p:nvPr/>
        </p:nvSpPr>
        <p:spPr>
          <a:xfrm>
            <a:off x="6502893" y="2342540"/>
            <a:ext cx="295351" cy="295351"/>
          </a:xfrm>
          <a:prstGeom prst="irregularSeal1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· Governance · Ethics</a:t>
            </a:r>
            <a:endParaRPr lang="en-US" sz="500" dirty="0"/>
          </a:p>
        </p:txBody>
      </p:sp>
      <p:sp>
        <p:nvSpPr>
          <p:cNvPr id="80" name="Shape 78"/>
          <p:cNvSpPr/>
          <p:nvPr/>
        </p:nvSpPr>
        <p:spPr>
          <a:xfrm>
            <a:off x="7647081" y="2377288"/>
            <a:ext cx="225857" cy="225857"/>
          </a:xfrm>
          <a:prstGeom prst="mathPlus">
            <a:avLst/>
          </a:prstGeom>
          <a:solidFill>
            <a:srgbClr val="D4AF5A"/>
          </a:solidFill>
          <a:ln/>
        </p:spPr>
      </p:sp>
      <p:sp>
        <p:nvSpPr>
          <p:cNvPr id="81" name="Text 79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Augmentation · Enhancement</a:t>
            </a:r>
            <a:endParaRPr lang="en-US" sz="500" dirty="0"/>
          </a:p>
        </p:txBody>
      </p:sp>
      <p:sp>
        <p:nvSpPr>
          <p:cNvPr id="83" name="Shape 81"/>
          <p:cNvSpPr/>
          <p:nvPr/>
        </p:nvSpPr>
        <p:spPr>
          <a:xfrm>
            <a:off x="8747836" y="2359914"/>
            <a:ext cx="243230" cy="130302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725251" y="2337328"/>
            <a:ext cx="45171" cy="45171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85" name="Shape 83"/>
          <p:cNvSpPr/>
          <p:nvPr/>
        </p:nvSpPr>
        <p:spPr>
          <a:xfrm>
            <a:off x="8747836" y="2490216"/>
            <a:ext cx="243230" cy="91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725251" y="2467630"/>
            <a:ext cx="45171" cy="45171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87" name="Shape 85"/>
          <p:cNvSpPr/>
          <p:nvPr/>
        </p:nvSpPr>
        <p:spPr>
          <a:xfrm flipV="1">
            <a:off x="8747836" y="2490216"/>
            <a:ext cx="243230" cy="130302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725251" y="2597932"/>
            <a:ext cx="45171" cy="45171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89" name="Shape 87"/>
          <p:cNvSpPr/>
          <p:nvPr/>
        </p:nvSpPr>
        <p:spPr>
          <a:xfrm>
            <a:off x="8959794" y="2458944"/>
            <a:ext cx="62545" cy="62545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90" name="Text 88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Machine Learning · Neural Network</a:t>
            </a:r>
            <a:endParaRPr lang="en-US" sz="500" dirty="0"/>
          </a:p>
        </p:txBody>
      </p:sp>
      <p:sp>
        <p:nvSpPr>
          <p:cNvPr id="92" name="Shape 90"/>
          <p:cNvSpPr/>
          <p:nvPr/>
        </p:nvSpPr>
        <p:spPr>
          <a:xfrm>
            <a:off x="9831217" y="2342540"/>
            <a:ext cx="295351" cy="295351"/>
          </a:xfrm>
          <a:prstGeom prst="gear6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· AI · Intelligent Process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10931972" y="2359914"/>
            <a:ext cx="312725" cy="225857"/>
          </a:xfrm>
          <a:prstGeom prst="wedgeRoundRectCallou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· Copilot · Chatbot</a:t>
            </a:r>
            <a:endParaRPr lang="en-US" sz="500" dirty="0"/>
          </a:p>
        </p:txBody>
      </p:sp>
      <p:sp>
        <p:nvSpPr>
          <p:cNvPr id="98" name="Shape 96"/>
          <p:cNvSpPr/>
          <p:nvPr/>
        </p:nvSpPr>
        <p:spPr>
          <a:xfrm>
            <a:off x="938312" y="3256788"/>
            <a:ext cx="330098" cy="173736"/>
          </a:xfrm>
          <a:prstGeom prst="ellips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65139" y="3305434"/>
            <a:ext cx="76444" cy="76444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00" name="Text 98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Insight · Recognition</a:t>
            </a:r>
            <a:endParaRPr lang="en-US" sz="500" dirty="0"/>
          </a:p>
        </p:txBody>
      </p:sp>
      <p:sp>
        <p:nvSpPr>
          <p:cNvPr id="102" name="Shape 100"/>
          <p:cNvSpPr/>
          <p:nvPr/>
        </p:nvSpPr>
        <p:spPr>
          <a:xfrm>
            <a:off x="2066864" y="3395777"/>
            <a:ext cx="52121" cy="9555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146783" y="3326282"/>
            <a:ext cx="52121" cy="165049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04" name="Shape 102"/>
          <p:cNvSpPr/>
          <p:nvPr/>
        </p:nvSpPr>
        <p:spPr>
          <a:xfrm>
            <a:off x="2226701" y="3369716"/>
            <a:ext cx="52121" cy="12161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05" name="Shape 103"/>
          <p:cNvSpPr/>
          <p:nvPr/>
        </p:nvSpPr>
        <p:spPr>
          <a:xfrm>
            <a:off x="2306620" y="3265475"/>
            <a:ext cx="52121" cy="225857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06" name="Shape 104"/>
          <p:cNvSpPr/>
          <p:nvPr/>
        </p:nvSpPr>
        <p:spPr>
          <a:xfrm flipV="1">
            <a:off x="2092924" y="3308909"/>
            <a:ext cx="79919" cy="6949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172843" y="3308909"/>
            <a:ext cx="79919" cy="4343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2252762" y="3248101"/>
            <a:ext cx="79919" cy="104242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· Forecasting</a:t>
            </a:r>
            <a:endParaRPr lang="en-US" sz="500" dirty="0"/>
          </a:p>
        </p:txBody>
      </p:sp>
      <p:sp>
        <p:nvSpPr>
          <p:cNvPr id="111" name="Shape 109"/>
          <p:cNvSpPr/>
          <p:nvPr/>
        </p:nvSpPr>
        <p:spPr>
          <a:xfrm>
            <a:off x="3252749" y="327416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12" name="Shape 110"/>
          <p:cNvSpPr/>
          <p:nvPr/>
        </p:nvSpPr>
        <p:spPr>
          <a:xfrm>
            <a:off x="3252749" y="336971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13" name="Shape 111"/>
          <p:cNvSpPr/>
          <p:nvPr/>
        </p:nvSpPr>
        <p:spPr>
          <a:xfrm>
            <a:off x="3348304" y="327416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14" name="Shape 112"/>
          <p:cNvSpPr/>
          <p:nvPr/>
        </p:nvSpPr>
        <p:spPr>
          <a:xfrm>
            <a:off x="3348304" y="336971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15" name="Text 113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· Model Deployment</a:t>
            </a:r>
            <a:endParaRPr lang="en-US" sz="500" dirty="0"/>
          </a:p>
        </p:txBody>
      </p:sp>
      <p:sp>
        <p:nvSpPr>
          <p:cNvPr id="117" name="Shape 115"/>
          <p:cNvSpPr/>
          <p:nvPr/>
        </p:nvSpPr>
        <p:spPr>
          <a:xfrm>
            <a:off x="4310070" y="318729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650" dirty="0"/>
          </a:p>
        </p:txBody>
      </p:sp>
      <p:sp>
        <p:nvSpPr>
          <p:cNvPr id="119" name="Text 117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· Data Lake</a:t>
            </a:r>
            <a:endParaRPr lang="en-US" sz="500" dirty="0"/>
          </a:p>
        </p:txBody>
      </p:sp>
      <p:sp>
        <p:nvSpPr>
          <p:cNvPr id="120" name="Shape 118"/>
          <p:cNvSpPr/>
          <p:nvPr/>
        </p:nvSpPr>
        <p:spPr>
          <a:xfrm>
            <a:off x="5419512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471632" y="327416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5502905" y="323941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471632" y="335234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5502905" y="331759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471632" y="343052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5502905" y="339577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· Testing Checklist</a:t>
            </a:r>
            <a:endParaRPr lang="en-US" sz="500" dirty="0"/>
          </a:p>
        </p:txBody>
      </p:sp>
      <p:sp>
        <p:nvSpPr>
          <p:cNvPr id="129" name="Shape 127"/>
          <p:cNvSpPr/>
          <p:nvPr/>
        </p:nvSpPr>
        <p:spPr>
          <a:xfrm>
            <a:off x="6502893" y="3204667"/>
            <a:ext cx="295351" cy="277978"/>
          </a:xfrm>
          <a:prstGeom prst="hexag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Node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 Node · Inference</a:t>
            </a:r>
            <a:endParaRPr lang="en-US" sz="500" dirty="0"/>
          </a:p>
        </p:txBody>
      </p:sp>
      <p:sp>
        <p:nvSpPr>
          <p:cNvPr id="132" name="Shape 130"/>
          <p:cNvSpPr/>
          <p:nvPr/>
        </p:nvSpPr>
        <p:spPr>
          <a:xfrm>
            <a:off x="7612334" y="319598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· Pattern Detection</a:t>
            </a:r>
            <a:endParaRPr lang="en-US" sz="500" dirty="0"/>
          </a:p>
        </p:txBody>
      </p:sp>
      <p:sp>
        <p:nvSpPr>
          <p:cNvPr id="135" name="Shape 133"/>
          <p:cNvSpPr/>
          <p:nvPr/>
        </p:nvSpPr>
        <p:spPr>
          <a:xfrm>
            <a:off x="8713089" y="3239414"/>
            <a:ext cx="312725" cy="208483"/>
          </a:xfrm>
          <a:prstGeom prst="chevr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 · Logic Path</a:t>
            </a:r>
            <a:endParaRPr lang="en-US" sz="500" dirty="0"/>
          </a:p>
        </p:txBody>
      </p:sp>
      <p:sp>
        <p:nvSpPr>
          <p:cNvPr id="138" name="Shape 136"/>
          <p:cNvSpPr/>
          <p:nvPr/>
        </p:nvSpPr>
        <p:spPr>
          <a:xfrm>
            <a:off x="9839904" y="3204667"/>
            <a:ext cx="277978" cy="277978"/>
          </a:xfrm>
          <a:prstGeom prst="diamond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650" dirty="0"/>
          </a:p>
        </p:txBody>
      </p:sp>
      <p:sp>
        <p:nvSpPr>
          <p:cNvPr id="140" name="Text 138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Accuracy · Confidence</a:t>
            </a:r>
            <a:endParaRPr lang="en-US" sz="500" dirty="0"/>
          </a:p>
        </p:txBody>
      </p:sp>
      <p:sp>
        <p:nvSpPr>
          <p:cNvPr id="141" name="Shape 139"/>
          <p:cNvSpPr/>
          <p:nvPr/>
        </p:nvSpPr>
        <p:spPr>
          <a:xfrm>
            <a:off x="10949346" y="3204667"/>
            <a:ext cx="277978" cy="277978"/>
          </a:xfrm>
          <a:prstGeom prst="su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· Innovation</a:t>
            </a:r>
            <a:endParaRPr lang="en-US" sz="500" dirty="0"/>
          </a:p>
        </p:txBody>
      </p:sp>
      <p:sp>
        <p:nvSpPr>
          <p:cNvPr id="144" name="Shape 142"/>
          <p:cNvSpPr/>
          <p:nvPr/>
        </p:nvSpPr>
        <p:spPr>
          <a:xfrm>
            <a:off x="959160" y="4131076"/>
            <a:ext cx="132039" cy="132039"/>
          </a:xfrm>
          <a:prstGeom prst="ellips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85987" y="4197096"/>
            <a:ext cx="147676" cy="914"/>
          </a:xfrm>
          <a:prstGeom prst="line">
            <a:avLst/>
          </a:prstGeom>
          <a:noFill/>
          <a:ln w="20320">
            <a:solidFill>
              <a:srgbClr val="8DA0C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190229" y="419709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228451" y="419709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</a:t>
            </a:r>
            <a:endParaRPr lang="en-US" sz="650" dirty="0"/>
          </a:p>
        </p:txBody>
      </p:sp>
      <p:sp>
        <p:nvSpPr>
          <p:cNvPr id="149" name="Text 147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· API Key</a:t>
            </a:r>
            <a:endParaRPr lang="en-US" sz="500" dirty="0"/>
          </a:p>
        </p:txBody>
      </p:sp>
      <p:sp>
        <p:nvSpPr>
          <p:cNvPr id="150" name="Shape 148"/>
          <p:cNvSpPr/>
          <p:nvPr/>
        </p:nvSpPr>
        <p:spPr>
          <a:xfrm>
            <a:off x="2108561" y="408764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087712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219752" y="408764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198903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650" dirty="0"/>
          </a:p>
        </p:txBody>
      </p:sp>
      <p:sp>
        <p:nvSpPr>
          <p:cNvPr id="155" name="Text 153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· Oversight</a:t>
            </a:r>
            <a:endParaRPr lang="en-US" sz="500" dirty="0"/>
          </a:p>
        </p:txBody>
      </p:sp>
      <p:sp>
        <p:nvSpPr>
          <p:cNvPr id="156" name="Shape 154"/>
          <p:cNvSpPr/>
          <p:nvPr/>
        </p:nvSpPr>
        <p:spPr>
          <a:xfrm>
            <a:off x="3174568" y="4049420"/>
            <a:ext cx="295351" cy="295351"/>
          </a:xfrm>
          <a:prstGeom prst="irregularSeal1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650" dirty="0"/>
          </a:p>
        </p:txBody>
      </p:sp>
      <p:sp>
        <p:nvSpPr>
          <p:cNvPr id="158" name="Text 156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· Governance · Ethics</a:t>
            </a:r>
            <a:endParaRPr lang="en-US" sz="500" dirty="0"/>
          </a:p>
        </p:txBody>
      </p:sp>
      <p:sp>
        <p:nvSpPr>
          <p:cNvPr id="159" name="Shape 157"/>
          <p:cNvSpPr/>
          <p:nvPr/>
        </p:nvSpPr>
        <p:spPr>
          <a:xfrm>
            <a:off x="4318757" y="4084168"/>
            <a:ext cx="225857" cy="225857"/>
          </a:xfrm>
          <a:prstGeom prst="mathPlus">
            <a:avLst/>
          </a:prstGeom>
          <a:solidFill>
            <a:srgbClr val="8DA0C2"/>
          </a:solidFill>
          <a:ln/>
        </p:spPr>
      </p:sp>
      <p:sp>
        <p:nvSpPr>
          <p:cNvPr id="160" name="Text 158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650" dirty="0"/>
          </a:p>
        </p:txBody>
      </p:sp>
      <p:sp>
        <p:nvSpPr>
          <p:cNvPr id="161" name="Text 159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Augmentation · Enhancement</a:t>
            </a:r>
            <a:endParaRPr lang="en-US" sz="500" dirty="0"/>
          </a:p>
        </p:txBody>
      </p:sp>
      <p:sp>
        <p:nvSpPr>
          <p:cNvPr id="162" name="Shape 160"/>
          <p:cNvSpPr/>
          <p:nvPr/>
        </p:nvSpPr>
        <p:spPr>
          <a:xfrm>
            <a:off x="5419512" y="4066794"/>
            <a:ext cx="243230" cy="130302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396926" y="4044208"/>
            <a:ext cx="45171" cy="45171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64" name="Shape 162"/>
          <p:cNvSpPr/>
          <p:nvPr/>
        </p:nvSpPr>
        <p:spPr>
          <a:xfrm>
            <a:off x="5419512" y="4197096"/>
            <a:ext cx="243230" cy="91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396926" y="4174510"/>
            <a:ext cx="45171" cy="45171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66" name="Shape 164"/>
          <p:cNvSpPr/>
          <p:nvPr/>
        </p:nvSpPr>
        <p:spPr>
          <a:xfrm flipV="1">
            <a:off x="5419512" y="4197096"/>
            <a:ext cx="243230" cy="130302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396926" y="4304812"/>
            <a:ext cx="45171" cy="45171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68" name="Shape 166"/>
          <p:cNvSpPr/>
          <p:nvPr/>
        </p:nvSpPr>
        <p:spPr>
          <a:xfrm>
            <a:off x="5631470" y="4165824"/>
            <a:ext cx="62545" cy="62545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69" name="Text 167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650" dirty="0"/>
          </a:p>
        </p:txBody>
      </p:sp>
      <p:sp>
        <p:nvSpPr>
          <p:cNvPr id="170" name="Text 168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Machine Learning · Neural Network</a:t>
            </a:r>
            <a:endParaRPr lang="en-US" sz="500" dirty="0"/>
          </a:p>
        </p:txBody>
      </p:sp>
      <p:sp>
        <p:nvSpPr>
          <p:cNvPr id="171" name="Shape 169"/>
          <p:cNvSpPr/>
          <p:nvPr/>
        </p:nvSpPr>
        <p:spPr>
          <a:xfrm>
            <a:off x="6502893" y="4049420"/>
            <a:ext cx="295351" cy="295351"/>
          </a:xfrm>
          <a:prstGeom prst="gear6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650" dirty="0"/>
          </a:p>
        </p:txBody>
      </p:sp>
      <p:sp>
        <p:nvSpPr>
          <p:cNvPr id="173" name="Text 171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· AI · Intelligent Process</a:t>
            </a:r>
            <a:endParaRPr lang="en-US" sz="500" dirty="0"/>
          </a:p>
        </p:txBody>
      </p:sp>
      <p:sp>
        <p:nvSpPr>
          <p:cNvPr id="174" name="Shape 172"/>
          <p:cNvSpPr/>
          <p:nvPr/>
        </p:nvSpPr>
        <p:spPr>
          <a:xfrm>
            <a:off x="7603647" y="4066794"/>
            <a:ext cx="312725" cy="225857"/>
          </a:xfrm>
          <a:prstGeom prst="wedgeRoundRectCallou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650" dirty="0"/>
          </a:p>
        </p:txBody>
      </p:sp>
      <p:sp>
        <p:nvSpPr>
          <p:cNvPr id="176" name="Text 174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· Copilot · Chatbot</a:t>
            </a:r>
            <a:endParaRPr lang="en-US" sz="500" dirty="0"/>
          </a:p>
        </p:txBody>
      </p:sp>
      <p:sp>
        <p:nvSpPr>
          <p:cNvPr id="177" name="Shape 175"/>
          <p:cNvSpPr/>
          <p:nvPr/>
        </p:nvSpPr>
        <p:spPr>
          <a:xfrm>
            <a:off x="8704402" y="4110228"/>
            <a:ext cx="330098" cy="173736"/>
          </a:xfrm>
          <a:prstGeom prst="ellips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831229" y="4158874"/>
            <a:ext cx="76444" cy="76444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79" name="Text 177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650" dirty="0"/>
          </a:p>
        </p:txBody>
      </p:sp>
      <p:sp>
        <p:nvSpPr>
          <p:cNvPr id="180" name="Text 178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Insight · Recognition</a:t>
            </a:r>
            <a:endParaRPr lang="en-US" sz="500" dirty="0"/>
          </a:p>
        </p:txBody>
      </p:sp>
      <p:sp>
        <p:nvSpPr>
          <p:cNvPr id="181" name="Shape 179"/>
          <p:cNvSpPr/>
          <p:nvPr/>
        </p:nvSpPr>
        <p:spPr>
          <a:xfrm>
            <a:off x="9832955" y="4249217"/>
            <a:ext cx="52121" cy="9555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82" name="Shape 180"/>
          <p:cNvSpPr/>
          <p:nvPr/>
        </p:nvSpPr>
        <p:spPr>
          <a:xfrm>
            <a:off x="9912873" y="4179722"/>
            <a:ext cx="52121" cy="165049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83" name="Shape 181"/>
          <p:cNvSpPr/>
          <p:nvPr/>
        </p:nvSpPr>
        <p:spPr>
          <a:xfrm>
            <a:off x="9992792" y="4223156"/>
            <a:ext cx="52121" cy="12161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84" name="Shape 182"/>
          <p:cNvSpPr/>
          <p:nvPr/>
        </p:nvSpPr>
        <p:spPr>
          <a:xfrm>
            <a:off x="10072710" y="4118915"/>
            <a:ext cx="52121" cy="225857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85" name="Shape 183"/>
          <p:cNvSpPr/>
          <p:nvPr/>
        </p:nvSpPr>
        <p:spPr>
          <a:xfrm flipV="1">
            <a:off x="9859015" y="4162349"/>
            <a:ext cx="79919" cy="6949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938934" y="4162349"/>
            <a:ext cx="79919" cy="4343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10018852" y="4101541"/>
            <a:ext cx="79919" cy="104242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650" dirty="0"/>
          </a:p>
        </p:txBody>
      </p:sp>
      <p:sp>
        <p:nvSpPr>
          <p:cNvPr id="189" name="Text 187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· Forecasting</a:t>
            </a:r>
            <a:endParaRPr lang="en-US" sz="500" dirty="0"/>
          </a:p>
        </p:txBody>
      </p:sp>
      <p:sp>
        <p:nvSpPr>
          <p:cNvPr id="190" name="Shape 188"/>
          <p:cNvSpPr/>
          <p:nvPr/>
        </p:nvSpPr>
        <p:spPr>
          <a:xfrm>
            <a:off x="11018840" y="412760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91" name="Shape 189"/>
          <p:cNvSpPr/>
          <p:nvPr/>
        </p:nvSpPr>
        <p:spPr>
          <a:xfrm>
            <a:off x="11018840" y="422315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92" name="Shape 190"/>
          <p:cNvSpPr/>
          <p:nvPr/>
        </p:nvSpPr>
        <p:spPr>
          <a:xfrm>
            <a:off x="11114395" y="412760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93" name="Shape 191"/>
          <p:cNvSpPr/>
          <p:nvPr/>
        </p:nvSpPr>
        <p:spPr>
          <a:xfrm>
            <a:off x="11114395" y="422315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94" name="Text 192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650" dirty="0"/>
          </a:p>
        </p:txBody>
      </p:sp>
      <p:sp>
        <p:nvSpPr>
          <p:cNvPr id="195" name="Text 193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· Model Deployment</a:t>
            </a:r>
            <a:endParaRPr lang="en-US" sz="500" dirty="0"/>
          </a:p>
        </p:txBody>
      </p:sp>
      <p:sp>
        <p:nvSpPr>
          <p:cNvPr id="196" name="Shape 194"/>
          <p:cNvSpPr/>
          <p:nvPr/>
        </p:nvSpPr>
        <p:spPr>
          <a:xfrm>
            <a:off x="981746" y="489417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· Data Lake</a:t>
            </a:r>
            <a:endParaRPr lang="en-US" sz="500" dirty="0"/>
          </a:p>
        </p:txBody>
      </p:sp>
      <p:sp>
        <p:nvSpPr>
          <p:cNvPr id="199" name="Shape 197"/>
          <p:cNvSpPr/>
          <p:nvPr/>
        </p:nvSpPr>
        <p:spPr>
          <a:xfrm>
            <a:off x="2091187" y="489417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2143308" y="498104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flipV="1">
            <a:off x="2174580" y="494629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2143308" y="505922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flipV="1">
            <a:off x="2174580" y="502447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2143308" y="513740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flipV="1">
            <a:off x="2174580" y="510265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· Testing Checklist</a:t>
            </a:r>
            <a:endParaRPr lang="en-US" sz="500" dirty="0"/>
          </a:p>
        </p:txBody>
      </p:sp>
      <p:sp>
        <p:nvSpPr>
          <p:cNvPr id="208" name="Shape 206"/>
          <p:cNvSpPr/>
          <p:nvPr/>
        </p:nvSpPr>
        <p:spPr>
          <a:xfrm>
            <a:off x="3174568" y="4911547"/>
            <a:ext cx="295351" cy="277978"/>
          </a:xfrm>
          <a:prstGeom prst="hexag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Node</a:t>
            </a:r>
            <a:endParaRPr lang="en-US" sz="650" dirty="0"/>
          </a:p>
        </p:txBody>
      </p:sp>
      <p:sp>
        <p:nvSpPr>
          <p:cNvPr id="210" name="Text 208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 Node · Inference</a:t>
            </a:r>
            <a:endParaRPr lang="en-US" sz="500" dirty="0"/>
          </a:p>
        </p:txBody>
      </p:sp>
      <p:sp>
        <p:nvSpPr>
          <p:cNvPr id="211" name="Shape 209"/>
          <p:cNvSpPr/>
          <p:nvPr/>
        </p:nvSpPr>
        <p:spPr>
          <a:xfrm>
            <a:off x="4284010" y="490286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650" dirty="0"/>
          </a:p>
        </p:txBody>
      </p:sp>
      <p:sp>
        <p:nvSpPr>
          <p:cNvPr id="213" name="Text 211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· Pattern Detection</a:t>
            </a:r>
            <a:endParaRPr lang="en-US" sz="500" dirty="0"/>
          </a:p>
        </p:txBody>
      </p:sp>
      <p:sp>
        <p:nvSpPr>
          <p:cNvPr id="214" name="Shape 212"/>
          <p:cNvSpPr/>
          <p:nvPr/>
        </p:nvSpPr>
        <p:spPr>
          <a:xfrm>
            <a:off x="5384764" y="4946294"/>
            <a:ext cx="312725" cy="208483"/>
          </a:xfrm>
          <a:prstGeom prst="chevr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</a:t>
            </a:r>
            <a:endParaRPr lang="en-US" sz="650" dirty="0"/>
          </a:p>
        </p:txBody>
      </p:sp>
      <p:sp>
        <p:nvSpPr>
          <p:cNvPr id="216" name="Text 214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 · Logic Path</a:t>
            </a:r>
            <a:endParaRPr lang="en-US" sz="500" dirty="0"/>
          </a:p>
        </p:txBody>
      </p:sp>
      <p:sp>
        <p:nvSpPr>
          <p:cNvPr id="217" name="Shape 215"/>
          <p:cNvSpPr/>
          <p:nvPr/>
        </p:nvSpPr>
        <p:spPr>
          <a:xfrm>
            <a:off x="6511580" y="4911547"/>
            <a:ext cx="277978" cy="277978"/>
          </a:xfrm>
          <a:prstGeom prst="diamond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650" dirty="0"/>
          </a:p>
        </p:txBody>
      </p:sp>
      <p:sp>
        <p:nvSpPr>
          <p:cNvPr id="219" name="Text 217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Accuracy · Confidence</a:t>
            </a:r>
            <a:endParaRPr lang="en-US" sz="500" dirty="0"/>
          </a:p>
        </p:txBody>
      </p:sp>
      <p:sp>
        <p:nvSpPr>
          <p:cNvPr id="220" name="Shape 218"/>
          <p:cNvSpPr/>
          <p:nvPr/>
        </p:nvSpPr>
        <p:spPr>
          <a:xfrm>
            <a:off x="7621021" y="4911547"/>
            <a:ext cx="277978" cy="277978"/>
          </a:xfrm>
          <a:prstGeom prst="su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650" dirty="0"/>
          </a:p>
        </p:txBody>
      </p:sp>
      <p:sp>
        <p:nvSpPr>
          <p:cNvPr id="222" name="Text 220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· Innovation</a:t>
            </a:r>
            <a:endParaRPr lang="en-US" sz="500" dirty="0"/>
          </a:p>
        </p:txBody>
      </p:sp>
      <p:sp>
        <p:nvSpPr>
          <p:cNvPr id="223" name="Shape 221"/>
          <p:cNvSpPr/>
          <p:nvPr/>
        </p:nvSpPr>
        <p:spPr>
          <a:xfrm>
            <a:off x="8725251" y="4984516"/>
            <a:ext cx="132039" cy="132039"/>
          </a:xfrm>
          <a:prstGeom prst="ellips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852078" y="5050536"/>
            <a:ext cx="147676" cy="914"/>
          </a:xfrm>
          <a:prstGeom prst="line">
            <a:avLst/>
          </a:prstGeom>
          <a:noFill/>
          <a:ln w="20320">
            <a:solidFill>
              <a:srgbClr val="8DA0C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956319" y="505053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994541" y="505053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</a:t>
            </a:r>
            <a:endParaRPr lang="en-US" sz="650" dirty="0"/>
          </a:p>
        </p:txBody>
      </p:sp>
      <p:sp>
        <p:nvSpPr>
          <p:cNvPr id="228" name="Text 226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· API Key</a:t>
            </a:r>
            <a:endParaRPr lang="en-US" sz="500" dirty="0"/>
          </a:p>
        </p:txBody>
      </p:sp>
      <p:sp>
        <p:nvSpPr>
          <p:cNvPr id="229" name="Shape 227"/>
          <p:cNvSpPr/>
          <p:nvPr/>
        </p:nvSpPr>
        <p:spPr>
          <a:xfrm>
            <a:off x="9874651" y="494108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853803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985842" y="494108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964994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650" dirty="0"/>
          </a:p>
        </p:txBody>
      </p:sp>
      <p:sp>
        <p:nvSpPr>
          <p:cNvPr id="234" name="Text 232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· Oversight</a:t>
            </a:r>
            <a:endParaRPr lang="en-US" sz="500" dirty="0"/>
          </a:p>
        </p:txBody>
      </p:sp>
      <p:sp>
        <p:nvSpPr>
          <p:cNvPr id="235" name="Shape 233"/>
          <p:cNvSpPr/>
          <p:nvPr/>
        </p:nvSpPr>
        <p:spPr>
          <a:xfrm>
            <a:off x="10940659" y="4902860"/>
            <a:ext cx="295351" cy="295351"/>
          </a:xfrm>
          <a:prstGeom prst="irregularSeal1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650" dirty="0"/>
          </a:p>
        </p:txBody>
      </p:sp>
      <p:sp>
        <p:nvSpPr>
          <p:cNvPr id="237" name="Text 235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· Governance · Ethics</a:t>
            </a:r>
            <a:endParaRPr lang="en-US" sz="500" dirty="0"/>
          </a:p>
        </p:txBody>
      </p:sp>
      <p:sp>
        <p:nvSpPr>
          <p:cNvPr id="238" name="Shape 236"/>
          <p:cNvSpPr/>
          <p:nvPr/>
        </p:nvSpPr>
        <p:spPr>
          <a:xfrm>
            <a:off x="990432" y="5791048"/>
            <a:ext cx="225857" cy="225857"/>
          </a:xfrm>
          <a:prstGeom prst="mathPlus">
            <a:avLst/>
          </a:prstGeom>
          <a:solidFill>
            <a:srgbClr val="8DA0C2"/>
          </a:solidFill>
          <a:ln/>
        </p:spPr>
      </p:sp>
      <p:sp>
        <p:nvSpPr>
          <p:cNvPr id="239" name="Text 237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650" dirty="0"/>
          </a:p>
        </p:txBody>
      </p:sp>
      <p:sp>
        <p:nvSpPr>
          <p:cNvPr id="240" name="Text 238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Augmentation · Enhancement</a:t>
            </a:r>
            <a:endParaRPr lang="en-US" sz="500" dirty="0"/>
          </a:p>
        </p:txBody>
      </p:sp>
      <p:sp>
        <p:nvSpPr>
          <p:cNvPr id="241" name="Shape 239"/>
          <p:cNvSpPr/>
          <p:nvPr/>
        </p:nvSpPr>
        <p:spPr>
          <a:xfrm>
            <a:off x="2091187" y="5773674"/>
            <a:ext cx="243230" cy="130302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2068601" y="5751088"/>
            <a:ext cx="45171" cy="45171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43" name="Shape 241"/>
          <p:cNvSpPr/>
          <p:nvPr/>
        </p:nvSpPr>
        <p:spPr>
          <a:xfrm>
            <a:off x="2091187" y="5903976"/>
            <a:ext cx="243230" cy="91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2068601" y="5881390"/>
            <a:ext cx="45171" cy="45171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45" name="Shape 243"/>
          <p:cNvSpPr/>
          <p:nvPr/>
        </p:nvSpPr>
        <p:spPr>
          <a:xfrm flipV="1">
            <a:off x="2091187" y="5903976"/>
            <a:ext cx="243230" cy="130302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068601" y="6011692"/>
            <a:ext cx="45171" cy="45171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47" name="Shape 245"/>
          <p:cNvSpPr/>
          <p:nvPr/>
        </p:nvSpPr>
        <p:spPr>
          <a:xfrm>
            <a:off x="2303145" y="5872704"/>
            <a:ext cx="62545" cy="62545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48" name="Text 246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650" dirty="0"/>
          </a:p>
        </p:txBody>
      </p:sp>
      <p:sp>
        <p:nvSpPr>
          <p:cNvPr id="249" name="Text 247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Machine Learning · Neural Network</a:t>
            </a:r>
            <a:endParaRPr lang="en-US" sz="500" dirty="0"/>
          </a:p>
        </p:txBody>
      </p:sp>
      <p:sp>
        <p:nvSpPr>
          <p:cNvPr id="250" name="Shape 248"/>
          <p:cNvSpPr/>
          <p:nvPr/>
        </p:nvSpPr>
        <p:spPr>
          <a:xfrm>
            <a:off x="3174568" y="5756300"/>
            <a:ext cx="295351" cy="295351"/>
          </a:xfrm>
          <a:prstGeom prst="gear6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650" dirty="0"/>
          </a:p>
        </p:txBody>
      </p:sp>
      <p:sp>
        <p:nvSpPr>
          <p:cNvPr id="252" name="Text 250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· AI · Intelligent Process</a:t>
            </a:r>
            <a:endParaRPr lang="en-US" sz="500" dirty="0"/>
          </a:p>
        </p:txBody>
      </p:sp>
      <p:sp>
        <p:nvSpPr>
          <p:cNvPr id="253" name="Shape 251"/>
          <p:cNvSpPr/>
          <p:nvPr/>
        </p:nvSpPr>
        <p:spPr>
          <a:xfrm>
            <a:off x="4275323" y="5773674"/>
            <a:ext cx="312725" cy="225857"/>
          </a:xfrm>
          <a:prstGeom prst="wedgeRoundRectCallout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650" dirty="0"/>
          </a:p>
        </p:txBody>
      </p:sp>
      <p:sp>
        <p:nvSpPr>
          <p:cNvPr id="255" name="Text 253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· Copilot · Chatbot</a:t>
            </a:r>
            <a:endParaRPr lang="en-US" sz="500" dirty="0"/>
          </a:p>
        </p:txBody>
      </p:sp>
      <p:sp>
        <p:nvSpPr>
          <p:cNvPr id="256" name="Shape 254"/>
          <p:cNvSpPr/>
          <p:nvPr/>
        </p:nvSpPr>
        <p:spPr>
          <a:xfrm>
            <a:off x="5376078" y="5817108"/>
            <a:ext cx="330098" cy="173736"/>
          </a:xfrm>
          <a:prstGeom prst="ellipse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5502905" y="5865754"/>
            <a:ext cx="76444" cy="76444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58" name="Text 256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650" dirty="0"/>
          </a:p>
        </p:txBody>
      </p:sp>
      <p:sp>
        <p:nvSpPr>
          <p:cNvPr id="259" name="Text 257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Insight · Recognition</a:t>
            </a:r>
            <a:endParaRPr lang="en-US" sz="500" dirty="0"/>
          </a:p>
        </p:txBody>
      </p:sp>
      <p:sp>
        <p:nvSpPr>
          <p:cNvPr id="260" name="Shape 258"/>
          <p:cNvSpPr/>
          <p:nvPr/>
        </p:nvSpPr>
        <p:spPr>
          <a:xfrm>
            <a:off x="6504630" y="5956097"/>
            <a:ext cx="52121" cy="9555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61" name="Shape 259"/>
          <p:cNvSpPr/>
          <p:nvPr/>
        </p:nvSpPr>
        <p:spPr>
          <a:xfrm>
            <a:off x="6584549" y="5886602"/>
            <a:ext cx="52121" cy="165049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62" name="Shape 260"/>
          <p:cNvSpPr/>
          <p:nvPr/>
        </p:nvSpPr>
        <p:spPr>
          <a:xfrm>
            <a:off x="6664467" y="5930036"/>
            <a:ext cx="52121" cy="12161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63" name="Shape 261"/>
          <p:cNvSpPr/>
          <p:nvPr/>
        </p:nvSpPr>
        <p:spPr>
          <a:xfrm>
            <a:off x="6744386" y="5825795"/>
            <a:ext cx="52121" cy="225857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64" name="Shape 262"/>
          <p:cNvSpPr/>
          <p:nvPr/>
        </p:nvSpPr>
        <p:spPr>
          <a:xfrm flipV="1">
            <a:off x="6530691" y="5869229"/>
            <a:ext cx="79919" cy="6949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6610609" y="5869229"/>
            <a:ext cx="79919" cy="4343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flipV="1">
            <a:off x="6690528" y="5808421"/>
            <a:ext cx="79919" cy="104242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650" dirty="0"/>
          </a:p>
        </p:txBody>
      </p:sp>
      <p:sp>
        <p:nvSpPr>
          <p:cNvPr id="268" name="Text 266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· Forecasting</a:t>
            </a:r>
            <a:endParaRPr lang="en-US" sz="500" dirty="0"/>
          </a:p>
        </p:txBody>
      </p:sp>
      <p:sp>
        <p:nvSpPr>
          <p:cNvPr id="269" name="Shape 267"/>
          <p:cNvSpPr/>
          <p:nvPr/>
        </p:nvSpPr>
        <p:spPr>
          <a:xfrm>
            <a:off x="7690515" y="583448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70" name="Shape 268"/>
          <p:cNvSpPr/>
          <p:nvPr/>
        </p:nvSpPr>
        <p:spPr>
          <a:xfrm>
            <a:off x="7690515" y="593003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71" name="Shape 269"/>
          <p:cNvSpPr/>
          <p:nvPr/>
        </p:nvSpPr>
        <p:spPr>
          <a:xfrm>
            <a:off x="7786070" y="583448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72" name="Shape 270"/>
          <p:cNvSpPr/>
          <p:nvPr/>
        </p:nvSpPr>
        <p:spPr>
          <a:xfrm>
            <a:off x="7786070" y="593003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73" name="Text 271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650" dirty="0"/>
          </a:p>
        </p:txBody>
      </p:sp>
      <p:sp>
        <p:nvSpPr>
          <p:cNvPr id="274" name="Text 272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· Model Deployment</a:t>
            </a:r>
            <a:endParaRPr lang="en-US" sz="500" dirty="0"/>
          </a:p>
        </p:txBody>
      </p:sp>
      <p:sp>
        <p:nvSpPr>
          <p:cNvPr id="275" name="Shape 273"/>
          <p:cNvSpPr/>
          <p:nvPr/>
        </p:nvSpPr>
        <p:spPr>
          <a:xfrm>
            <a:off x="8747836" y="574761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650" dirty="0"/>
          </a:p>
        </p:txBody>
      </p:sp>
      <p:sp>
        <p:nvSpPr>
          <p:cNvPr id="277" name="Text 275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· Data Lake</a:t>
            </a:r>
            <a:endParaRPr lang="en-US" sz="500" dirty="0"/>
          </a:p>
        </p:txBody>
      </p:sp>
      <p:sp>
        <p:nvSpPr>
          <p:cNvPr id="278" name="Shape 276"/>
          <p:cNvSpPr/>
          <p:nvPr/>
        </p:nvSpPr>
        <p:spPr>
          <a:xfrm>
            <a:off x="9857278" y="57476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9909399" y="583448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 flipV="1">
            <a:off x="9940671" y="579973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9909399" y="591266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 flipV="1">
            <a:off x="9940671" y="587791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9909399" y="599084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 flipV="1">
            <a:off x="9940671" y="595609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650" dirty="0"/>
          </a:p>
        </p:txBody>
      </p:sp>
      <p:sp>
        <p:nvSpPr>
          <p:cNvPr id="286" name="Text 284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· Testing Checklist</a:t>
            </a:r>
            <a:endParaRPr lang="en-US" sz="500" dirty="0"/>
          </a:p>
        </p:txBody>
      </p:sp>
      <p:sp>
        <p:nvSpPr>
          <p:cNvPr id="287" name="Shape 285"/>
          <p:cNvSpPr/>
          <p:nvPr/>
        </p:nvSpPr>
        <p:spPr>
          <a:xfrm>
            <a:off x="10940659" y="5764987"/>
            <a:ext cx="295351" cy="277978"/>
          </a:xfrm>
          <a:prstGeom prst="hexag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Node</a:t>
            </a:r>
            <a:endParaRPr lang="en-US" sz="650" dirty="0"/>
          </a:p>
        </p:txBody>
      </p:sp>
      <p:sp>
        <p:nvSpPr>
          <p:cNvPr id="289" name="Text 287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 Node · Inference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7423" y="1688897"/>
            <a:ext cx="52121" cy="95555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5" name="Shape 3"/>
          <p:cNvSpPr/>
          <p:nvPr/>
        </p:nvSpPr>
        <p:spPr>
          <a:xfrm>
            <a:off x="1037341" y="1619402"/>
            <a:ext cx="52121" cy="165049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6" name="Shape 4"/>
          <p:cNvSpPr/>
          <p:nvPr/>
        </p:nvSpPr>
        <p:spPr>
          <a:xfrm>
            <a:off x="1117260" y="1662836"/>
            <a:ext cx="52121" cy="121615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7" name="Shape 5"/>
          <p:cNvSpPr/>
          <p:nvPr/>
        </p:nvSpPr>
        <p:spPr>
          <a:xfrm>
            <a:off x="1197178" y="1558595"/>
            <a:ext cx="52121" cy="225857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983483" y="1602029"/>
            <a:ext cx="79919" cy="69494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3401" y="1602029"/>
            <a:ext cx="79919" cy="43434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43320" y="1541221"/>
            <a:ext cx="79919" cy="104242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Analytics · Trends · Reporting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2091187" y="1480414"/>
            <a:ext cx="243230" cy="312725"/>
          </a:xfrm>
          <a:prstGeom prst="can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Storage · Records</a:t>
            </a:r>
            <a:endParaRPr lang="en-US" sz="500" dirty="0"/>
          </a:p>
        </p:txBody>
      </p:sp>
      <p:sp>
        <p:nvSpPr>
          <p:cNvPr id="16" name="Shape 14"/>
          <p:cNvSpPr/>
          <p:nvPr/>
        </p:nvSpPr>
        <p:spPr>
          <a:xfrm>
            <a:off x="3157195" y="15064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8002" y="15759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D4AF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KPI · Visualization</a:t>
            </a:r>
            <a:endParaRPr lang="en-US" sz="500" dirty="0"/>
          </a:p>
        </p:txBody>
      </p:sp>
      <p:sp>
        <p:nvSpPr>
          <p:cNvPr id="20" name="Shape 18"/>
          <p:cNvSpPr/>
          <p:nvPr/>
        </p:nvSpPr>
        <p:spPr>
          <a:xfrm>
            <a:off x="4284010" y="1513423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84010" y="1608978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84010" y="1704533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· Layers · Records</a:t>
            </a:r>
            <a:endParaRPr lang="en-US" sz="500" dirty="0"/>
          </a:p>
        </p:txBody>
      </p:sp>
      <p:sp>
        <p:nvSpPr>
          <p:cNvPr id="25" name="Shape 23"/>
          <p:cNvSpPr/>
          <p:nvPr/>
        </p:nvSpPr>
        <p:spPr>
          <a:xfrm>
            <a:off x="5393451" y="148910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Segmentation · Breakdown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6528953" y="1489100"/>
            <a:ext cx="243230" cy="295351"/>
          </a:xfrm>
          <a:prstGeom prst="funnel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 · Query · Refine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7690515" y="1567282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2" name="Shape 30"/>
          <p:cNvSpPr/>
          <p:nvPr/>
        </p:nvSpPr>
        <p:spPr>
          <a:xfrm>
            <a:off x="7690515" y="1662836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3" name="Shape 31"/>
          <p:cNvSpPr/>
          <p:nvPr/>
        </p:nvSpPr>
        <p:spPr>
          <a:xfrm>
            <a:off x="7786070" y="1567282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4" name="Shape 32"/>
          <p:cNvSpPr/>
          <p:nvPr/>
        </p:nvSpPr>
        <p:spPr>
          <a:xfrm>
            <a:off x="7786070" y="1662836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5" name="Text 33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· Integration Points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8747836" y="1480414"/>
            <a:ext cx="243230" cy="312725"/>
          </a:xfrm>
          <a:prstGeom prst="ca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· Warehouse · Storage</a:t>
            </a:r>
            <a:endParaRPr lang="en-US" sz="500" dirty="0"/>
          </a:p>
        </p:txBody>
      </p:sp>
      <p:sp>
        <p:nvSpPr>
          <p:cNvPr id="40" name="Shape 38"/>
          <p:cNvSpPr/>
          <p:nvPr/>
        </p:nvSpPr>
        <p:spPr>
          <a:xfrm>
            <a:off x="9865965" y="161940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05924" y="147172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61519" y="1680210"/>
            <a:ext cx="34747" cy="34747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43" name="Text 41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· Governance · Compliance</a:t>
            </a:r>
            <a:endParaRPr lang="en-US" sz="500" dirty="0"/>
          </a:p>
        </p:txBody>
      </p:sp>
      <p:sp>
        <p:nvSpPr>
          <p:cNvPr id="45" name="Shape 43"/>
          <p:cNvSpPr/>
          <p:nvPr/>
        </p:nvSpPr>
        <p:spPr>
          <a:xfrm>
            <a:off x="10966719" y="14804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018840" y="1567282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1050113" y="1532534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018840" y="1645463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1050113" y="1610716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018840" y="1723644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1050113" y="1688897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· Validation Checklist</a:t>
            </a:r>
            <a:endParaRPr lang="en-US" sz="500" dirty="0"/>
          </a:p>
        </p:txBody>
      </p:sp>
      <p:sp>
        <p:nvSpPr>
          <p:cNvPr id="54" name="Shape 52"/>
          <p:cNvSpPr/>
          <p:nvPr/>
        </p:nvSpPr>
        <p:spPr>
          <a:xfrm>
            <a:off x="946998" y="2359914"/>
            <a:ext cx="312725" cy="260604"/>
          </a:xfrm>
          <a:prstGeom prst="leftRightCircularArrow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· Data Pipeline · Transformation</a:t>
            </a:r>
            <a:endParaRPr lang="en-US" sz="500" dirty="0"/>
          </a:p>
        </p:txBody>
      </p:sp>
      <p:sp>
        <p:nvSpPr>
          <p:cNvPr id="57" name="Shape 55"/>
          <p:cNvSpPr/>
          <p:nvPr/>
        </p:nvSpPr>
        <p:spPr>
          <a:xfrm>
            <a:off x="2065127" y="234254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 · Streaming Data</a:t>
            </a:r>
            <a:endParaRPr lang="en-US" sz="500" dirty="0"/>
          </a:p>
        </p:txBody>
      </p:sp>
      <p:sp>
        <p:nvSpPr>
          <p:cNvPr id="60" name="Shape 58"/>
          <p:cNvSpPr/>
          <p:nvPr/>
        </p:nvSpPr>
        <p:spPr>
          <a:xfrm>
            <a:off x="3165881" y="2385974"/>
            <a:ext cx="312725" cy="208483"/>
          </a:xfrm>
          <a:prstGeom prst="chevro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· Pipeline Sequence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4284010" y="2342540"/>
            <a:ext cx="295351" cy="295351"/>
          </a:xfrm>
          <a:prstGeom prst="star5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Confidence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Confidence · Quality Score</a:t>
            </a:r>
            <a:endParaRPr lang="en-US" sz="500" dirty="0"/>
          </a:p>
        </p:txBody>
      </p:sp>
      <p:sp>
        <p:nvSpPr>
          <p:cNvPr id="66" name="Shape 64"/>
          <p:cNvSpPr/>
          <p:nvPr/>
        </p:nvSpPr>
        <p:spPr>
          <a:xfrm>
            <a:off x="5436885" y="233385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80319" y="2429408"/>
            <a:ext cx="121615" cy="914"/>
          </a:xfrm>
          <a:prstGeom prst="line">
            <a:avLst/>
          </a:prstGeom>
          <a:noFill/>
          <a:ln w="13970">
            <a:solidFill>
              <a:srgbClr val="D4AF5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80319" y="2490216"/>
            <a:ext cx="121615" cy="914"/>
          </a:xfrm>
          <a:prstGeom prst="line">
            <a:avLst/>
          </a:prstGeom>
          <a:noFill/>
          <a:ln w="13970">
            <a:solidFill>
              <a:srgbClr val="D4AF5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0319" y="2551024"/>
            <a:ext cx="121615" cy="914"/>
          </a:xfrm>
          <a:prstGeom prst="line">
            <a:avLst/>
          </a:prstGeom>
          <a:noFill/>
          <a:ln w="13970">
            <a:solidFill>
              <a:srgbClr val="D4AF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Data Documentation</a:t>
            </a:r>
            <a:endParaRPr lang="en-US" sz="500" dirty="0"/>
          </a:p>
        </p:txBody>
      </p:sp>
      <p:sp>
        <p:nvSpPr>
          <p:cNvPr id="72" name="Shape 70"/>
          <p:cNvSpPr/>
          <p:nvPr/>
        </p:nvSpPr>
        <p:spPr>
          <a:xfrm>
            <a:off x="6546327" y="2333854"/>
            <a:ext cx="208483" cy="312725"/>
          </a:xfrm>
          <a:prstGeom prst="verticalScroll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· Data Lineage</a:t>
            </a:r>
            <a:endParaRPr lang="en-US" sz="500" dirty="0"/>
          </a:p>
        </p:txBody>
      </p:sp>
      <p:sp>
        <p:nvSpPr>
          <p:cNvPr id="75" name="Shape 73"/>
          <p:cNvSpPr/>
          <p:nvPr/>
        </p:nvSpPr>
        <p:spPr>
          <a:xfrm>
            <a:off x="7614072" y="2542337"/>
            <a:ext cx="52121" cy="9555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76" name="Shape 74"/>
          <p:cNvSpPr/>
          <p:nvPr/>
        </p:nvSpPr>
        <p:spPr>
          <a:xfrm>
            <a:off x="7693990" y="2472842"/>
            <a:ext cx="52121" cy="165049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77" name="Shape 75"/>
          <p:cNvSpPr/>
          <p:nvPr/>
        </p:nvSpPr>
        <p:spPr>
          <a:xfrm>
            <a:off x="7773909" y="2516276"/>
            <a:ext cx="52121" cy="12161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78" name="Shape 76"/>
          <p:cNvSpPr/>
          <p:nvPr/>
        </p:nvSpPr>
        <p:spPr>
          <a:xfrm>
            <a:off x="7853827" y="2412035"/>
            <a:ext cx="52121" cy="225857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79" name="Shape 77"/>
          <p:cNvSpPr/>
          <p:nvPr/>
        </p:nvSpPr>
        <p:spPr>
          <a:xfrm flipV="1">
            <a:off x="7640132" y="2455469"/>
            <a:ext cx="79919" cy="6949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20051" y="2455469"/>
            <a:ext cx="79919" cy="4343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7799969" y="2394661"/>
            <a:ext cx="79919" cy="104242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Analytics · Trends · Reporting</a:t>
            </a:r>
            <a:endParaRPr lang="en-US" sz="500" dirty="0"/>
          </a:p>
        </p:txBody>
      </p:sp>
      <p:sp>
        <p:nvSpPr>
          <p:cNvPr id="84" name="Shape 82"/>
          <p:cNvSpPr/>
          <p:nvPr/>
        </p:nvSpPr>
        <p:spPr>
          <a:xfrm>
            <a:off x="8747836" y="2333854"/>
            <a:ext cx="243230" cy="312725"/>
          </a:xfrm>
          <a:prstGeom prst="can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Storage · Records</a:t>
            </a:r>
            <a:endParaRPr lang="en-US" sz="500" dirty="0"/>
          </a:p>
        </p:txBody>
      </p:sp>
      <p:sp>
        <p:nvSpPr>
          <p:cNvPr id="87" name="Shape 85"/>
          <p:cNvSpPr/>
          <p:nvPr/>
        </p:nvSpPr>
        <p:spPr>
          <a:xfrm>
            <a:off x="9813844" y="235991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874651" y="242940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KPI · Visualization</a:t>
            </a:r>
            <a:endParaRPr lang="en-US" sz="500" dirty="0"/>
          </a:p>
        </p:txBody>
      </p:sp>
      <p:sp>
        <p:nvSpPr>
          <p:cNvPr id="91" name="Shape 89"/>
          <p:cNvSpPr/>
          <p:nvPr/>
        </p:nvSpPr>
        <p:spPr>
          <a:xfrm>
            <a:off x="10940659" y="2366863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940659" y="2462418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940659" y="2557973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· Layers · Records</a:t>
            </a:r>
            <a:endParaRPr lang="en-US" sz="500" dirty="0"/>
          </a:p>
        </p:txBody>
      </p:sp>
      <p:sp>
        <p:nvSpPr>
          <p:cNvPr id="96" name="Shape 94"/>
          <p:cNvSpPr/>
          <p:nvPr/>
        </p:nvSpPr>
        <p:spPr>
          <a:xfrm>
            <a:off x="955685" y="319598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Segmentation · Breakdown</a:t>
            </a:r>
            <a:endParaRPr lang="en-US" sz="500" dirty="0"/>
          </a:p>
        </p:txBody>
      </p:sp>
      <p:sp>
        <p:nvSpPr>
          <p:cNvPr id="99" name="Shape 97"/>
          <p:cNvSpPr/>
          <p:nvPr/>
        </p:nvSpPr>
        <p:spPr>
          <a:xfrm>
            <a:off x="2091187" y="3195980"/>
            <a:ext cx="243230" cy="295351"/>
          </a:xfrm>
          <a:prstGeom prst="funnel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 · Query · Refine</a:t>
            </a:r>
            <a:endParaRPr lang="en-US" sz="500" dirty="0"/>
          </a:p>
        </p:txBody>
      </p:sp>
      <p:sp>
        <p:nvSpPr>
          <p:cNvPr id="102" name="Shape 100"/>
          <p:cNvSpPr/>
          <p:nvPr/>
        </p:nvSpPr>
        <p:spPr>
          <a:xfrm>
            <a:off x="3252749" y="327416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252749" y="336971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348304" y="327416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348304" y="336971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06" name="Text 104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· Integration Points</a:t>
            </a:r>
            <a:endParaRPr lang="en-US" sz="500" dirty="0"/>
          </a:p>
        </p:txBody>
      </p:sp>
      <p:sp>
        <p:nvSpPr>
          <p:cNvPr id="108" name="Shape 106"/>
          <p:cNvSpPr/>
          <p:nvPr/>
        </p:nvSpPr>
        <p:spPr>
          <a:xfrm>
            <a:off x="4310070" y="318729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· Warehouse · Storage</a:t>
            </a:r>
            <a:endParaRPr lang="en-US" sz="500" dirty="0"/>
          </a:p>
        </p:txBody>
      </p:sp>
      <p:sp>
        <p:nvSpPr>
          <p:cNvPr id="111" name="Shape 109"/>
          <p:cNvSpPr/>
          <p:nvPr/>
        </p:nvSpPr>
        <p:spPr>
          <a:xfrm>
            <a:off x="5428198" y="332628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468158" y="317860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523753" y="3387090"/>
            <a:ext cx="34747" cy="34747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14" name="Text 112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· Governance · Compliance</a:t>
            </a:r>
            <a:endParaRPr lang="en-US" sz="500" dirty="0"/>
          </a:p>
        </p:txBody>
      </p:sp>
      <p:sp>
        <p:nvSpPr>
          <p:cNvPr id="116" name="Shape 114"/>
          <p:cNvSpPr/>
          <p:nvPr/>
        </p:nvSpPr>
        <p:spPr>
          <a:xfrm>
            <a:off x="6528953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581074" y="327416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6612346" y="323941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581074" y="335234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6612346" y="331759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581074" y="343052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6612346" y="339577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· Validation Checklist</a:t>
            </a:r>
            <a:endParaRPr lang="en-US" sz="500" dirty="0"/>
          </a:p>
        </p:txBody>
      </p:sp>
      <p:sp>
        <p:nvSpPr>
          <p:cNvPr id="125" name="Shape 123"/>
          <p:cNvSpPr/>
          <p:nvPr/>
        </p:nvSpPr>
        <p:spPr>
          <a:xfrm>
            <a:off x="7603647" y="3213354"/>
            <a:ext cx="312725" cy="260604"/>
          </a:xfrm>
          <a:prstGeom prst="leftRightCircularArrow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· Data Pipeline · Transformation</a:t>
            </a:r>
            <a:endParaRPr lang="en-US" sz="500" dirty="0"/>
          </a:p>
        </p:txBody>
      </p:sp>
      <p:sp>
        <p:nvSpPr>
          <p:cNvPr id="128" name="Shape 126"/>
          <p:cNvSpPr/>
          <p:nvPr/>
        </p:nvSpPr>
        <p:spPr>
          <a:xfrm>
            <a:off x="8721776" y="319598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</a:t>
            </a:r>
            <a:endParaRPr lang="en-US" sz="650" dirty="0"/>
          </a:p>
        </p:txBody>
      </p:sp>
      <p:sp>
        <p:nvSpPr>
          <p:cNvPr id="130" name="Text 128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 · Streaming Data</a:t>
            </a:r>
            <a:endParaRPr lang="en-US" sz="500" dirty="0"/>
          </a:p>
        </p:txBody>
      </p:sp>
      <p:sp>
        <p:nvSpPr>
          <p:cNvPr id="131" name="Shape 129"/>
          <p:cNvSpPr/>
          <p:nvPr/>
        </p:nvSpPr>
        <p:spPr>
          <a:xfrm>
            <a:off x="9822531" y="3239414"/>
            <a:ext cx="312725" cy="208483"/>
          </a:xfrm>
          <a:prstGeom prst="chevr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650" dirty="0"/>
          </a:p>
        </p:txBody>
      </p:sp>
      <p:sp>
        <p:nvSpPr>
          <p:cNvPr id="133" name="Text 131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· Pipeline Sequence</a:t>
            </a:r>
            <a:endParaRPr lang="en-US" sz="500" dirty="0"/>
          </a:p>
        </p:txBody>
      </p:sp>
      <p:sp>
        <p:nvSpPr>
          <p:cNvPr id="134" name="Shape 132"/>
          <p:cNvSpPr/>
          <p:nvPr/>
        </p:nvSpPr>
        <p:spPr>
          <a:xfrm>
            <a:off x="10940659" y="3195980"/>
            <a:ext cx="295351" cy="295351"/>
          </a:xfrm>
          <a:prstGeom prst="star5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Confidence</a:t>
            </a:r>
            <a:endParaRPr lang="en-US" sz="650" dirty="0"/>
          </a:p>
        </p:txBody>
      </p:sp>
      <p:sp>
        <p:nvSpPr>
          <p:cNvPr id="136" name="Text 134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Confidence · Quality Score</a:t>
            </a:r>
            <a:endParaRPr lang="en-US" sz="500" dirty="0"/>
          </a:p>
        </p:txBody>
      </p:sp>
      <p:sp>
        <p:nvSpPr>
          <p:cNvPr id="137" name="Shape 135"/>
          <p:cNvSpPr/>
          <p:nvPr/>
        </p:nvSpPr>
        <p:spPr>
          <a:xfrm>
            <a:off x="999119" y="404073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42553" y="4136288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42553" y="4197096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42553" y="4257904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Data Documentation</a:t>
            </a:r>
            <a:endParaRPr lang="en-US" sz="500" dirty="0"/>
          </a:p>
        </p:txBody>
      </p:sp>
      <p:sp>
        <p:nvSpPr>
          <p:cNvPr id="143" name="Shape 141"/>
          <p:cNvSpPr/>
          <p:nvPr/>
        </p:nvSpPr>
        <p:spPr>
          <a:xfrm>
            <a:off x="2108561" y="4040734"/>
            <a:ext cx="208483" cy="312725"/>
          </a:xfrm>
          <a:prstGeom prst="verticalScroll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· Data Lineage</a:t>
            </a:r>
            <a:endParaRPr lang="en-US" sz="500" dirty="0"/>
          </a:p>
        </p:txBody>
      </p:sp>
      <p:sp>
        <p:nvSpPr>
          <p:cNvPr id="146" name="Shape 144"/>
          <p:cNvSpPr/>
          <p:nvPr/>
        </p:nvSpPr>
        <p:spPr>
          <a:xfrm>
            <a:off x="3176306" y="4249217"/>
            <a:ext cx="52121" cy="9555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47" name="Shape 145"/>
          <p:cNvSpPr/>
          <p:nvPr/>
        </p:nvSpPr>
        <p:spPr>
          <a:xfrm>
            <a:off x="3256224" y="4179722"/>
            <a:ext cx="52121" cy="165049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48" name="Shape 146"/>
          <p:cNvSpPr/>
          <p:nvPr/>
        </p:nvSpPr>
        <p:spPr>
          <a:xfrm>
            <a:off x="3336143" y="4223156"/>
            <a:ext cx="52121" cy="12161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49" name="Shape 147"/>
          <p:cNvSpPr/>
          <p:nvPr/>
        </p:nvSpPr>
        <p:spPr>
          <a:xfrm>
            <a:off x="3416061" y="4118915"/>
            <a:ext cx="52121" cy="225857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50" name="Shape 148"/>
          <p:cNvSpPr/>
          <p:nvPr/>
        </p:nvSpPr>
        <p:spPr>
          <a:xfrm flipV="1">
            <a:off x="3202366" y="4162349"/>
            <a:ext cx="79919" cy="6949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282285" y="4162349"/>
            <a:ext cx="79919" cy="4343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flipV="1">
            <a:off x="3362203" y="4101541"/>
            <a:ext cx="79919" cy="104242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Analytics · Trends · Reporting</a:t>
            </a:r>
            <a:endParaRPr lang="en-US" sz="500" dirty="0"/>
          </a:p>
        </p:txBody>
      </p:sp>
      <p:sp>
        <p:nvSpPr>
          <p:cNvPr id="155" name="Shape 153"/>
          <p:cNvSpPr/>
          <p:nvPr/>
        </p:nvSpPr>
        <p:spPr>
          <a:xfrm>
            <a:off x="4310070" y="4040734"/>
            <a:ext cx="243230" cy="312725"/>
          </a:xfrm>
          <a:prstGeom prst="can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650" dirty="0"/>
          </a:p>
        </p:txBody>
      </p:sp>
      <p:sp>
        <p:nvSpPr>
          <p:cNvPr id="157" name="Text 155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Storage · Records</a:t>
            </a:r>
            <a:endParaRPr lang="en-US" sz="500" dirty="0"/>
          </a:p>
        </p:txBody>
      </p:sp>
      <p:sp>
        <p:nvSpPr>
          <p:cNvPr id="158" name="Shape 156"/>
          <p:cNvSpPr/>
          <p:nvPr/>
        </p:nvSpPr>
        <p:spPr>
          <a:xfrm>
            <a:off x="5376078" y="406679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436885" y="413628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50" dirty="0"/>
          </a:p>
        </p:txBody>
      </p:sp>
      <p:sp>
        <p:nvSpPr>
          <p:cNvPr id="161" name="Text 159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KPI · Visualization</a:t>
            </a:r>
            <a:endParaRPr lang="en-US" sz="500" dirty="0"/>
          </a:p>
        </p:txBody>
      </p:sp>
      <p:sp>
        <p:nvSpPr>
          <p:cNvPr id="162" name="Shape 160"/>
          <p:cNvSpPr/>
          <p:nvPr/>
        </p:nvSpPr>
        <p:spPr>
          <a:xfrm>
            <a:off x="6502893" y="4073743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502893" y="4169298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502893" y="4264853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· Layers · Records</a:t>
            </a:r>
            <a:endParaRPr lang="en-US" sz="500" dirty="0"/>
          </a:p>
        </p:txBody>
      </p:sp>
      <p:sp>
        <p:nvSpPr>
          <p:cNvPr id="167" name="Shape 165"/>
          <p:cNvSpPr/>
          <p:nvPr/>
        </p:nvSpPr>
        <p:spPr>
          <a:xfrm>
            <a:off x="7612334" y="404942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650" dirty="0"/>
          </a:p>
        </p:txBody>
      </p:sp>
      <p:sp>
        <p:nvSpPr>
          <p:cNvPr id="169" name="Text 167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Segmentation · Breakdown</a:t>
            </a:r>
            <a:endParaRPr lang="en-US" sz="500" dirty="0"/>
          </a:p>
        </p:txBody>
      </p:sp>
      <p:sp>
        <p:nvSpPr>
          <p:cNvPr id="170" name="Shape 168"/>
          <p:cNvSpPr/>
          <p:nvPr/>
        </p:nvSpPr>
        <p:spPr>
          <a:xfrm>
            <a:off x="8747836" y="4049420"/>
            <a:ext cx="243230" cy="295351"/>
          </a:xfrm>
          <a:prstGeom prst="funnel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 · Query · Refine</a:t>
            </a:r>
            <a:endParaRPr lang="en-US" sz="500" dirty="0"/>
          </a:p>
        </p:txBody>
      </p:sp>
      <p:sp>
        <p:nvSpPr>
          <p:cNvPr id="173" name="Shape 171"/>
          <p:cNvSpPr/>
          <p:nvPr/>
        </p:nvSpPr>
        <p:spPr>
          <a:xfrm>
            <a:off x="9909399" y="412760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74" name="Shape 172"/>
          <p:cNvSpPr/>
          <p:nvPr/>
        </p:nvSpPr>
        <p:spPr>
          <a:xfrm>
            <a:off x="9909399" y="422315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75" name="Shape 173"/>
          <p:cNvSpPr/>
          <p:nvPr/>
        </p:nvSpPr>
        <p:spPr>
          <a:xfrm>
            <a:off x="10004953" y="412760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76" name="Shape 174"/>
          <p:cNvSpPr/>
          <p:nvPr/>
        </p:nvSpPr>
        <p:spPr>
          <a:xfrm>
            <a:off x="10004953" y="422315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77" name="Text 175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650" dirty="0"/>
          </a:p>
        </p:txBody>
      </p:sp>
      <p:sp>
        <p:nvSpPr>
          <p:cNvPr id="178" name="Text 176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· Integration Points</a:t>
            </a:r>
            <a:endParaRPr lang="en-US" sz="500" dirty="0"/>
          </a:p>
        </p:txBody>
      </p:sp>
      <p:sp>
        <p:nvSpPr>
          <p:cNvPr id="179" name="Shape 177"/>
          <p:cNvSpPr/>
          <p:nvPr/>
        </p:nvSpPr>
        <p:spPr>
          <a:xfrm>
            <a:off x="10966719" y="404073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650" dirty="0"/>
          </a:p>
        </p:txBody>
      </p:sp>
      <p:sp>
        <p:nvSpPr>
          <p:cNvPr id="181" name="Text 179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· Warehouse · Storage</a:t>
            </a:r>
            <a:endParaRPr lang="en-US" sz="500" dirty="0"/>
          </a:p>
        </p:txBody>
      </p:sp>
      <p:sp>
        <p:nvSpPr>
          <p:cNvPr id="182" name="Shape 180"/>
          <p:cNvSpPr/>
          <p:nvPr/>
        </p:nvSpPr>
        <p:spPr>
          <a:xfrm>
            <a:off x="990432" y="503316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30392" y="488548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085987" y="5093970"/>
            <a:ext cx="34747" cy="34747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85" name="Text 183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650" dirty="0"/>
          </a:p>
        </p:txBody>
      </p:sp>
      <p:sp>
        <p:nvSpPr>
          <p:cNvPr id="186" name="Text 184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· Governance · Compliance</a:t>
            </a:r>
            <a:endParaRPr lang="en-US" sz="500" dirty="0"/>
          </a:p>
        </p:txBody>
      </p:sp>
      <p:sp>
        <p:nvSpPr>
          <p:cNvPr id="187" name="Shape 185"/>
          <p:cNvSpPr/>
          <p:nvPr/>
        </p:nvSpPr>
        <p:spPr>
          <a:xfrm>
            <a:off x="2091187" y="489417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143308" y="498104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2174580" y="494629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143308" y="505922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flipV="1">
            <a:off x="2174580" y="502447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143308" y="513740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flipV="1">
            <a:off x="2174580" y="510265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650" dirty="0"/>
          </a:p>
        </p:txBody>
      </p:sp>
      <p:sp>
        <p:nvSpPr>
          <p:cNvPr id="195" name="Text 193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· Validation Checklist</a:t>
            </a:r>
            <a:endParaRPr lang="en-US" sz="500" dirty="0"/>
          </a:p>
        </p:txBody>
      </p:sp>
      <p:sp>
        <p:nvSpPr>
          <p:cNvPr id="196" name="Shape 194"/>
          <p:cNvSpPr/>
          <p:nvPr/>
        </p:nvSpPr>
        <p:spPr>
          <a:xfrm>
            <a:off x="3165881" y="4920234"/>
            <a:ext cx="312725" cy="260604"/>
          </a:xfrm>
          <a:prstGeom prst="leftRightCircularArrow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· Data Pipeline · Transformation</a:t>
            </a:r>
            <a:endParaRPr lang="en-US" sz="500" dirty="0"/>
          </a:p>
        </p:txBody>
      </p:sp>
      <p:sp>
        <p:nvSpPr>
          <p:cNvPr id="199" name="Shape 197"/>
          <p:cNvSpPr/>
          <p:nvPr/>
        </p:nvSpPr>
        <p:spPr>
          <a:xfrm>
            <a:off x="4284010" y="490286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</a:t>
            </a:r>
            <a:endParaRPr lang="en-US" sz="650" dirty="0"/>
          </a:p>
        </p:txBody>
      </p:sp>
      <p:sp>
        <p:nvSpPr>
          <p:cNvPr id="201" name="Text 199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 · Streaming Data</a:t>
            </a:r>
            <a:endParaRPr lang="en-US" sz="500" dirty="0"/>
          </a:p>
        </p:txBody>
      </p:sp>
      <p:sp>
        <p:nvSpPr>
          <p:cNvPr id="202" name="Shape 200"/>
          <p:cNvSpPr/>
          <p:nvPr/>
        </p:nvSpPr>
        <p:spPr>
          <a:xfrm>
            <a:off x="5384764" y="4946294"/>
            <a:ext cx="312725" cy="208483"/>
          </a:xfrm>
          <a:prstGeom prst="chevr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650" dirty="0"/>
          </a:p>
        </p:txBody>
      </p:sp>
      <p:sp>
        <p:nvSpPr>
          <p:cNvPr id="204" name="Text 202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· Pipeline Sequence</a:t>
            </a:r>
            <a:endParaRPr lang="en-US" sz="500" dirty="0"/>
          </a:p>
        </p:txBody>
      </p:sp>
      <p:sp>
        <p:nvSpPr>
          <p:cNvPr id="205" name="Shape 203"/>
          <p:cNvSpPr/>
          <p:nvPr/>
        </p:nvSpPr>
        <p:spPr>
          <a:xfrm>
            <a:off x="6502893" y="4902860"/>
            <a:ext cx="295351" cy="295351"/>
          </a:xfrm>
          <a:prstGeom prst="star5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Confidence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Confidence · Quality Score</a:t>
            </a:r>
            <a:endParaRPr lang="en-US" sz="500" dirty="0"/>
          </a:p>
        </p:txBody>
      </p:sp>
      <p:sp>
        <p:nvSpPr>
          <p:cNvPr id="208" name="Shape 206"/>
          <p:cNvSpPr/>
          <p:nvPr/>
        </p:nvSpPr>
        <p:spPr>
          <a:xfrm>
            <a:off x="7655768" y="489417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699202" y="4989728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699202" y="5050536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699202" y="5111344"/>
            <a:ext cx="121615" cy="914"/>
          </a:xfrm>
          <a:prstGeom prst="line">
            <a:avLst/>
          </a:prstGeom>
          <a:noFill/>
          <a:ln w="13970">
            <a:solidFill>
              <a:srgbClr val="8DA0C2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650" dirty="0"/>
          </a:p>
        </p:txBody>
      </p:sp>
      <p:sp>
        <p:nvSpPr>
          <p:cNvPr id="213" name="Text 211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Data Documentation</a:t>
            </a:r>
            <a:endParaRPr lang="en-US" sz="500" dirty="0"/>
          </a:p>
        </p:txBody>
      </p:sp>
      <p:sp>
        <p:nvSpPr>
          <p:cNvPr id="214" name="Shape 212"/>
          <p:cNvSpPr/>
          <p:nvPr/>
        </p:nvSpPr>
        <p:spPr>
          <a:xfrm>
            <a:off x="8765210" y="4894174"/>
            <a:ext cx="208483" cy="312725"/>
          </a:xfrm>
          <a:prstGeom prst="verticalScroll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650" dirty="0"/>
          </a:p>
        </p:txBody>
      </p:sp>
      <p:sp>
        <p:nvSpPr>
          <p:cNvPr id="216" name="Text 214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· Data Lineage</a:t>
            </a:r>
            <a:endParaRPr lang="en-US" sz="500" dirty="0"/>
          </a:p>
        </p:txBody>
      </p:sp>
      <p:sp>
        <p:nvSpPr>
          <p:cNvPr id="217" name="Shape 215"/>
          <p:cNvSpPr/>
          <p:nvPr/>
        </p:nvSpPr>
        <p:spPr>
          <a:xfrm>
            <a:off x="9832955" y="5102657"/>
            <a:ext cx="52121" cy="9555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18" name="Shape 216"/>
          <p:cNvSpPr/>
          <p:nvPr/>
        </p:nvSpPr>
        <p:spPr>
          <a:xfrm>
            <a:off x="9912873" y="5033162"/>
            <a:ext cx="52121" cy="165049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19" name="Shape 217"/>
          <p:cNvSpPr/>
          <p:nvPr/>
        </p:nvSpPr>
        <p:spPr>
          <a:xfrm>
            <a:off x="9992792" y="5076596"/>
            <a:ext cx="52121" cy="121615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20" name="Shape 218"/>
          <p:cNvSpPr/>
          <p:nvPr/>
        </p:nvSpPr>
        <p:spPr>
          <a:xfrm>
            <a:off x="10072710" y="4972355"/>
            <a:ext cx="52121" cy="225857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21" name="Shape 219"/>
          <p:cNvSpPr/>
          <p:nvPr/>
        </p:nvSpPr>
        <p:spPr>
          <a:xfrm flipV="1">
            <a:off x="9859015" y="5015789"/>
            <a:ext cx="79919" cy="6949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9938934" y="5015789"/>
            <a:ext cx="79919" cy="4343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 flipV="1">
            <a:off x="10018852" y="4954981"/>
            <a:ext cx="79919" cy="104242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650" dirty="0"/>
          </a:p>
        </p:txBody>
      </p:sp>
      <p:sp>
        <p:nvSpPr>
          <p:cNvPr id="225" name="Text 223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Analytics · Trends · Reporting</a:t>
            </a:r>
            <a:endParaRPr lang="en-US" sz="500" dirty="0"/>
          </a:p>
        </p:txBody>
      </p:sp>
      <p:sp>
        <p:nvSpPr>
          <p:cNvPr id="226" name="Shape 224"/>
          <p:cNvSpPr/>
          <p:nvPr/>
        </p:nvSpPr>
        <p:spPr>
          <a:xfrm>
            <a:off x="10966719" y="4894174"/>
            <a:ext cx="243230" cy="312725"/>
          </a:xfrm>
          <a:prstGeom prst="can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650" dirty="0"/>
          </a:p>
        </p:txBody>
      </p:sp>
      <p:sp>
        <p:nvSpPr>
          <p:cNvPr id="228" name="Text 226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Storage · Records</a:t>
            </a:r>
            <a:endParaRPr lang="en-US" sz="500" dirty="0"/>
          </a:p>
        </p:txBody>
      </p:sp>
      <p:sp>
        <p:nvSpPr>
          <p:cNvPr id="229" name="Shape 227"/>
          <p:cNvSpPr/>
          <p:nvPr/>
        </p:nvSpPr>
        <p:spPr>
          <a:xfrm>
            <a:off x="938312" y="57736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99119" y="58431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50" dirty="0"/>
          </a:p>
        </p:txBody>
      </p:sp>
      <p:sp>
        <p:nvSpPr>
          <p:cNvPr id="232" name="Text 230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KPI · Visualization</a:t>
            </a:r>
            <a:endParaRPr lang="en-US" sz="500" dirty="0"/>
          </a:p>
        </p:txBody>
      </p:sp>
      <p:sp>
        <p:nvSpPr>
          <p:cNvPr id="233" name="Shape 231"/>
          <p:cNvSpPr/>
          <p:nvPr/>
        </p:nvSpPr>
        <p:spPr>
          <a:xfrm>
            <a:off x="2065127" y="5780623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2065127" y="5876178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2065127" y="5971733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650" dirty="0"/>
          </a:p>
        </p:txBody>
      </p:sp>
      <p:sp>
        <p:nvSpPr>
          <p:cNvPr id="237" name="Text 235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· Layers · Records</a:t>
            </a:r>
            <a:endParaRPr lang="en-US" sz="500" dirty="0"/>
          </a:p>
        </p:txBody>
      </p:sp>
      <p:sp>
        <p:nvSpPr>
          <p:cNvPr id="238" name="Shape 236"/>
          <p:cNvSpPr/>
          <p:nvPr/>
        </p:nvSpPr>
        <p:spPr>
          <a:xfrm>
            <a:off x="3174568" y="575630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650" dirty="0"/>
          </a:p>
        </p:txBody>
      </p:sp>
      <p:sp>
        <p:nvSpPr>
          <p:cNvPr id="240" name="Text 238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Segmentation · Breakdown</a:t>
            </a:r>
            <a:endParaRPr lang="en-US" sz="500" dirty="0"/>
          </a:p>
        </p:txBody>
      </p:sp>
      <p:sp>
        <p:nvSpPr>
          <p:cNvPr id="241" name="Shape 239"/>
          <p:cNvSpPr/>
          <p:nvPr/>
        </p:nvSpPr>
        <p:spPr>
          <a:xfrm>
            <a:off x="4310070" y="5756300"/>
            <a:ext cx="243230" cy="295351"/>
          </a:xfrm>
          <a:prstGeom prst="funnel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</a:t>
            </a:r>
            <a:endParaRPr lang="en-US" sz="650" dirty="0"/>
          </a:p>
        </p:txBody>
      </p:sp>
      <p:sp>
        <p:nvSpPr>
          <p:cNvPr id="243" name="Text 241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 · Query · Refine</a:t>
            </a:r>
            <a:endParaRPr lang="en-US" sz="500" dirty="0"/>
          </a:p>
        </p:txBody>
      </p:sp>
      <p:sp>
        <p:nvSpPr>
          <p:cNvPr id="244" name="Shape 242"/>
          <p:cNvSpPr/>
          <p:nvPr/>
        </p:nvSpPr>
        <p:spPr>
          <a:xfrm>
            <a:off x="5471632" y="583448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45" name="Shape 243"/>
          <p:cNvSpPr/>
          <p:nvPr/>
        </p:nvSpPr>
        <p:spPr>
          <a:xfrm>
            <a:off x="5471632" y="593003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46" name="Shape 244"/>
          <p:cNvSpPr/>
          <p:nvPr/>
        </p:nvSpPr>
        <p:spPr>
          <a:xfrm>
            <a:off x="5567187" y="583448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47" name="Shape 245"/>
          <p:cNvSpPr/>
          <p:nvPr/>
        </p:nvSpPr>
        <p:spPr>
          <a:xfrm>
            <a:off x="5567187" y="593003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48" name="Text 246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650" dirty="0"/>
          </a:p>
        </p:txBody>
      </p:sp>
      <p:sp>
        <p:nvSpPr>
          <p:cNvPr id="249" name="Text 247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· Integration Points</a:t>
            </a:r>
            <a:endParaRPr lang="en-US" sz="500" dirty="0"/>
          </a:p>
        </p:txBody>
      </p:sp>
      <p:sp>
        <p:nvSpPr>
          <p:cNvPr id="250" name="Shape 248"/>
          <p:cNvSpPr/>
          <p:nvPr/>
        </p:nvSpPr>
        <p:spPr>
          <a:xfrm>
            <a:off x="6528953" y="5747614"/>
            <a:ext cx="243230" cy="312725"/>
          </a:xfrm>
          <a:prstGeom prst="ca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650" dirty="0"/>
          </a:p>
        </p:txBody>
      </p:sp>
      <p:sp>
        <p:nvSpPr>
          <p:cNvPr id="252" name="Text 250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· Warehouse · Storage</a:t>
            </a:r>
            <a:endParaRPr lang="en-US" sz="500" dirty="0"/>
          </a:p>
        </p:txBody>
      </p:sp>
      <p:sp>
        <p:nvSpPr>
          <p:cNvPr id="253" name="Shape 251"/>
          <p:cNvSpPr/>
          <p:nvPr/>
        </p:nvSpPr>
        <p:spPr>
          <a:xfrm>
            <a:off x="7647081" y="588660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7687041" y="573892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742636" y="5947410"/>
            <a:ext cx="34747" cy="34747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256" name="Text 254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650" dirty="0"/>
          </a:p>
        </p:txBody>
      </p:sp>
      <p:sp>
        <p:nvSpPr>
          <p:cNvPr id="257" name="Text 255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· Governance · Compliance</a:t>
            </a:r>
            <a:endParaRPr lang="en-US" sz="500" dirty="0"/>
          </a:p>
        </p:txBody>
      </p:sp>
      <p:sp>
        <p:nvSpPr>
          <p:cNvPr id="258" name="Shape 256"/>
          <p:cNvSpPr/>
          <p:nvPr/>
        </p:nvSpPr>
        <p:spPr>
          <a:xfrm>
            <a:off x="8747836" y="57476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8799957" y="583448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 flipV="1">
            <a:off x="8831229" y="579973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8799957" y="591266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 flipV="1">
            <a:off x="8831229" y="587791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8799957" y="599084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 flipV="1">
            <a:off x="8831229" y="595609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650" dirty="0"/>
          </a:p>
        </p:txBody>
      </p:sp>
      <p:sp>
        <p:nvSpPr>
          <p:cNvPr id="266" name="Text 264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· Validation Checklist</a:t>
            </a:r>
            <a:endParaRPr lang="en-US" sz="500" dirty="0"/>
          </a:p>
        </p:txBody>
      </p:sp>
      <p:sp>
        <p:nvSpPr>
          <p:cNvPr id="267" name="Shape 265"/>
          <p:cNvSpPr/>
          <p:nvPr/>
        </p:nvSpPr>
        <p:spPr>
          <a:xfrm>
            <a:off x="9822531" y="5773674"/>
            <a:ext cx="312725" cy="260604"/>
          </a:xfrm>
          <a:prstGeom prst="leftRightCircularArrow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650" dirty="0"/>
          </a:p>
        </p:txBody>
      </p:sp>
      <p:sp>
        <p:nvSpPr>
          <p:cNvPr id="269" name="Text 267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· Data Pipeline · Transformation</a:t>
            </a:r>
            <a:endParaRPr lang="en-US" sz="500" dirty="0"/>
          </a:p>
        </p:txBody>
      </p:sp>
      <p:sp>
        <p:nvSpPr>
          <p:cNvPr id="270" name="Shape 268"/>
          <p:cNvSpPr/>
          <p:nvPr/>
        </p:nvSpPr>
        <p:spPr>
          <a:xfrm>
            <a:off x="10940659" y="575630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</a:t>
            </a:r>
            <a:endParaRPr lang="en-US" sz="650" dirty="0"/>
          </a:p>
        </p:txBody>
      </p:sp>
      <p:sp>
        <p:nvSpPr>
          <p:cNvPr id="272" name="Text 270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 · Streaming Data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Transformation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955685" y="1489100"/>
            <a:ext cx="147676" cy="234544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685" y="1723644"/>
            <a:ext cx="295351" cy="914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3361" y="1489100"/>
            <a:ext cx="147676" cy="234544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2088" y="1457828"/>
            <a:ext cx="62545" cy="62545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4413" y="1692372"/>
            <a:ext cx="62545" cy="62545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9764" y="1692372"/>
            <a:ext cx="62545" cy="62545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Thread · Connectivity · IoT</a:t>
            </a:r>
            <a:endParaRPr lang="en-US" sz="500" dirty="0"/>
          </a:p>
        </p:txBody>
      </p:sp>
      <p:sp>
        <p:nvSpPr>
          <p:cNvPr id="12" name="Shape 10"/>
          <p:cNvSpPr/>
          <p:nvPr/>
        </p:nvSpPr>
        <p:spPr>
          <a:xfrm>
            <a:off x="2065127" y="1489100"/>
            <a:ext cx="295351" cy="295351"/>
          </a:xfrm>
          <a:prstGeom prst="circularArrow">
            <a:avLst/>
          </a:prstGeom>
          <a:solidFill>
            <a:srgbClr val="D4AF5A"/>
          </a:solidFill>
          <a:ln/>
        </p:spPr>
      </p:sp>
      <p:sp>
        <p:nvSpPr>
          <p:cNvPr id="13" name="Text 11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· Change · Modernization</a:t>
            </a:r>
            <a:endParaRPr lang="en-US" sz="500" dirty="0"/>
          </a:p>
        </p:txBody>
      </p:sp>
      <p:sp>
        <p:nvSpPr>
          <p:cNvPr id="15" name="Shape 13"/>
          <p:cNvSpPr/>
          <p:nvPr/>
        </p:nvSpPr>
        <p:spPr>
          <a:xfrm>
            <a:off x="3165881" y="1541221"/>
            <a:ext cx="312725" cy="191110"/>
          </a:xfrm>
          <a:prstGeom prst="cloud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4446" y="1610716"/>
            <a:ext cx="55596" cy="112928"/>
          </a:xfrm>
          <a:prstGeom prst="upArrow">
            <a:avLst/>
          </a:prstGeom>
          <a:solidFill>
            <a:srgbClr val="D4AF5A"/>
          </a:solidFill>
          <a:ln/>
        </p:spPr>
      </p:sp>
      <p:sp>
        <p:nvSpPr>
          <p:cNvPr id="17" name="Text 15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· Infrastructure · Scale</a:t>
            </a:r>
            <a:endParaRPr lang="en-US" sz="500" dirty="0"/>
          </a:p>
        </p:txBody>
      </p:sp>
      <p:sp>
        <p:nvSpPr>
          <p:cNvPr id="19" name="Shape 17"/>
          <p:cNvSpPr/>
          <p:nvPr/>
        </p:nvSpPr>
        <p:spPr>
          <a:xfrm>
            <a:off x="4275323" y="1489100"/>
            <a:ext cx="312725" cy="295351"/>
          </a:xfrm>
          <a:prstGeom prst="hexagon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Integration · Unified System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5471632" y="1567282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3" name="Shape 21"/>
          <p:cNvSpPr/>
          <p:nvPr/>
        </p:nvSpPr>
        <p:spPr>
          <a:xfrm>
            <a:off x="5471632" y="1662836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4" name="Shape 22"/>
          <p:cNvSpPr/>
          <p:nvPr/>
        </p:nvSpPr>
        <p:spPr>
          <a:xfrm>
            <a:off x="5567187" y="1567282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5567187" y="1662836"/>
            <a:ext cx="86868" cy="8686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6" name="Text 24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Legacy Replacement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6502893" y="1497787"/>
            <a:ext cx="295351" cy="277978"/>
          </a:xfrm>
          <a:prstGeom prst="hexago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· Middleware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7603647" y="1532534"/>
            <a:ext cx="312725" cy="208483"/>
          </a:xfrm>
          <a:prstGeom prst="chevro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Roadmap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Roadmap · Transformation Path</a:t>
            </a:r>
            <a:endParaRPr lang="en-US" sz="500" dirty="0"/>
          </a:p>
        </p:txBody>
      </p:sp>
      <p:sp>
        <p:nvSpPr>
          <p:cNvPr id="34" name="Shape 32"/>
          <p:cNvSpPr/>
          <p:nvPr/>
        </p:nvSpPr>
        <p:spPr>
          <a:xfrm>
            <a:off x="8747836" y="14804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99957" y="1567282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8831229" y="1532534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99957" y="1645463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8831229" y="1610716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99957" y="1723644"/>
            <a:ext cx="31272" cy="24323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8831229" y="1688897"/>
            <a:ext cx="46909" cy="59070"/>
          </a:xfrm>
          <a:prstGeom prst="line">
            <a:avLst/>
          </a:prstGeom>
          <a:noFill/>
          <a:ln w="15240">
            <a:solidFill>
              <a:srgbClr val="D4AF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Checklist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· Adoption Checklist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9874651" y="152732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53803" y="16280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85842" y="1527322"/>
            <a:ext cx="97292" cy="972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64994" y="16280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D4AF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 · Enablement</a:t>
            </a:r>
            <a:endParaRPr lang="en-US" sz="500" dirty="0"/>
          </a:p>
        </p:txBody>
      </p:sp>
      <p:sp>
        <p:nvSpPr>
          <p:cNvPr id="49" name="Shape 47"/>
          <p:cNvSpPr/>
          <p:nvPr/>
        </p:nvSpPr>
        <p:spPr>
          <a:xfrm>
            <a:off x="10923285" y="15064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984093" y="15759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D4AF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Dashboard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Dashboard</a:t>
            </a:r>
            <a:endParaRPr lang="en-US" sz="500" dirty="0"/>
          </a:p>
        </p:txBody>
      </p:sp>
      <p:sp>
        <p:nvSpPr>
          <p:cNvPr id="53" name="Shape 51"/>
          <p:cNvSpPr/>
          <p:nvPr/>
        </p:nvSpPr>
        <p:spPr>
          <a:xfrm>
            <a:off x="946998" y="2359914"/>
            <a:ext cx="312725" cy="260604"/>
          </a:xfrm>
          <a:prstGeom prst="leftRightCircularArrow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· Workflow Exchange</a:t>
            </a:r>
            <a:endParaRPr lang="en-US" sz="500" dirty="0"/>
          </a:p>
        </p:txBody>
      </p:sp>
      <p:sp>
        <p:nvSpPr>
          <p:cNvPr id="56" name="Shape 54"/>
          <p:cNvSpPr/>
          <p:nvPr/>
        </p:nvSpPr>
        <p:spPr>
          <a:xfrm>
            <a:off x="2073813" y="2351227"/>
            <a:ext cx="277978" cy="277978"/>
          </a:xfrm>
          <a:prstGeom prst="sun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Culture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Culture · Digital Mindset</a:t>
            </a:r>
            <a:endParaRPr lang="en-US" sz="500" dirty="0"/>
          </a:p>
        </p:txBody>
      </p:sp>
      <p:sp>
        <p:nvSpPr>
          <p:cNvPr id="59" name="Shape 57"/>
          <p:cNvSpPr/>
          <p:nvPr/>
        </p:nvSpPr>
        <p:spPr>
          <a:xfrm>
            <a:off x="3174568" y="234254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Connectivity · Sensors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4287484" y="2424196"/>
            <a:ext cx="132039" cy="132039"/>
          </a:xfrm>
          <a:prstGeom prst="ellipse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14312" y="2490216"/>
            <a:ext cx="147676" cy="914"/>
          </a:xfrm>
          <a:prstGeom prst="line">
            <a:avLst/>
          </a:prstGeom>
          <a:noFill/>
          <a:ln w="20320">
            <a:solidFill>
              <a:srgbClr val="D4AF5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18553" y="2490216"/>
            <a:ext cx="914" cy="4343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56775" y="2490216"/>
            <a:ext cx="914" cy="43434"/>
          </a:xfrm>
          <a:prstGeom prst="line">
            <a:avLst/>
          </a:prstGeom>
          <a:noFill/>
          <a:ln w="17780">
            <a:solidFill>
              <a:srgbClr val="D4AF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 · Identity Management</a:t>
            </a:r>
            <a:endParaRPr lang="en-US" sz="500" dirty="0"/>
          </a:p>
        </p:txBody>
      </p:sp>
      <p:sp>
        <p:nvSpPr>
          <p:cNvPr id="68" name="Shape 66"/>
          <p:cNvSpPr/>
          <p:nvPr/>
        </p:nvSpPr>
        <p:spPr>
          <a:xfrm>
            <a:off x="5393451" y="2342540"/>
            <a:ext cx="295351" cy="295351"/>
          </a:xfrm>
          <a:prstGeom prst="irregularSeal1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Certification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· Certification</a:t>
            </a:r>
            <a:endParaRPr lang="en-US" sz="500" dirty="0"/>
          </a:p>
        </p:txBody>
      </p:sp>
      <p:sp>
        <p:nvSpPr>
          <p:cNvPr id="71" name="Shape 69"/>
          <p:cNvSpPr/>
          <p:nvPr/>
        </p:nvSpPr>
        <p:spPr>
          <a:xfrm>
            <a:off x="6494206" y="2385974"/>
            <a:ext cx="312725" cy="208483"/>
          </a:xfrm>
          <a:prstGeom prst="cloud">
            <a:avLst/>
          </a:prstGeom>
          <a:ln w="20320">
            <a:solidFill>
              <a:srgbClr val="D4AF5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· Sync · Scalability</a:t>
            </a:r>
            <a:endParaRPr lang="en-US" sz="500" dirty="0"/>
          </a:p>
        </p:txBody>
      </p:sp>
      <p:sp>
        <p:nvSpPr>
          <p:cNvPr id="74" name="Shape 72"/>
          <p:cNvSpPr/>
          <p:nvPr/>
        </p:nvSpPr>
        <p:spPr>
          <a:xfrm flipV="1">
            <a:off x="7612334" y="2342540"/>
            <a:ext cx="147676" cy="23454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612334" y="2577084"/>
            <a:ext cx="295351" cy="91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60010" y="2342540"/>
            <a:ext cx="147676" cy="23454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28737" y="2311268"/>
            <a:ext cx="62545" cy="62545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581062" y="2545812"/>
            <a:ext cx="62545" cy="62545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876413" y="2545812"/>
            <a:ext cx="62545" cy="62545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Thread · Connectivity · IoT</a:t>
            </a:r>
            <a:endParaRPr lang="en-US" sz="500" dirty="0"/>
          </a:p>
        </p:txBody>
      </p:sp>
      <p:sp>
        <p:nvSpPr>
          <p:cNvPr id="82" name="Shape 80"/>
          <p:cNvSpPr/>
          <p:nvPr/>
        </p:nvSpPr>
        <p:spPr>
          <a:xfrm>
            <a:off x="8721776" y="2342540"/>
            <a:ext cx="295351" cy="295351"/>
          </a:xfrm>
          <a:prstGeom prst="circularArrow">
            <a:avLst/>
          </a:prstGeom>
          <a:solidFill>
            <a:srgbClr val="8DA0C2"/>
          </a:solidFill>
          <a:ln/>
        </p:spPr>
      </p:sp>
      <p:sp>
        <p:nvSpPr>
          <p:cNvPr id="83" name="Text 81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· Change · Modernization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9822531" y="2394661"/>
            <a:ext cx="312725" cy="191110"/>
          </a:xfrm>
          <a:prstGeom prst="cloud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951095" y="2464156"/>
            <a:ext cx="55596" cy="112928"/>
          </a:xfrm>
          <a:prstGeom prst="upArrow">
            <a:avLst/>
          </a:prstGeom>
          <a:solidFill>
            <a:srgbClr val="8DA0C2"/>
          </a:solidFill>
          <a:ln/>
        </p:spPr>
      </p:sp>
      <p:sp>
        <p:nvSpPr>
          <p:cNvPr id="87" name="Text 85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· Infrastructure · Scale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10931972" y="2342540"/>
            <a:ext cx="312725" cy="295351"/>
          </a:xfrm>
          <a:prstGeom prst="hexagon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Integration · Unified System</a:t>
            </a:r>
            <a:endParaRPr lang="en-US" sz="500" dirty="0"/>
          </a:p>
        </p:txBody>
      </p:sp>
      <p:sp>
        <p:nvSpPr>
          <p:cNvPr id="92" name="Shape 90"/>
          <p:cNvSpPr/>
          <p:nvPr/>
        </p:nvSpPr>
        <p:spPr>
          <a:xfrm>
            <a:off x="1033866" y="327416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93" name="Shape 91"/>
          <p:cNvSpPr/>
          <p:nvPr/>
        </p:nvSpPr>
        <p:spPr>
          <a:xfrm>
            <a:off x="1033866" y="336971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94" name="Shape 92"/>
          <p:cNvSpPr/>
          <p:nvPr/>
        </p:nvSpPr>
        <p:spPr>
          <a:xfrm>
            <a:off x="1129421" y="327416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95" name="Shape 93"/>
          <p:cNvSpPr/>
          <p:nvPr/>
        </p:nvSpPr>
        <p:spPr>
          <a:xfrm>
            <a:off x="1129421" y="336971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96" name="Text 94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Legacy Replacement</a:t>
            </a:r>
            <a:endParaRPr lang="en-US" sz="500" dirty="0"/>
          </a:p>
        </p:txBody>
      </p:sp>
      <p:sp>
        <p:nvSpPr>
          <p:cNvPr id="98" name="Shape 96"/>
          <p:cNvSpPr/>
          <p:nvPr/>
        </p:nvSpPr>
        <p:spPr>
          <a:xfrm>
            <a:off x="2065127" y="3204667"/>
            <a:ext cx="295351" cy="277978"/>
          </a:xfrm>
          <a:prstGeom prst="hexag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· Middleware</a:t>
            </a:r>
            <a:endParaRPr lang="en-US" sz="500" dirty="0"/>
          </a:p>
        </p:txBody>
      </p:sp>
      <p:sp>
        <p:nvSpPr>
          <p:cNvPr id="101" name="Shape 99"/>
          <p:cNvSpPr/>
          <p:nvPr/>
        </p:nvSpPr>
        <p:spPr>
          <a:xfrm>
            <a:off x="3165881" y="3239414"/>
            <a:ext cx="312725" cy="208483"/>
          </a:xfrm>
          <a:prstGeom prst="chevr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Roadmap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Roadmap · Transformation Path</a:t>
            </a:r>
            <a:endParaRPr lang="en-US" sz="500" dirty="0"/>
          </a:p>
        </p:txBody>
      </p:sp>
      <p:sp>
        <p:nvSpPr>
          <p:cNvPr id="104" name="Shape 102"/>
          <p:cNvSpPr/>
          <p:nvPr/>
        </p:nvSpPr>
        <p:spPr>
          <a:xfrm>
            <a:off x="4310070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362191" y="327416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4393463" y="323941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362191" y="335234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4393463" y="331759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362191" y="343052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4393463" y="339577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Checklist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· Adoption Checklist</a:t>
            </a:r>
            <a:endParaRPr lang="en-US" sz="500" dirty="0"/>
          </a:p>
        </p:txBody>
      </p:sp>
      <p:sp>
        <p:nvSpPr>
          <p:cNvPr id="113" name="Shape 111"/>
          <p:cNvSpPr/>
          <p:nvPr/>
        </p:nvSpPr>
        <p:spPr>
          <a:xfrm>
            <a:off x="5436885" y="323420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416037" y="333496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548076" y="323420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527228" y="333496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</a:t>
            </a:r>
            <a:endParaRPr lang="en-US" sz="650" dirty="0"/>
          </a:p>
        </p:txBody>
      </p:sp>
      <p:sp>
        <p:nvSpPr>
          <p:cNvPr id="118" name="Text 116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 · Enablement</a:t>
            </a:r>
            <a:endParaRPr lang="en-US" sz="500" dirty="0"/>
          </a:p>
        </p:txBody>
      </p:sp>
      <p:sp>
        <p:nvSpPr>
          <p:cNvPr id="119" name="Shape 117"/>
          <p:cNvSpPr/>
          <p:nvPr/>
        </p:nvSpPr>
        <p:spPr>
          <a:xfrm>
            <a:off x="6485519" y="321335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546327" y="328284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Dashboard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Dashboard</a:t>
            </a:r>
            <a:endParaRPr lang="en-US" sz="500" dirty="0"/>
          </a:p>
        </p:txBody>
      </p:sp>
      <p:sp>
        <p:nvSpPr>
          <p:cNvPr id="123" name="Shape 121"/>
          <p:cNvSpPr/>
          <p:nvPr/>
        </p:nvSpPr>
        <p:spPr>
          <a:xfrm>
            <a:off x="7603647" y="3213354"/>
            <a:ext cx="312725" cy="260604"/>
          </a:xfrm>
          <a:prstGeom prst="leftRightCircularArrow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· Workflow Exchange</a:t>
            </a:r>
            <a:endParaRPr lang="en-US" sz="500" dirty="0"/>
          </a:p>
        </p:txBody>
      </p:sp>
      <p:sp>
        <p:nvSpPr>
          <p:cNvPr id="126" name="Shape 124"/>
          <p:cNvSpPr/>
          <p:nvPr/>
        </p:nvSpPr>
        <p:spPr>
          <a:xfrm>
            <a:off x="8730463" y="3204667"/>
            <a:ext cx="277978" cy="277978"/>
          </a:xfrm>
          <a:prstGeom prst="su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Culture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Culture · Digital Mindset</a:t>
            </a:r>
            <a:endParaRPr lang="en-US" sz="500" dirty="0"/>
          </a:p>
        </p:txBody>
      </p:sp>
      <p:sp>
        <p:nvSpPr>
          <p:cNvPr id="129" name="Shape 127"/>
          <p:cNvSpPr/>
          <p:nvPr/>
        </p:nvSpPr>
        <p:spPr>
          <a:xfrm>
            <a:off x="9831217" y="319598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Connectivity · Sensors</a:t>
            </a:r>
            <a:endParaRPr lang="en-US" sz="500" dirty="0"/>
          </a:p>
        </p:txBody>
      </p:sp>
      <p:sp>
        <p:nvSpPr>
          <p:cNvPr id="132" name="Shape 130"/>
          <p:cNvSpPr/>
          <p:nvPr/>
        </p:nvSpPr>
        <p:spPr>
          <a:xfrm>
            <a:off x="10944134" y="3277636"/>
            <a:ext cx="132039" cy="132039"/>
          </a:xfrm>
          <a:prstGeom prst="ellips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070961" y="3343656"/>
            <a:ext cx="147676" cy="914"/>
          </a:xfrm>
          <a:prstGeom prst="line">
            <a:avLst/>
          </a:prstGeom>
          <a:noFill/>
          <a:ln w="20320">
            <a:solidFill>
              <a:srgbClr val="8DA0C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175202" y="334365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213424" y="334365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 · Identity Management</a:t>
            </a:r>
            <a:endParaRPr lang="en-US" sz="500" dirty="0"/>
          </a:p>
        </p:txBody>
      </p:sp>
      <p:sp>
        <p:nvSpPr>
          <p:cNvPr id="138" name="Shape 136"/>
          <p:cNvSpPr/>
          <p:nvPr/>
        </p:nvSpPr>
        <p:spPr>
          <a:xfrm>
            <a:off x="955685" y="4049420"/>
            <a:ext cx="295351" cy="295351"/>
          </a:xfrm>
          <a:prstGeom prst="irregularSeal1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Certification</a:t>
            </a:r>
            <a:endParaRPr lang="en-US" sz="650" dirty="0"/>
          </a:p>
        </p:txBody>
      </p:sp>
      <p:sp>
        <p:nvSpPr>
          <p:cNvPr id="140" name="Text 138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· Certification</a:t>
            </a:r>
            <a:endParaRPr lang="en-US" sz="500" dirty="0"/>
          </a:p>
        </p:txBody>
      </p:sp>
      <p:sp>
        <p:nvSpPr>
          <p:cNvPr id="141" name="Shape 139"/>
          <p:cNvSpPr/>
          <p:nvPr/>
        </p:nvSpPr>
        <p:spPr>
          <a:xfrm>
            <a:off x="2056440" y="4092854"/>
            <a:ext cx="312725" cy="208483"/>
          </a:xfrm>
          <a:prstGeom prst="cloud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· Sync · Scalability</a:t>
            </a:r>
            <a:endParaRPr lang="en-US" sz="500" dirty="0"/>
          </a:p>
        </p:txBody>
      </p:sp>
      <p:sp>
        <p:nvSpPr>
          <p:cNvPr id="144" name="Shape 142"/>
          <p:cNvSpPr/>
          <p:nvPr/>
        </p:nvSpPr>
        <p:spPr>
          <a:xfrm flipV="1">
            <a:off x="3174568" y="4049420"/>
            <a:ext cx="147676" cy="23454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174568" y="4283964"/>
            <a:ext cx="295351" cy="91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322244" y="4049420"/>
            <a:ext cx="147676" cy="23454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290971" y="4018148"/>
            <a:ext cx="62545" cy="62545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143296" y="4252692"/>
            <a:ext cx="62545" cy="62545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438647" y="4252692"/>
            <a:ext cx="62545" cy="62545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650" dirty="0"/>
          </a:p>
        </p:txBody>
      </p:sp>
      <p:sp>
        <p:nvSpPr>
          <p:cNvPr id="151" name="Text 149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Thread · Connectivity · IoT</a:t>
            </a:r>
            <a:endParaRPr lang="en-US" sz="500" dirty="0"/>
          </a:p>
        </p:txBody>
      </p:sp>
      <p:sp>
        <p:nvSpPr>
          <p:cNvPr id="152" name="Shape 150"/>
          <p:cNvSpPr/>
          <p:nvPr/>
        </p:nvSpPr>
        <p:spPr>
          <a:xfrm>
            <a:off x="4284010" y="4049420"/>
            <a:ext cx="295351" cy="295351"/>
          </a:xfrm>
          <a:prstGeom prst="circularArrow">
            <a:avLst/>
          </a:prstGeom>
          <a:solidFill>
            <a:srgbClr val="8DA0C2"/>
          </a:solidFill>
          <a:ln/>
        </p:spPr>
      </p:sp>
      <p:sp>
        <p:nvSpPr>
          <p:cNvPr id="153" name="Text 151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· Change · Modernization</a:t>
            </a:r>
            <a:endParaRPr lang="en-US" sz="500" dirty="0"/>
          </a:p>
        </p:txBody>
      </p:sp>
      <p:sp>
        <p:nvSpPr>
          <p:cNvPr id="155" name="Shape 153"/>
          <p:cNvSpPr/>
          <p:nvPr/>
        </p:nvSpPr>
        <p:spPr>
          <a:xfrm>
            <a:off x="5384764" y="4101541"/>
            <a:ext cx="312725" cy="191110"/>
          </a:xfrm>
          <a:prstGeom prst="cloud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513329" y="4171036"/>
            <a:ext cx="55596" cy="112928"/>
          </a:xfrm>
          <a:prstGeom prst="upArrow">
            <a:avLst/>
          </a:prstGeom>
          <a:solidFill>
            <a:srgbClr val="8DA0C2"/>
          </a:solidFill>
          <a:ln/>
        </p:spPr>
      </p:sp>
      <p:sp>
        <p:nvSpPr>
          <p:cNvPr id="157" name="Text 155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</a:t>
            </a:r>
            <a:endParaRPr lang="en-US" sz="650" dirty="0"/>
          </a:p>
        </p:txBody>
      </p:sp>
      <p:sp>
        <p:nvSpPr>
          <p:cNvPr id="158" name="Text 156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· Infrastructure · Scale</a:t>
            </a:r>
            <a:endParaRPr lang="en-US" sz="500" dirty="0"/>
          </a:p>
        </p:txBody>
      </p:sp>
      <p:sp>
        <p:nvSpPr>
          <p:cNvPr id="159" name="Shape 157"/>
          <p:cNvSpPr/>
          <p:nvPr/>
        </p:nvSpPr>
        <p:spPr>
          <a:xfrm>
            <a:off x="6494206" y="4049420"/>
            <a:ext cx="312725" cy="295351"/>
          </a:xfrm>
          <a:prstGeom prst="hexagon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161" name="Text 159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Integration · Unified System</a:t>
            </a:r>
            <a:endParaRPr lang="en-US" sz="500" dirty="0"/>
          </a:p>
        </p:txBody>
      </p:sp>
      <p:sp>
        <p:nvSpPr>
          <p:cNvPr id="162" name="Shape 160"/>
          <p:cNvSpPr/>
          <p:nvPr/>
        </p:nvSpPr>
        <p:spPr>
          <a:xfrm>
            <a:off x="7690515" y="412760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63" name="Shape 161"/>
          <p:cNvSpPr/>
          <p:nvPr/>
        </p:nvSpPr>
        <p:spPr>
          <a:xfrm>
            <a:off x="7690515" y="422315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64" name="Shape 162"/>
          <p:cNvSpPr/>
          <p:nvPr/>
        </p:nvSpPr>
        <p:spPr>
          <a:xfrm>
            <a:off x="7786070" y="412760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65" name="Shape 163"/>
          <p:cNvSpPr/>
          <p:nvPr/>
        </p:nvSpPr>
        <p:spPr>
          <a:xfrm>
            <a:off x="7786070" y="422315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166" name="Text 164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</a:t>
            </a:r>
            <a:endParaRPr lang="en-US" sz="650" dirty="0"/>
          </a:p>
        </p:txBody>
      </p:sp>
      <p:sp>
        <p:nvSpPr>
          <p:cNvPr id="167" name="Text 165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Legacy Replacement</a:t>
            </a:r>
            <a:endParaRPr lang="en-US" sz="500" dirty="0"/>
          </a:p>
        </p:txBody>
      </p:sp>
      <p:sp>
        <p:nvSpPr>
          <p:cNvPr id="168" name="Shape 166"/>
          <p:cNvSpPr/>
          <p:nvPr/>
        </p:nvSpPr>
        <p:spPr>
          <a:xfrm>
            <a:off x="8721776" y="4058107"/>
            <a:ext cx="295351" cy="277978"/>
          </a:xfrm>
          <a:prstGeom prst="hexag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</a:t>
            </a:r>
            <a:endParaRPr lang="en-US" sz="650" dirty="0"/>
          </a:p>
        </p:txBody>
      </p:sp>
      <p:sp>
        <p:nvSpPr>
          <p:cNvPr id="170" name="Text 168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· Middleware</a:t>
            </a:r>
            <a:endParaRPr lang="en-US" sz="500" dirty="0"/>
          </a:p>
        </p:txBody>
      </p:sp>
      <p:sp>
        <p:nvSpPr>
          <p:cNvPr id="171" name="Shape 169"/>
          <p:cNvSpPr/>
          <p:nvPr/>
        </p:nvSpPr>
        <p:spPr>
          <a:xfrm>
            <a:off x="9822531" y="4092854"/>
            <a:ext cx="312725" cy="208483"/>
          </a:xfrm>
          <a:prstGeom prst="chevr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Roadmap</a:t>
            </a:r>
            <a:endParaRPr lang="en-US" sz="650" dirty="0"/>
          </a:p>
        </p:txBody>
      </p:sp>
      <p:sp>
        <p:nvSpPr>
          <p:cNvPr id="173" name="Text 171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Roadmap · Transformation Path</a:t>
            </a:r>
            <a:endParaRPr lang="en-US" sz="500" dirty="0"/>
          </a:p>
        </p:txBody>
      </p:sp>
      <p:sp>
        <p:nvSpPr>
          <p:cNvPr id="174" name="Shape 172"/>
          <p:cNvSpPr/>
          <p:nvPr/>
        </p:nvSpPr>
        <p:spPr>
          <a:xfrm>
            <a:off x="10966719" y="404073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018840" y="412760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flipV="1">
            <a:off x="11050113" y="409285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1018840" y="420578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flipV="1">
            <a:off x="11050113" y="417103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018840" y="428396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flipV="1">
            <a:off x="11050113" y="424921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Checklist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· Adoption Checklist</a:t>
            </a:r>
            <a:endParaRPr lang="en-US" sz="500" dirty="0"/>
          </a:p>
        </p:txBody>
      </p:sp>
      <p:sp>
        <p:nvSpPr>
          <p:cNvPr id="183" name="Shape 181"/>
          <p:cNvSpPr/>
          <p:nvPr/>
        </p:nvSpPr>
        <p:spPr>
          <a:xfrm>
            <a:off x="999119" y="494108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78271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10310" y="494108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89462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</a:t>
            </a:r>
            <a:endParaRPr lang="en-US" sz="650" dirty="0"/>
          </a:p>
        </p:txBody>
      </p:sp>
      <p:sp>
        <p:nvSpPr>
          <p:cNvPr id="188" name="Text 186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 · Enablement</a:t>
            </a:r>
            <a:endParaRPr lang="en-US" sz="500" dirty="0"/>
          </a:p>
        </p:txBody>
      </p:sp>
      <p:sp>
        <p:nvSpPr>
          <p:cNvPr id="189" name="Shape 187"/>
          <p:cNvSpPr/>
          <p:nvPr/>
        </p:nvSpPr>
        <p:spPr>
          <a:xfrm>
            <a:off x="2047753" y="492023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108561" y="498972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Dashboard</a:t>
            </a:r>
            <a:endParaRPr lang="en-US" sz="650" dirty="0"/>
          </a:p>
        </p:txBody>
      </p:sp>
      <p:sp>
        <p:nvSpPr>
          <p:cNvPr id="192" name="Text 190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Dashboard</a:t>
            </a:r>
            <a:endParaRPr lang="en-US" sz="500" dirty="0"/>
          </a:p>
        </p:txBody>
      </p:sp>
      <p:sp>
        <p:nvSpPr>
          <p:cNvPr id="193" name="Shape 191"/>
          <p:cNvSpPr/>
          <p:nvPr/>
        </p:nvSpPr>
        <p:spPr>
          <a:xfrm>
            <a:off x="3165881" y="4920234"/>
            <a:ext cx="312725" cy="260604"/>
          </a:xfrm>
          <a:prstGeom prst="leftRightCircularArrow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650" dirty="0"/>
          </a:p>
        </p:txBody>
      </p:sp>
      <p:sp>
        <p:nvSpPr>
          <p:cNvPr id="195" name="Text 193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· Workflow Exchange</a:t>
            </a:r>
            <a:endParaRPr lang="en-US" sz="500" dirty="0"/>
          </a:p>
        </p:txBody>
      </p:sp>
      <p:sp>
        <p:nvSpPr>
          <p:cNvPr id="196" name="Shape 194"/>
          <p:cNvSpPr/>
          <p:nvPr/>
        </p:nvSpPr>
        <p:spPr>
          <a:xfrm>
            <a:off x="4292697" y="4911547"/>
            <a:ext cx="277978" cy="277978"/>
          </a:xfrm>
          <a:prstGeom prst="su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Culture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Culture · Digital Mindset</a:t>
            </a:r>
            <a:endParaRPr lang="en-US" sz="500" dirty="0"/>
          </a:p>
        </p:txBody>
      </p:sp>
      <p:sp>
        <p:nvSpPr>
          <p:cNvPr id="199" name="Shape 197"/>
          <p:cNvSpPr/>
          <p:nvPr/>
        </p:nvSpPr>
        <p:spPr>
          <a:xfrm>
            <a:off x="5393451" y="490286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650" dirty="0"/>
          </a:p>
        </p:txBody>
      </p:sp>
      <p:sp>
        <p:nvSpPr>
          <p:cNvPr id="201" name="Text 199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Connectivity · Sensors</a:t>
            </a:r>
            <a:endParaRPr lang="en-US" sz="500" dirty="0"/>
          </a:p>
        </p:txBody>
      </p:sp>
      <p:sp>
        <p:nvSpPr>
          <p:cNvPr id="202" name="Shape 200"/>
          <p:cNvSpPr/>
          <p:nvPr/>
        </p:nvSpPr>
        <p:spPr>
          <a:xfrm>
            <a:off x="6506367" y="4984516"/>
            <a:ext cx="132039" cy="132039"/>
          </a:xfrm>
          <a:prstGeom prst="ellipse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633195" y="5050536"/>
            <a:ext cx="147676" cy="914"/>
          </a:xfrm>
          <a:prstGeom prst="line">
            <a:avLst/>
          </a:prstGeom>
          <a:noFill/>
          <a:ln w="20320">
            <a:solidFill>
              <a:srgbClr val="8DA0C2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737436" y="505053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775658" y="5050536"/>
            <a:ext cx="914" cy="43434"/>
          </a:xfrm>
          <a:prstGeom prst="line">
            <a:avLst/>
          </a:prstGeom>
          <a:noFill/>
          <a:ln w="17780">
            <a:solidFill>
              <a:srgbClr val="8DA0C2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 · Identity Management</a:t>
            </a:r>
            <a:endParaRPr lang="en-US" sz="500" dirty="0"/>
          </a:p>
        </p:txBody>
      </p:sp>
      <p:sp>
        <p:nvSpPr>
          <p:cNvPr id="208" name="Shape 206"/>
          <p:cNvSpPr/>
          <p:nvPr/>
        </p:nvSpPr>
        <p:spPr>
          <a:xfrm>
            <a:off x="7612334" y="4902860"/>
            <a:ext cx="295351" cy="295351"/>
          </a:xfrm>
          <a:prstGeom prst="irregularSeal1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Certification</a:t>
            </a:r>
            <a:endParaRPr lang="en-US" sz="650" dirty="0"/>
          </a:p>
        </p:txBody>
      </p:sp>
      <p:sp>
        <p:nvSpPr>
          <p:cNvPr id="210" name="Text 208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· Certification</a:t>
            </a:r>
            <a:endParaRPr lang="en-US" sz="500" dirty="0"/>
          </a:p>
        </p:txBody>
      </p:sp>
      <p:sp>
        <p:nvSpPr>
          <p:cNvPr id="211" name="Shape 209"/>
          <p:cNvSpPr/>
          <p:nvPr/>
        </p:nvSpPr>
        <p:spPr>
          <a:xfrm>
            <a:off x="8713089" y="4946294"/>
            <a:ext cx="312725" cy="208483"/>
          </a:xfrm>
          <a:prstGeom prst="cloud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650" dirty="0"/>
          </a:p>
        </p:txBody>
      </p:sp>
      <p:sp>
        <p:nvSpPr>
          <p:cNvPr id="213" name="Text 211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· Sync · Scalability</a:t>
            </a:r>
            <a:endParaRPr lang="en-US" sz="500" dirty="0"/>
          </a:p>
        </p:txBody>
      </p:sp>
      <p:sp>
        <p:nvSpPr>
          <p:cNvPr id="214" name="Shape 212"/>
          <p:cNvSpPr/>
          <p:nvPr/>
        </p:nvSpPr>
        <p:spPr>
          <a:xfrm flipV="1">
            <a:off x="9831217" y="4902860"/>
            <a:ext cx="147676" cy="23454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9831217" y="5137404"/>
            <a:ext cx="295351" cy="91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9978893" y="4902860"/>
            <a:ext cx="147676" cy="234544"/>
          </a:xfrm>
          <a:prstGeom prst="line">
            <a:avLst/>
          </a:prstGeom>
          <a:noFill/>
          <a:ln w="15875">
            <a:solidFill>
              <a:srgbClr val="8DA0C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9947620" y="4871588"/>
            <a:ext cx="62545" cy="62545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9799945" y="5106132"/>
            <a:ext cx="62545" cy="62545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095296" y="5106132"/>
            <a:ext cx="62545" cy="62545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650" dirty="0"/>
          </a:p>
        </p:txBody>
      </p:sp>
      <p:sp>
        <p:nvSpPr>
          <p:cNvPr id="221" name="Text 219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Thread · Connectivity · IoT</a:t>
            </a:r>
            <a:endParaRPr lang="en-US" sz="500" dirty="0"/>
          </a:p>
        </p:txBody>
      </p:sp>
      <p:sp>
        <p:nvSpPr>
          <p:cNvPr id="222" name="Shape 220"/>
          <p:cNvSpPr/>
          <p:nvPr/>
        </p:nvSpPr>
        <p:spPr>
          <a:xfrm>
            <a:off x="10940659" y="4902860"/>
            <a:ext cx="295351" cy="295351"/>
          </a:xfrm>
          <a:prstGeom prst="circularArrow">
            <a:avLst/>
          </a:prstGeom>
          <a:solidFill>
            <a:srgbClr val="8DA0C2"/>
          </a:solidFill>
          <a:ln/>
        </p:spPr>
      </p:sp>
      <p:sp>
        <p:nvSpPr>
          <p:cNvPr id="223" name="Text 221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650" dirty="0"/>
          </a:p>
        </p:txBody>
      </p:sp>
      <p:sp>
        <p:nvSpPr>
          <p:cNvPr id="224" name="Text 222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· Change · Modernization</a:t>
            </a:r>
            <a:endParaRPr lang="en-US" sz="500" dirty="0"/>
          </a:p>
        </p:txBody>
      </p:sp>
      <p:sp>
        <p:nvSpPr>
          <p:cNvPr id="225" name="Shape 223"/>
          <p:cNvSpPr/>
          <p:nvPr/>
        </p:nvSpPr>
        <p:spPr>
          <a:xfrm>
            <a:off x="946998" y="5808421"/>
            <a:ext cx="312725" cy="191110"/>
          </a:xfrm>
          <a:prstGeom prst="cloud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75563" y="5877916"/>
            <a:ext cx="55596" cy="112928"/>
          </a:xfrm>
          <a:prstGeom prst="upArrow">
            <a:avLst/>
          </a:prstGeom>
          <a:solidFill>
            <a:srgbClr val="8DA0C2"/>
          </a:solidFill>
          <a:ln/>
        </p:spPr>
      </p:sp>
      <p:sp>
        <p:nvSpPr>
          <p:cNvPr id="227" name="Text 225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</a:t>
            </a:r>
            <a:endParaRPr lang="en-US" sz="650" dirty="0"/>
          </a:p>
        </p:txBody>
      </p:sp>
      <p:sp>
        <p:nvSpPr>
          <p:cNvPr id="228" name="Text 226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· Infrastructure · Scale</a:t>
            </a:r>
            <a:endParaRPr lang="en-US" sz="500" dirty="0"/>
          </a:p>
        </p:txBody>
      </p:sp>
      <p:sp>
        <p:nvSpPr>
          <p:cNvPr id="229" name="Shape 227"/>
          <p:cNvSpPr/>
          <p:nvPr/>
        </p:nvSpPr>
        <p:spPr>
          <a:xfrm>
            <a:off x="2056440" y="5756300"/>
            <a:ext cx="312725" cy="295351"/>
          </a:xfrm>
          <a:prstGeom prst="hexagon">
            <a:avLst/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231" name="Text 229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Integration · Unified System</a:t>
            </a:r>
            <a:endParaRPr lang="en-US" sz="500" dirty="0"/>
          </a:p>
        </p:txBody>
      </p:sp>
      <p:sp>
        <p:nvSpPr>
          <p:cNvPr id="232" name="Shape 230"/>
          <p:cNvSpPr/>
          <p:nvPr/>
        </p:nvSpPr>
        <p:spPr>
          <a:xfrm>
            <a:off x="3252749" y="583448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33" name="Shape 231"/>
          <p:cNvSpPr/>
          <p:nvPr/>
        </p:nvSpPr>
        <p:spPr>
          <a:xfrm>
            <a:off x="3252749" y="593003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34" name="Shape 232"/>
          <p:cNvSpPr/>
          <p:nvPr/>
        </p:nvSpPr>
        <p:spPr>
          <a:xfrm>
            <a:off x="3348304" y="5834482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35" name="Shape 233"/>
          <p:cNvSpPr/>
          <p:nvPr/>
        </p:nvSpPr>
        <p:spPr>
          <a:xfrm>
            <a:off x="3348304" y="5930036"/>
            <a:ext cx="86868" cy="86868"/>
          </a:xfrm>
          <a:prstGeom prst="rect">
            <a:avLst/>
          </a:prstGeom>
          <a:solidFill>
            <a:srgbClr val="8DA0C2"/>
          </a:solidFill>
          <a:ln/>
        </p:spPr>
      </p:sp>
      <p:sp>
        <p:nvSpPr>
          <p:cNvPr id="236" name="Text 234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</a:t>
            </a:r>
            <a:endParaRPr lang="en-US" sz="650" dirty="0"/>
          </a:p>
        </p:txBody>
      </p:sp>
      <p:sp>
        <p:nvSpPr>
          <p:cNvPr id="237" name="Text 235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Legacy Replacement</a:t>
            </a:r>
            <a:endParaRPr lang="en-US" sz="500" dirty="0"/>
          </a:p>
        </p:txBody>
      </p:sp>
      <p:sp>
        <p:nvSpPr>
          <p:cNvPr id="238" name="Shape 236"/>
          <p:cNvSpPr/>
          <p:nvPr/>
        </p:nvSpPr>
        <p:spPr>
          <a:xfrm>
            <a:off x="4284010" y="5764987"/>
            <a:ext cx="295351" cy="277978"/>
          </a:xfrm>
          <a:prstGeom prst="hexag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</a:t>
            </a:r>
            <a:endParaRPr lang="en-US" sz="650" dirty="0"/>
          </a:p>
        </p:txBody>
      </p:sp>
      <p:sp>
        <p:nvSpPr>
          <p:cNvPr id="240" name="Text 238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· Middleware</a:t>
            </a:r>
            <a:endParaRPr lang="en-US" sz="500" dirty="0"/>
          </a:p>
        </p:txBody>
      </p:sp>
      <p:sp>
        <p:nvSpPr>
          <p:cNvPr id="241" name="Shape 239"/>
          <p:cNvSpPr/>
          <p:nvPr/>
        </p:nvSpPr>
        <p:spPr>
          <a:xfrm>
            <a:off x="5384764" y="5799734"/>
            <a:ext cx="312725" cy="208483"/>
          </a:xfrm>
          <a:prstGeom prst="chevro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Roadmap</a:t>
            </a:r>
            <a:endParaRPr lang="en-US" sz="650" dirty="0"/>
          </a:p>
        </p:txBody>
      </p:sp>
      <p:sp>
        <p:nvSpPr>
          <p:cNvPr id="243" name="Text 241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Roadmap · Transformation Path</a:t>
            </a:r>
            <a:endParaRPr lang="en-US" sz="500" dirty="0"/>
          </a:p>
        </p:txBody>
      </p:sp>
      <p:sp>
        <p:nvSpPr>
          <p:cNvPr id="244" name="Shape 242"/>
          <p:cNvSpPr/>
          <p:nvPr/>
        </p:nvSpPr>
        <p:spPr>
          <a:xfrm>
            <a:off x="6528953" y="57476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581074" y="5834482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flipV="1">
            <a:off x="6612346" y="5799734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581074" y="5912663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 flipV="1">
            <a:off x="6612346" y="5877916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581074" y="5990844"/>
            <a:ext cx="31272" cy="24323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flipV="1">
            <a:off x="6612346" y="5956097"/>
            <a:ext cx="46909" cy="59070"/>
          </a:xfrm>
          <a:prstGeom prst="line">
            <a:avLst/>
          </a:prstGeom>
          <a:noFill/>
          <a:ln w="15240">
            <a:solidFill>
              <a:srgbClr val="8DA0C2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Checklist</a:t>
            </a:r>
            <a:endParaRPr lang="en-US" sz="650" dirty="0"/>
          </a:p>
        </p:txBody>
      </p:sp>
      <p:sp>
        <p:nvSpPr>
          <p:cNvPr id="252" name="Text 250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· Adoption Checklist</a:t>
            </a:r>
            <a:endParaRPr lang="en-US" sz="500" dirty="0"/>
          </a:p>
        </p:txBody>
      </p:sp>
      <p:sp>
        <p:nvSpPr>
          <p:cNvPr id="253" name="Shape 251"/>
          <p:cNvSpPr/>
          <p:nvPr/>
        </p:nvSpPr>
        <p:spPr>
          <a:xfrm>
            <a:off x="7655768" y="579452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7634920" y="58952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766959" y="5794522"/>
            <a:ext cx="97292" cy="97292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7746111" y="58952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8DA0C2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</a:t>
            </a:r>
            <a:endParaRPr lang="en-US" sz="650" dirty="0"/>
          </a:p>
        </p:txBody>
      </p:sp>
      <p:sp>
        <p:nvSpPr>
          <p:cNvPr id="258" name="Text 256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 · Enablement</a:t>
            </a:r>
            <a:endParaRPr lang="en-US" sz="500" dirty="0"/>
          </a:p>
        </p:txBody>
      </p:sp>
      <p:sp>
        <p:nvSpPr>
          <p:cNvPr id="259" name="Shape 257"/>
          <p:cNvSpPr/>
          <p:nvPr/>
        </p:nvSpPr>
        <p:spPr>
          <a:xfrm>
            <a:off x="8704402" y="57736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8DA0C2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8765210" y="58431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8DA0C2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Dashboard</a:t>
            </a:r>
            <a:endParaRPr lang="en-US" sz="650" dirty="0"/>
          </a:p>
        </p:txBody>
      </p:sp>
      <p:sp>
        <p:nvSpPr>
          <p:cNvPr id="262" name="Text 260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Dashboard</a:t>
            </a:r>
            <a:endParaRPr lang="en-US" sz="500" dirty="0"/>
          </a:p>
        </p:txBody>
      </p:sp>
      <p:sp>
        <p:nvSpPr>
          <p:cNvPr id="263" name="Shape 261"/>
          <p:cNvSpPr/>
          <p:nvPr/>
        </p:nvSpPr>
        <p:spPr>
          <a:xfrm>
            <a:off x="9822531" y="5773674"/>
            <a:ext cx="312725" cy="260604"/>
          </a:xfrm>
          <a:prstGeom prst="leftRightCircularArrow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· Workflow Exchange</a:t>
            </a:r>
            <a:endParaRPr lang="en-US" sz="500" dirty="0"/>
          </a:p>
        </p:txBody>
      </p:sp>
      <p:sp>
        <p:nvSpPr>
          <p:cNvPr id="266" name="Shape 264"/>
          <p:cNvSpPr/>
          <p:nvPr/>
        </p:nvSpPr>
        <p:spPr>
          <a:xfrm>
            <a:off x="10949346" y="5764987"/>
            <a:ext cx="277978" cy="277978"/>
          </a:xfrm>
          <a:prstGeom prst="sun">
            <a:avLst/>
          </a:prstGeom>
          <a:ln w="20320">
            <a:solidFill>
              <a:srgbClr val="8DA0C2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Culture</a:t>
            </a:r>
            <a:endParaRPr lang="en-US" sz="650" dirty="0"/>
          </a:p>
        </p:txBody>
      </p:sp>
      <p:sp>
        <p:nvSpPr>
          <p:cNvPr id="268" name="Text 266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Culture · Digital Mindset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Icon Library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Icon Library — Dark</dc:title>
  <dc:subject>PptxGenJS Presentation</dc:subject>
  <dc:creator>Business Development</dc:creator>
  <cp:lastModifiedBy>Business Development</cp:lastModifiedBy>
  <cp:revision>1</cp:revision>
  <dcterms:created xsi:type="dcterms:W3CDTF">2026-07-27T15:05:53Z</dcterms:created>
  <dcterms:modified xsi:type="dcterms:W3CDTF">2026-07-27T15:05:53Z</dcterms:modified>
</cp:coreProperties>
</file>